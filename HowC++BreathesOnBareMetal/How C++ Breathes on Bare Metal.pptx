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aleway"/>
      <p:regular r:id="rId37"/>
      <p:bold r:id="rId38"/>
      <p:italic r:id="rId39"/>
      <p:boldItalic r:id="rId40"/>
    </p:embeddedFont>
    <p:embeddedFont>
      <p:font typeface="Lato"/>
      <p:regular r:id="rId41"/>
      <p:bold r:id="rId42"/>
      <p:italic r:id="rId43"/>
      <p:boldItalic r:id="rId44"/>
    </p:embeddedFont>
    <p:embeddedFont>
      <p:font typeface="Lato Black"/>
      <p:bold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20" Type="http://schemas.openxmlformats.org/officeDocument/2006/relationships/slide" Target="slides/slide15.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7.xml"/><Relationship Id="rId44" Type="http://schemas.openxmlformats.org/officeDocument/2006/relationships/font" Target="fonts/Lato-boldItalic.fntdata"/><Relationship Id="rId21" Type="http://schemas.openxmlformats.org/officeDocument/2006/relationships/slide" Target="slides/slide16.xml"/><Relationship Id="rId43" Type="http://schemas.openxmlformats.org/officeDocument/2006/relationships/font" Target="fonts/Lato-italic.fntdata"/><Relationship Id="rId24" Type="http://schemas.openxmlformats.org/officeDocument/2006/relationships/slide" Target="slides/slide19.xml"/><Relationship Id="rId46" Type="http://schemas.openxmlformats.org/officeDocument/2006/relationships/font" Target="fonts/LatoBlack-boldItalic.fntdata"/><Relationship Id="rId23" Type="http://schemas.openxmlformats.org/officeDocument/2006/relationships/slide" Target="slides/slide18.xml"/><Relationship Id="rId45" Type="http://schemas.openxmlformats.org/officeDocument/2006/relationships/font" Target="fonts/Lato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italic.fntdata"/><Relationship Id="rId16" Type="http://schemas.openxmlformats.org/officeDocument/2006/relationships/slide" Target="slides/slide11.xml"/><Relationship Id="rId38" Type="http://schemas.openxmlformats.org/officeDocument/2006/relationships/font" Target="fonts/Ralew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2fb4c046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2fb4c046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2fb4c046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2fb4c046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2fb4c046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2fb4c046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2fb4c046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2fb4c046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a2fb4c046e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a2fb4c046e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2fb4c046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2fb4c046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981e9762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981e9762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981e9762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981e9762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981e9762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981e9762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981e9762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981e9762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a2fb4c046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a2fb4c046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2fb4c046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2fb4c046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9981e9762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9981e9762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9a0f0e9a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9a0f0e9a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981e9762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981e9762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9981e9762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9981e9762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981e9762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981e9762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981e9762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981e9762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981e9762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981e9762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9981e9762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9981e9762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981e9762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9981e9762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9981e9762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9981e9762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981e9762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981e9762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981e9762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981e9762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981e9762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981e9762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9a13cbc8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99a13cbc8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981e9762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9981e9762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9981e9762f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9981e9762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9a13cbc8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99a13cbc8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hyperlink" Target="https://www.makeuseof.com/risc-vs-cisc/"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s://github.com/raspberrypi/pico-sdk"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55CC"/>
        </a:solidFill>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549025" y="731350"/>
            <a:ext cx="8472000" cy="29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700"/>
              <a:t>How C++ Breathes on Bare Metal</a:t>
            </a:r>
            <a:endParaRPr sz="6700"/>
          </a:p>
        </p:txBody>
      </p:sp>
      <p:sp>
        <p:nvSpPr>
          <p:cNvPr id="73" name="Google Shape;73;p13"/>
          <p:cNvSpPr txBox="1"/>
          <p:nvPr>
            <p:ph idx="1" type="subTitle"/>
          </p:nvPr>
        </p:nvSpPr>
        <p:spPr>
          <a:xfrm>
            <a:off x="2390275" y="3583125"/>
            <a:ext cx="6331500" cy="897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Raspberry Pi Pico (RP2040)</a:t>
            </a:r>
            <a:r>
              <a:rPr lang="en" sz="2400"/>
              <a:t> and the ESP 32D</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77" name="Shape 77"/>
        <p:cNvGrpSpPr/>
        <p:nvPr/>
      </p:nvGrpSpPr>
      <p:grpSpPr>
        <a:xfrm>
          <a:off x="0" y="0"/>
          <a:ext cx="0" cy="0"/>
          <a:chOff x="0" y="0"/>
          <a:chExt cx="0" cy="0"/>
        </a:xfrm>
      </p:grpSpPr>
      <p:sp>
        <p:nvSpPr>
          <p:cNvPr id="78" name="Google Shape;78;p14"/>
          <p:cNvSpPr txBox="1"/>
          <p:nvPr>
            <p:ph idx="4294967295" type="title"/>
          </p:nvPr>
        </p:nvSpPr>
        <p:spPr>
          <a:xfrm>
            <a:off x="427950" y="90875"/>
            <a:ext cx="7244100" cy="10794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Clr>
                <a:schemeClr val="dk2"/>
              </a:buClr>
              <a:buSzPts val="1100"/>
              <a:buFont typeface="Arial"/>
              <a:buNone/>
            </a:pPr>
            <a:r>
              <a:rPr lang="en" sz="4200">
                <a:latin typeface="Arial"/>
                <a:ea typeface="Arial"/>
                <a:cs typeface="Arial"/>
                <a:sym typeface="Arial"/>
              </a:rPr>
              <a:t>The Basics of Bare Metal</a:t>
            </a:r>
            <a:endParaRPr sz="4200">
              <a:latin typeface="Arial"/>
              <a:ea typeface="Arial"/>
              <a:cs typeface="Arial"/>
              <a:sym typeface="Arial"/>
            </a:endParaRPr>
          </a:p>
          <a:p>
            <a:pPr indent="0" lvl="0" marL="0" rtl="0" algn="l">
              <a:spcBef>
                <a:spcPts val="400"/>
              </a:spcBef>
              <a:spcAft>
                <a:spcPts val="1600"/>
              </a:spcAft>
              <a:buNone/>
            </a:pPr>
            <a:r>
              <a:t/>
            </a:r>
            <a:endParaRPr sz="3600">
              <a:solidFill>
                <a:schemeClr val="dk1"/>
              </a:solidFill>
            </a:endParaRPr>
          </a:p>
        </p:txBody>
      </p:sp>
      <p:sp>
        <p:nvSpPr>
          <p:cNvPr id="79" name="Google Shape;79;p14"/>
          <p:cNvSpPr txBox="1"/>
          <p:nvPr>
            <p:ph idx="4294967295" type="title"/>
          </p:nvPr>
        </p:nvSpPr>
        <p:spPr>
          <a:xfrm>
            <a:off x="427950" y="1054700"/>
            <a:ext cx="8428800" cy="3958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2700">
                <a:latin typeface="Lato"/>
                <a:ea typeface="Lato"/>
                <a:cs typeface="Lato"/>
                <a:sym typeface="Lato"/>
              </a:rPr>
              <a:t>When the term “bare metal” was originally coined, its meaning was very literal. All software written to run on bare metal computers was designed to interact directly with an underlying hardware. </a:t>
            </a:r>
            <a:endParaRPr b="0" sz="2700">
              <a:latin typeface="Lato"/>
              <a:ea typeface="Lato"/>
              <a:cs typeface="Lato"/>
              <a:sym typeface="Lato"/>
            </a:endParaRPr>
          </a:p>
          <a:p>
            <a:pPr indent="0" lvl="0" marL="0" rtl="0" algn="l">
              <a:lnSpc>
                <a:spcPct val="115000"/>
              </a:lnSpc>
              <a:spcBef>
                <a:spcPts val="1600"/>
              </a:spcBef>
              <a:spcAft>
                <a:spcPts val="1600"/>
              </a:spcAft>
              <a:buNone/>
            </a:pPr>
            <a:r>
              <a:rPr b="0" lang="en" sz="2700">
                <a:latin typeface="Lato"/>
                <a:ea typeface="Lato"/>
                <a:cs typeface="Lato"/>
                <a:sym typeface="Lato"/>
              </a:rPr>
              <a:t>In other words, it literally worked on bare metal.</a:t>
            </a:r>
            <a:br>
              <a:rPr b="0" lang="en" sz="2700">
                <a:latin typeface="Lato"/>
                <a:ea typeface="Lato"/>
                <a:cs typeface="Lato"/>
                <a:sym typeface="Lato"/>
              </a:rPr>
            </a:br>
            <a:r>
              <a:rPr b="0" lang="en" sz="2700">
                <a:latin typeface="Lato"/>
                <a:ea typeface="Lato"/>
                <a:cs typeface="Lato"/>
                <a:sym typeface="Lato"/>
              </a:rPr>
              <a:t>In summary, metal refers to physical hardwares </a:t>
            </a:r>
            <a:r>
              <a:rPr b="0" lang="en" sz="2700">
                <a:latin typeface="Lato"/>
                <a:ea typeface="Lato"/>
                <a:cs typeface="Lato"/>
                <a:sym typeface="Lato"/>
              </a:rPr>
              <a:t>either a cloud server, laptops, microcontrollers, or any network device.</a:t>
            </a:r>
            <a:endParaRPr sz="27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83" name="Shape 83"/>
        <p:cNvGrpSpPr/>
        <p:nvPr/>
      </p:nvGrpSpPr>
      <p:grpSpPr>
        <a:xfrm>
          <a:off x="0" y="0"/>
          <a:ext cx="0" cy="0"/>
          <a:chOff x="0" y="0"/>
          <a:chExt cx="0" cy="0"/>
        </a:xfrm>
      </p:grpSpPr>
      <p:sp>
        <p:nvSpPr>
          <p:cNvPr id="84" name="Google Shape;84;p15"/>
          <p:cNvSpPr txBox="1"/>
          <p:nvPr>
            <p:ph idx="4294967295" type="title"/>
          </p:nvPr>
        </p:nvSpPr>
        <p:spPr>
          <a:xfrm>
            <a:off x="427950" y="90875"/>
            <a:ext cx="7735200" cy="1585200"/>
          </a:xfrm>
          <a:prstGeom prst="rect">
            <a:avLst/>
          </a:prstGeom>
        </p:spPr>
        <p:txBody>
          <a:bodyPr anchorCtr="0" anchor="t" bIns="91425" lIns="91425" spcFirstLastPara="1" rIns="91425" wrap="square" tIns="91425">
            <a:noAutofit/>
          </a:bodyPr>
          <a:lstStyle/>
          <a:p>
            <a:pPr indent="0" lvl="0" marL="0" rtl="0" algn="ctr">
              <a:lnSpc>
                <a:spcPct val="115000"/>
              </a:lnSpc>
              <a:spcBef>
                <a:spcPts val="1400"/>
              </a:spcBef>
              <a:spcAft>
                <a:spcPts val="0"/>
              </a:spcAft>
              <a:buNone/>
            </a:pPr>
            <a:r>
              <a:rPr lang="en" sz="4200">
                <a:latin typeface="Arial"/>
                <a:ea typeface="Arial"/>
                <a:cs typeface="Arial"/>
                <a:sym typeface="Arial"/>
              </a:rPr>
              <a:t>Why C++ Fits Bare Metal Programming</a:t>
            </a:r>
            <a:endParaRPr sz="4200">
              <a:latin typeface="Arial"/>
              <a:ea typeface="Arial"/>
              <a:cs typeface="Arial"/>
              <a:sym typeface="Arial"/>
            </a:endParaRPr>
          </a:p>
          <a:p>
            <a:pPr indent="0" lvl="0" marL="0" rtl="0" algn="l">
              <a:spcBef>
                <a:spcPts val="400"/>
              </a:spcBef>
              <a:spcAft>
                <a:spcPts val="1600"/>
              </a:spcAft>
              <a:buNone/>
            </a:pPr>
            <a:r>
              <a:t/>
            </a:r>
            <a:endParaRPr sz="3600">
              <a:solidFill>
                <a:schemeClr val="dk1"/>
              </a:solidFill>
            </a:endParaRPr>
          </a:p>
        </p:txBody>
      </p:sp>
      <p:sp>
        <p:nvSpPr>
          <p:cNvPr id="85" name="Google Shape;85;p15"/>
          <p:cNvSpPr txBox="1"/>
          <p:nvPr>
            <p:ph idx="4294967295" type="title"/>
          </p:nvPr>
        </p:nvSpPr>
        <p:spPr>
          <a:xfrm>
            <a:off x="357600" y="1791525"/>
            <a:ext cx="8428800" cy="592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700">
                <a:latin typeface="Lato"/>
                <a:ea typeface="Lato"/>
                <a:cs typeface="Lato"/>
                <a:sym typeface="Lato"/>
              </a:rPr>
              <a:t>C++ offers a balance between abstraction and control</a:t>
            </a:r>
            <a:endParaRPr sz="2700">
              <a:latin typeface="Lato"/>
              <a:ea typeface="Lato"/>
              <a:cs typeface="Lato"/>
              <a:sym typeface="Lato"/>
            </a:endParaRPr>
          </a:p>
        </p:txBody>
      </p:sp>
      <p:sp>
        <p:nvSpPr>
          <p:cNvPr id="86" name="Google Shape;86;p15"/>
          <p:cNvSpPr txBox="1"/>
          <p:nvPr>
            <p:ph idx="4294967295" type="title"/>
          </p:nvPr>
        </p:nvSpPr>
        <p:spPr>
          <a:xfrm>
            <a:off x="357600" y="2384025"/>
            <a:ext cx="8428800" cy="2557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lang="en" sz="2700">
                <a:latin typeface="Lato"/>
                <a:ea typeface="Lato"/>
                <a:cs typeface="Lato"/>
                <a:sym typeface="Lato"/>
              </a:rPr>
              <a:t>Zero-cost abstractions</a:t>
            </a:r>
            <a:endParaRPr sz="2700">
              <a:latin typeface="Lato"/>
              <a:ea typeface="Lato"/>
              <a:cs typeface="Lato"/>
              <a:sym typeface="Lato"/>
            </a:endParaRPr>
          </a:p>
          <a:p>
            <a:pPr indent="0" lvl="0" marL="0" rtl="0" algn="l">
              <a:lnSpc>
                <a:spcPct val="115000"/>
              </a:lnSpc>
              <a:spcBef>
                <a:spcPts val="1600"/>
              </a:spcBef>
              <a:spcAft>
                <a:spcPts val="0"/>
              </a:spcAft>
              <a:buClr>
                <a:schemeClr val="dk2"/>
              </a:buClr>
              <a:buSzPts val="1100"/>
              <a:buFont typeface="Arial"/>
              <a:buNone/>
            </a:pPr>
            <a:r>
              <a:rPr lang="en" sz="2700">
                <a:latin typeface="Lato"/>
                <a:ea typeface="Lato"/>
                <a:cs typeface="Lato"/>
                <a:sym typeface="Lato"/>
              </a:rPr>
              <a:t>Strong type safety</a:t>
            </a:r>
            <a:endParaRPr sz="2700">
              <a:latin typeface="Lato"/>
              <a:ea typeface="Lato"/>
              <a:cs typeface="Lato"/>
              <a:sym typeface="Lato"/>
            </a:endParaRPr>
          </a:p>
          <a:p>
            <a:pPr indent="0" lvl="0" marL="0" rtl="0" algn="l">
              <a:lnSpc>
                <a:spcPct val="115000"/>
              </a:lnSpc>
              <a:spcBef>
                <a:spcPts val="1600"/>
              </a:spcBef>
              <a:spcAft>
                <a:spcPts val="1600"/>
              </a:spcAft>
              <a:buNone/>
            </a:pPr>
            <a:r>
              <a:rPr lang="en" sz="2700">
                <a:latin typeface="Lato"/>
                <a:ea typeface="Lato"/>
                <a:cs typeface="Lato"/>
                <a:sym typeface="Lato"/>
              </a:rPr>
              <a:t>RAII for safe resource management</a:t>
            </a:r>
            <a:endParaRPr sz="27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90" name="Shape 90"/>
        <p:cNvGrpSpPr/>
        <p:nvPr/>
      </p:nvGrpSpPr>
      <p:grpSpPr>
        <a:xfrm>
          <a:off x="0" y="0"/>
          <a:ext cx="0" cy="0"/>
          <a:chOff x="0" y="0"/>
          <a:chExt cx="0" cy="0"/>
        </a:xfrm>
      </p:grpSpPr>
      <p:sp>
        <p:nvSpPr>
          <p:cNvPr id="91" name="Google Shape;91;p16"/>
          <p:cNvSpPr txBox="1"/>
          <p:nvPr>
            <p:ph idx="4294967295" type="title"/>
          </p:nvPr>
        </p:nvSpPr>
        <p:spPr>
          <a:xfrm>
            <a:off x="427950" y="90875"/>
            <a:ext cx="8096400" cy="79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4200">
                <a:latin typeface="Arial"/>
                <a:ea typeface="Arial"/>
                <a:cs typeface="Arial"/>
                <a:sym typeface="Arial"/>
              </a:rPr>
              <a:t>Continuation</a:t>
            </a:r>
            <a:endParaRPr sz="3600">
              <a:solidFill>
                <a:schemeClr val="dk1"/>
              </a:solidFill>
            </a:endParaRPr>
          </a:p>
        </p:txBody>
      </p:sp>
      <p:sp>
        <p:nvSpPr>
          <p:cNvPr id="92" name="Google Shape;92;p16"/>
          <p:cNvSpPr txBox="1"/>
          <p:nvPr>
            <p:ph idx="4294967295" type="title"/>
          </p:nvPr>
        </p:nvSpPr>
        <p:spPr>
          <a:xfrm>
            <a:off x="588750" y="1459350"/>
            <a:ext cx="8428800" cy="3135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700">
                <a:latin typeface="Lato"/>
                <a:ea typeface="Lato"/>
                <a:cs typeface="Lato"/>
                <a:sym typeface="Lato"/>
              </a:rPr>
              <a:t>Cross-platform toolchains</a:t>
            </a:r>
            <a:endParaRPr sz="2700">
              <a:latin typeface="Lato"/>
              <a:ea typeface="Lato"/>
              <a:cs typeface="Lato"/>
              <a:sym typeface="Lato"/>
            </a:endParaRPr>
          </a:p>
          <a:p>
            <a:pPr indent="0" lvl="0" marL="0" rtl="0" algn="l">
              <a:lnSpc>
                <a:spcPct val="115000"/>
              </a:lnSpc>
              <a:spcBef>
                <a:spcPts val="1600"/>
              </a:spcBef>
              <a:spcAft>
                <a:spcPts val="0"/>
              </a:spcAft>
              <a:buNone/>
            </a:pPr>
            <a:r>
              <a:rPr lang="en" sz="2700">
                <a:latin typeface="Lato"/>
                <a:ea typeface="Lato"/>
                <a:cs typeface="Lato"/>
                <a:sym typeface="Lato"/>
              </a:rPr>
              <a:t>Ability to write close-to-hardware logic when needed.</a:t>
            </a:r>
            <a:endParaRPr sz="2700">
              <a:latin typeface="Lato"/>
              <a:ea typeface="Lato"/>
              <a:cs typeface="Lato"/>
              <a:sym typeface="Lato"/>
            </a:endParaRPr>
          </a:p>
          <a:p>
            <a:pPr indent="0" lvl="0" marL="0" rtl="0" algn="l">
              <a:lnSpc>
                <a:spcPct val="115000"/>
              </a:lnSpc>
              <a:spcBef>
                <a:spcPts val="1600"/>
              </a:spcBef>
              <a:spcAft>
                <a:spcPts val="1600"/>
              </a:spcAft>
              <a:buNone/>
            </a:pPr>
            <a:r>
              <a:rPr lang="en" sz="2700">
                <a:latin typeface="Lato"/>
                <a:ea typeface="Lato"/>
                <a:cs typeface="Lato"/>
                <a:sym typeface="Lato"/>
              </a:rPr>
              <a:t>Modern C++ practices that makes life easier and software better.</a:t>
            </a:r>
            <a:br>
              <a:rPr lang="en" sz="2700">
                <a:latin typeface="Lato"/>
                <a:ea typeface="Lato"/>
                <a:cs typeface="Lato"/>
                <a:sym typeface="Lato"/>
              </a:rPr>
            </a:br>
            <a:r>
              <a:rPr lang="en" sz="2700">
                <a:latin typeface="Lato"/>
                <a:ea typeface="Lato"/>
                <a:cs typeface="Lato"/>
                <a:sym typeface="Lato"/>
              </a:rPr>
              <a:t>Requires knowledge of the hardware.</a:t>
            </a:r>
            <a:endParaRPr sz="2700">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96" name="Shape 96"/>
        <p:cNvGrpSpPr/>
        <p:nvPr/>
      </p:nvGrpSpPr>
      <p:grpSpPr>
        <a:xfrm>
          <a:off x="0" y="0"/>
          <a:ext cx="0" cy="0"/>
          <a:chOff x="0" y="0"/>
          <a:chExt cx="0" cy="0"/>
        </a:xfrm>
      </p:grpSpPr>
      <p:sp>
        <p:nvSpPr>
          <p:cNvPr id="97" name="Google Shape;97;p17"/>
          <p:cNvSpPr txBox="1"/>
          <p:nvPr>
            <p:ph idx="4294967295" type="title"/>
          </p:nvPr>
        </p:nvSpPr>
        <p:spPr>
          <a:xfrm>
            <a:off x="341250" y="1506775"/>
            <a:ext cx="8269800" cy="15561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4200">
                <a:latin typeface="Arial"/>
                <a:ea typeface="Arial"/>
                <a:cs typeface="Arial"/>
                <a:sym typeface="Arial"/>
              </a:rPr>
              <a:t>Types of Microcontrollers and their Uses</a:t>
            </a:r>
            <a:endParaRPr sz="3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01" name="Shape 101"/>
        <p:cNvGrpSpPr/>
        <p:nvPr/>
      </p:nvGrpSpPr>
      <p:grpSpPr>
        <a:xfrm>
          <a:off x="0" y="0"/>
          <a:ext cx="0" cy="0"/>
          <a:chOff x="0" y="0"/>
          <a:chExt cx="0" cy="0"/>
        </a:xfrm>
      </p:grpSpPr>
      <p:pic>
        <p:nvPicPr>
          <p:cNvPr id="102" name="Google Shape;102;p18" title="SnapInsta-Ai_3749889723868324445.jpg"/>
          <p:cNvPicPr preferRelativeResize="0"/>
          <p:nvPr/>
        </p:nvPicPr>
        <p:blipFill>
          <a:blip r:embed="rId3">
            <a:alphaModFix/>
          </a:blip>
          <a:stretch>
            <a:fillRect/>
          </a:stretch>
        </p:blipFill>
        <p:spPr>
          <a:xfrm>
            <a:off x="1971350" y="-216725"/>
            <a:ext cx="5201299" cy="55335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06" name="Shape 106"/>
        <p:cNvGrpSpPr/>
        <p:nvPr/>
      </p:nvGrpSpPr>
      <p:grpSpPr>
        <a:xfrm>
          <a:off x="0" y="0"/>
          <a:ext cx="0" cy="0"/>
          <a:chOff x="0" y="0"/>
          <a:chExt cx="0" cy="0"/>
        </a:xfrm>
      </p:grpSpPr>
      <p:pic>
        <p:nvPicPr>
          <p:cNvPr id="107" name="Google Shape;107;p19" title="SnapInsta-Ai_3749889723977383157.jpg"/>
          <p:cNvPicPr preferRelativeResize="0"/>
          <p:nvPr/>
        </p:nvPicPr>
        <p:blipFill>
          <a:blip r:embed="rId3">
            <a:alphaModFix/>
          </a:blip>
          <a:stretch>
            <a:fillRect/>
          </a:stretch>
        </p:blipFill>
        <p:spPr>
          <a:xfrm>
            <a:off x="2326125" y="-204275"/>
            <a:ext cx="4868975" cy="5673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11" name="Shape 111"/>
        <p:cNvGrpSpPr/>
        <p:nvPr/>
      </p:nvGrpSpPr>
      <p:grpSpPr>
        <a:xfrm>
          <a:off x="0" y="0"/>
          <a:ext cx="0" cy="0"/>
          <a:chOff x="0" y="0"/>
          <a:chExt cx="0" cy="0"/>
        </a:xfrm>
      </p:grpSpPr>
      <p:pic>
        <p:nvPicPr>
          <p:cNvPr id="112" name="Google Shape;112;p20" title="SnapInsta-Ai_3749889724052892487.jpg"/>
          <p:cNvPicPr preferRelativeResize="0"/>
          <p:nvPr/>
        </p:nvPicPr>
        <p:blipFill>
          <a:blip r:embed="rId3">
            <a:alphaModFix/>
          </a:blip>
          <a:stretch>
            <a:fillRect/>
          </a:stretch>
        </p:blipFill>
        <p:spPr>
          <a:xfrm>
            <a:off x="2123850" y="-260075"/>
            <a:ext cx="4785024" cy="5591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16" name="Shape 116"/>
        <p:cNvGrpSpPr/>
        <p:nvPr/>
      </p:nvGrpSpPr>
      <p:grpSpPr>
        <a:xfrm>
          <a:off x="0" y="0"/>
          <a:ext cx="0" cy="0"/>
          <a:chOff x="0" y="0"/>
          <a:chExt cx="0" cy="0"/>
        </a:xfrm>
      </p:grpSpPr>
      <p:pic>
        <p:nvPicPr>
          <p:cNvPr id="117" name="Google Shape;117;p21" title="SnapInsta-Ai_3749889723876762438.jpg"/>
          <p:cNvPicPr preferRelativeResize="0"/>
          <p:nvPr/>
        </p:nvPicPr>
        <p:blipFill rotWithShape="1">
          <a:blip r:embed="rId3">
            <a:alphaModFix/>
          </a:blip>
          <a:srcRect b="3253" l="0" r="0" t="3262"/>
          <a:stretch/>
        </p:blipFill>
        <p:spPr>
          <a:xfrm>
            <a:off x="2123850" y="-260075"/>
            <a:ext cx="4785024" cy="5591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21" name="Shape 121"/>
        <p:cNvGrpSpPr/>
        <p:nvPr/>
      </p:nvGrpSpPr>
      <p:grpSpPr>
        <a:xfrm>
          <a:off x="0" y="0"/>
          <a:ext cx="0" cy="0"/>
          <a:chOff x="0" y="0"/>
          <a:chExt cx="0" cy="0"/>
        </a:xfrm>
      </p:grpSpPr>
      <p:pic>
        <p:nvPicPr>
          <p:cNvPr id="122" name="Google Shape;122;p22" title="SnapInsta-Ai_3749889723985809777.jpg"/>
          <p:cNvPicPr preferRelativeResize="0"/>
          <p:nvPr/>
        </p:nvPicPr>
        <p:blipFill rotWithShape="1">
          <a:blip r:embed="rId3">
            <a:alphaModFix/>
          </a:blip>
          <a:srcRect b="3253" l="0" r="0" t="3262"/>
          <a:stretch/>
        </p:blipFill>
        <p:spPr>
          <a:xfrm>
            <a:off x="2123850" y="-260075"/>
            <a:ext cx="4785024" cy="5591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26" name="Shape 126"/>
        <p:cNvGrpSpPr/>
        <p:nvPr/>
      </p:nvGrpSpPr>
      <p:grpSpPr>
        <a:xfrm>
          <a:off x="0" y="0"/>
          <a:ext cx="0" cy="0"/>
          <a:chOff x="0" y="0"/>
          <a:chExt cx="0" cy="0"/>
        </a:xfrm>
      </p:grpSpPr>
      <p:pic>
        <p:nvPicPr>
          <p:cNvPr id="127" name="Google Shape;127;p23" title="SnapInsta-Ai_3749889723868316318.jpg"/>
          <p:cNvPicPr preferRelativeResize="0"/>
          <p:nvPr/>
        </p:nvPicPr>
        <p:blipFill rotWithShape="1">
          <a:blip r:embed="rId3">
            <a:alphaModFix/>
          </a:blip>
          <a:srcRect b="3253" l="0" r="0" t="3262"/>
          <a:stretch/>
        </p:blipFill>
        <p:spPr>
          <a:xfrm>
            <a:off x="2123850" y="-260075"/>
            <a:ext cx="4785024" cy="5591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lin ang="5400012" scaled="0"/>
        </a:gradFill>
      </p:bgPr>
    </p:bg>
    <p:spTree>
      <p:nvGrpSpPr>
        <p:cNvPr id="131" name="Shape 131"/>
        <p:cNvGrpSpPr/>
        <p:nvPr/>
      </p:nvGrpSpPr>
      <p:grpSpPr>
        <a:xfrm>
          <a:off x="0" y="0"/>
          <a:ext cx="0" cy="0"/>
          <a:chOff x="0" y="0"/>
          <a:chExt cx="0" cy="0"/>
        </a:xfrm>
      </p:grpSpPr>
      <p:sp>
        <p:nvSpPr>
          <p:cNvPr id="132" name="Google Shape;132;p24"/>
          <p:cNvSpPr txBox="1"/>
          <p:nvPr/>
        </p:nvSpPr>
        <p:spPr>
          <a:xfrm>
            <a:off x="1263450" y="1083600"/>
            <a:ext cx="7159800" cy="229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100">
                <a:solidFill>
                  <a:schemeClr val="dk2"/>
                </a:solidFill>
                <a:latin typeface="Lato"/>
                <a:ea typeface="Lato"/>
                <a:cs typeface="Lato"/>
                <a:sym typeface="Lato"/>
              </a:rPr>
              <a:t>There are many more microcontrollers such as NanoPi, OrangePi, BananaPi and many more.</a:t>
            </a:r>
            <a:br>
              <a:rPr b="1" lang="en" sz="3100">
                <a:solidFill>
                  <a:schemeClr val="dk2"/>
                </a:solidFill>
                <a:latin typeface="Lato"/>
                <a:ea typeface="Lato"/>
                <a:cs typeface="Lato"/>
                <a:sym typeface="Lato"/>
              </a:rPr>
            </a:br>
            <a:br>
              <a:rPr b="1" lang="en" sz="3100">
                <a:solidFill>
                  <a:schemeClr val="dk2"/>
                </a:solidFill>
                <a:latin typeface="Lato"/>
                <a:ea typeface="Lato"/>
                <a:cs typeface="Lato"/>
                <a:sym typeface="Lato"/>
              </a:rPr>
            </a:br>
            <a:r>
              <a:rPr b="1" lang="en" sz="3100">
                <a:solidFill>
                  <a:schemeClr val="dk2"/>
                </a:solidFill>
                <a:latin typeface="Lato"/>
                <a:ea typeface="Lato"/>
                <a:cs typeface="Lato"/>
                <a:sym typeface="Lato"/>
              </a:rPr>
              <a:t>Available</a:t>
            </a:r>
            <a:r>
              <a:rPr b="1" lang="en" sz="3100">
                <a:solidFill>
                  <a:schemeClr val="dk2"/>
                </a:solidFill>
                <a:latin typeface="Lato"/>
                <a:ea typeface="Lato"/>
                <a:cs typeface="Lato"/>
                <a:sym typeface="Lato"/>
              </a:rPr>
              <a:t> on Local Stores</a:t>
            </a:r>
            <a:endParaRPr b="1" sz="3100">
              <a:solidFill>
                <a:schemeClr val="dk2"/>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36" name="Shape 136"/>
        <p:cNvGrpSpPr/>
        <p:nvPr/>
      </p:nvGrpSpPr>
      <p:grpSpPr>
        <a:xfrm>
          <a:off x="0" y="0"/>
          <a:ext cx="0" cy="0"/>
          <a:chOff x="0" y="0"/>
          <a:chExt cx="0" cy="0"/>
        </a:xfrm>
      </p:grpSpPr>
      <p:sp>
        <p:nvSpPr>
          <p:cNvPr id="137" name="Google Shape;137;p25"/>
          <p:cNvSpPr txBox="1"/>
          <p:nvPr>
            <p:ph idx="4294967295" type="title"/>
          </p:nvPr>
        </p:nvSpPr>
        <p:spPr>
          <a:xfrm>
            <a:off x="427950" y="90875"/>
            <a:ext cx="8096400" cy="790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n" sz="3600">
                <a:latin typeface="Arial"/>
                <a:ea typeface="Arial"/>
                <a:cs typeface="Arial"/>
                <a:sym typeface="Arial"/>
              </a:rPr>
              <a:t>RP2040 Overview</a:t>
            </a:r>
            <a:endParaRPr sz="4600">
              <a:latin typeface="Arial"/>
              <a:ea typeface="Arial"/>
              <a:cs typeface="Arial"/>
              <a:sym typeface="Arial"/>
            </a:endParaRPr>
          </a:p>
        </p:txBody>
      </p:sp>
      <p:sp>
        <p:nvSpPr>
          <p:cNvPr id="138" name="Google Shape;138;p25"/>
          <p:cNvSpPr txBox="1"/>
          <p:nvPr>
            <p:ph idx="4294967295" type="title"/>
          </p:nvPr>
        </p:nvSpPr>
        <p:spPr>
          <a:xfrm>
            <a:off x="317850" y="708000"/>
            <a:ext cx="8625600" cy="4117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 sz="2500">
                <a:latin typeface="Lato"/>
                <a:ea typeface="Lato"/>
                <a:cs typeface="Lato"/>
                <a:sym typeface="Lato"/>
              </a:rPr>
              <a:t>RP2040 is a microcontroller designed by Raspberry Pi, and its name breaks down as follows:</a:t>
            </a:r>
            <a:endParaRPr sz="2500">
              <a:latin typeface="Lato"/>
              <a:ea typeface="Lato"/>
              <a:cs typeface="Lato"/>
              <a:sym typeface="Lato"/>
            </a:endParaRPr>
          </a:p>
          <a:p>
            <a:pPr indent="0" lvl="0" marL="0" rtl="0" algn="l">
              <a:lnSpc>
                <a:spcPct val="115000"/>
              </a:lnSpc>
              <a:spcBef>
                <a:spcPts val="1300"/>
              </a:spcBef>
              <a:spcAft>
                <a:spcPts val="0"/>
              </a:spcAft>
              <a:buNone/>
            </a:pPr>
            <a:r>
              <a:rPr lang="en" sz="2500">
                <a:latin typeface="Lato"/>
                <a:ea typeface="Lato"/>
                <a:cs typeface="Lato"/>
                <a:sym typeface="Lato"/>
              </a:rPr>
              <a:t>R for Raspberry Pi,</a:t>
            </a:r>
            <a:endParaRPr sz="2500">
              <a:latin typeface="Lato"/>
              <a:ea typeface="Lato"/>
              <a:cs typeface="Lato"/>
              <a:sym typeface="Lato"/>
            </a:endParaRPr>
          </a:p>
          <a:p>
            <a:pPr indent="0" lvl="0" marL="0" rtl="0" algn="l">
              <a:lnSpc>
                <a:spcPct val="115000"/>
              </a:lnSpc>
              <a:spcBef>
                <a:spcPts val="1300"/>
              </a:spcBef>
              <a:spcAft>
                <a:spcPts val="0"/>
              </a:spcAft>
              <a:buNone/>
            </a:pPr>
            <a:r>
              <a:rPr lang="en" sz="2500">
                <a:latin typeface="Lato"/>
                <a:ea typeface="Lato"/>
                <a:cs typeface="Lato"/>
                <a:sym typeface="Lato"/>
              </a:rPr>
              <a:t>P for Pi,</a:t>
            </a:r>
            <a:endParaRPr sz="2500">
              <a:latin typeface="Lato"/>
              <a:ea typeface="Lato"/>
              <a:cs typeface="Lato"/>
              <a:sym typeface="Lato"/>
            </a:endParaRPr>
          </a:p>
          <a:p>
            <a:pPr indent="0" lvl="0" marL="0" rtl="0" algn="l">
              <a:lnSpc>
                <a:spcPct val="115000"/>
              </a:lnSpc>
              <a:spcBef>
                <a:spcPts val="1300"/>
              </a:spcBef>
              <a:spcAft>
                <a:spcPts val="0"/>
              </a:spcAft>
              <a:buNone/>
            </a:pPr>
            <a:r>
              <a:rPr lang="en" sz="2500">
                <a:latin typeface="Lato"/>
                <a:ea typeface="Lato"/>
                <a:cs typeface="Lato"/>
                <a:sym typeface="Lato"/>
              </a:rPr>
              <a:t>2 for the dual-core processor,</a:t>
            </a:r>
            <a:endParaRPr sz="2500">
              <a:latin typeface="Lato"/>
              <a:ea typeface="Lato"/>
              <a:cs typeface="Lato"/>
              <a:sym typeface="Lato"/>
            </a:endParaRPr>
          </a:p>
          <a:p>
            <a:pPr indent="0" lvl="0" marL="0" rtl="0" algn="l">
              <a:lnSpc>
                <a:spcPct val="115000"/>
              </a:lnSpc>
              <a:spcBef>
                <a:spcPts val="1300"/>
              </a:spcBef>
              <a:spcAft>
                <a:spcPts val="0"/>
              </a:spcAft>
              <a:buNone/>
            </a:pPr>
            <a:r>
              <a:rPr lang="en" sz="2500">
                <a:latin typeface="Lato"/>
                <a:ea typeface="Lato"/>
                <a:cs typeface="Lato"/>
                <a:sym typeface="Lato"/>
              </a:rPr>
              <a:t>0 for the Arm Cortex-M0+ CPU type, and</a:t>
            </a:r>
            <a:endParaRPr sz="2500">
              <a:latin typeface="Lato"/>
              <a:ea typeface="Lato"/>
              <a:cs typeface="Lato"/>
              <a:sym typeface="Lato"/>
            </a:endParaRPr>
          </a:p>
          <a:p>
            <a:pPr indent="0" lvl="0" marL="0" rtl="0" algn="l">
              <a:lnSpc>
                <a:spcPct val="115000"/>
              </a:lnSpc>
              <a:spcBef>
                <a:spcPts val="1300"/>
              </a:spcBef>
              <a:spcAft>
                <a:spcPts val="0"/>
              </a:spcAft>
              <a:buNone/>
            </a:pPr>
            <a:r>
              <a:rPr lang="en" sz="2500">
                <a:latin typeface="Lato"/>
                <a:ea typeface="Lato"/>
                <a:cs typeface="Lato"/>
                <a:sym typeface="Lato"/>
              </a:rPr>
              <a:t>40 indicates the amount of RAM on the chip</a:t>
            </a:r>
            <a:endParaRPr sz="2500">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42" name="Shape 142"/>
        <p:cNvGrpSpPr/>
        <p:nvPr/>
      </p:nvGrpSpPr>
      <p:grpSpPr>
        <a:xfrm>
          <a:off x="0" y="0"/>
          <a:ext cx="0" cy="0"/>
          <a:chOff x="0" y="0"/>
          <a:chExt cx="0" cy="0"/>
        </a:xfrm>
      </p:grpSpPr>
      <p:sp>
        <p:nvSpPr>
          <p:cNvPr id="143" name="Google Shape;143;p26"/>
          <p:cNvSpPr txBox="1"/>
          <p:nvPr>
            <p:ph idx="4294967295" type="title"/>
          </p:nvPr>
        </p:nvSpPr>
        <p:spPr>
          <a:xfrm>
            <a:off x="427950" y="90875"/>
            <a:ext cx="8096400" cy="645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2"/>
              </a:buClr>
              <a:buSzPts val="1100"/>
              <a:buFont typeface="Arial"/>
              <a:buNone/>
            </a:pPr>
            <a:r>
              <a:rPr lang="en" sz="3200">
                <a:latin typeface="Lato"/>
                <a:ea typeface="Lato"/>
                <a:cs typeface="Lato"/>
                <a:sym typeface="Lato"/>
              </a:rPr>
              <a:t>contd.</a:t>
            </a:r>
            <a:endParaRPr sz="4100">
              <a:solidFill>
                <a:schemeClr val="dk1"/>
              </a:solidFill>
            </a:endParaRPr>
          </a:p>
        </p:txBody>
      </p:sp>
      <p:sp>
        <p:nvSpPr>
          <p:cNvPr id="144" name="Google Shape;144;p26"/>
          <p:cNvSpPr txBox="1"/>
          <p:nvPr>
            <p:ph idx="4294967295" type="title"/>
          </p:nvPr>
        </p:nvSpPr>
        <p:spPr>
          <a:xfrm>
            <a:off x="545400" y="881375"/>
            <a:ext cx="7603200" cy="3886500"/>
          </a:xfrm>
          <a:prstGeom prst="rect">
            <a:avLst/>
          </a:prstGeom>
        </p:spPr>
        <p:txBody>
          <a:bodyPr anchorCtr="0" anchor="t" bIns="91425" lIns="91425" spcFirstLastPara="1" rIns="91425" wrap="square" tIns="91425">
            <a:noAutofit/>
          </a:bodyPr>
          <a:lstStyle/>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Budget friendly less not $3</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Dual-core ARM Cortex-M0+, up to 133MHz</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264kB of embedded SRAM in 6 banks</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 Programmable I/O (PIO) for extended peripheral support(UART, </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30 multifunction usable GPIO pins</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Runs code directly from flash</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Your code = runs the hardware directly.</a:t>
            </a:r>
            <a:endParaRPr sz="2700">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48" name="Shape 148"/>
        <p:cNvGrpSpPr/>
        <p:nvPr/>
      </p:nvGrpSpPr>
      <p:grpSpPr>
        <a:xfrm>
          <a:off x="0" y="0"/>
          <a:ext cx="0" cy="0"/>
          <a:chOff x="0" y="0"/>
          <a:chExt cx="0" cy="0"/>
        </a:xfrm>
      </p:grpSpPr>
      <p:sp>
        <p:nvSpPr>
          <p:cNvPr id="149" name="Google Shape;149;p27"/>
          <p:cNvSpPr txBox="1"/>
          <p:nvPr>
            <p:ph idx="4294967295" type="title"/>
          </p:nvPr>
        </p:nvSpPr>
        <p:spPr>
          <a:xfrm>
            <a:off x="427950" y="90875"/>
            <a:ext cx="8096400" cy="645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2"/>
              </a:buClr>
              <a:buSzPts val="1100"/>
              <a:buFont typeface="Arial"/>
              <a:buNone/>
            </a:pPr>
            <a:r>
              <a:rPr lang="en" sz="3200">
                <a:latin typeface="Lato"/>
                <a:ea typeface="Lato"/>
                <a:cs typeface="Lato"/>
                <a:sym typeface="Lato"/>
              </a:rPr>
              <a:t>Raspberry Pi Pico microcontrollers</a:t>
            </a:r>
            <a:endParaRPr sz="4100">
              <a:solidFill>
                <a:schemeClr val="dk1"/>
              </a:solidFill>
            </a:endParaRPr>
          </a:p>
        </p:txBody>
      </p:sp>
      <p:sp>
        <p:nvSpPr>
          <p:cNvPr id="150" name="Google Shape;150;p27"/>
          <p:cNvSpPr txBox="1"/>
          <p:nvPr>
            <p:ph idx="4294967295" type="title"/>
          </p:nvPr>
        </p:nvSpPr>
        <p:spPr>
          <a:xfrm>
            <a:off x="545400" y="736775"/>
            <a:ext cx="8224500" cy="50568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SzPts val="2200"/>
              <a:buFont typeface="Lato"/>
              <a:buChar char="●"/>
            </a:pPr>
            <a:r>
              <a:rPr lang="en" sz="2200">
                <a:latin typeface="Lato"/>
                <a:ea typeface="Lato"/>
                <a:cs typeface="Lato"/>
                <a:sym typeface="Lato"/>
              </a:rPr>
              <a:t>RP2040 microcontroller: This is the official microcontroller designed by Raspberry Pi, based on a dual-core ARM Cortex-M0+ processor. It is the brain of the Pico series.</a:t>
            </a:r>
            <a:endParaRPr sz="2200">
              <a:latin typeface="Lato"/>
              <a:ea typeface="Lato"/>
              <a:cs typeface="Lato"/>
              <a:sym typeface="Lato"/>
            </a:endParaRPr>
          </a:p>
          <a:p>
            <a:pPr indent="-368300" lvl="0" marL="457200" rtl="0" algn="l">
              <a:lnSpc>
                <a:spcPct val="115000"/>
              </a:lnSpc>
              <a:spcBef>
                <a:spcPts val="0"/>
              </a:spcBef>
              <a:spcAft>
                <a:spcPts val="0"/>
              </a:spcAft>
              <a:buSzPts val="2200"/>
              <a:buFont typeface="Lato"/>
              <a:buChar char="●"/>
            </a:pPr>
            <a:r>
              <a:rPr lang="en" sz="2200">
                <a:latin typeface="Lato"/>
                <a:ea typeface="Lato"/>
                <a:cs typeface="Lato"/>
                <a:sym typeface="Lato"/>
              </a:rPr>
              <a:t>Raspberry Pi Pico: The original microcontroller board based on the RP2040 chip.</a:t>
            </a:r>
            <a:endParaRPr sz="2200">
              <a:latin typeface="Lato"/>
              <a:ea typeface="Lato"/>
              <a:cs typeface="Lato"/>
              <a:sym typeface="Lato"/>
            </a:endParaRPr>
          </a:p>
          <a:p>
            <a:pPr indent="-368300" lvl="0" marL="457200" rtl="0" algn="l">
              <a:lnSpc>
                <a:spcPct val="115000"/>
              </a:lnSpc>
              <a:spcBef>
                <a:spcPts val="0"/>
              </a:spcBef>
              <a:spcAft>
                <a:spcPts val="0"/>
              </a:spcAft>
              <a:buSzPts val="2200"/>
              <a:buFont typeface="Lato"/>
              <a:buChar char="●"/>
            </a:pPr>
            <a:r>
              <a:rPr lang="en" sz="2200">
                <a:latin typeface="Lato"/>
                <a:ea typeface="Lato"/>
                <a:cs typeface="Lato"/>
                <a:sym typeface="Lato"/>
              </a:rPr>
              <a:t>Raspberry Pi Pico W: A Pico board with added wireless connectivity (Wi-Fi and Bluetooth).</a:t>
            </a:r>
            <a:endParaRPr sz="2200">
              <a:latin typeface="Lato"/>
              <a:ea typeface="Lato"/>
              <a:cs typeface="Lato"/>
              <a:sym typeface="Lato"/>
            </a:endParaRPr>
          </a:p>
          <a:p>
            <a:pPr indent="-368300" lvl="0" marL="457200" rtl="0" algn="l">
              <a:lnSpc>
                <a:spcPct val="115000"/>
              </a:lnSpc>
              <a:spcBef>
                <a:spcPts val="0"/>
              </a:spcBef>
              <a:spcAft>
                <a:spcPts val="0"/>
              </a:spcAft>
              <a:buSzPts val="2200"/>
              <a:buFont typeface="Lato"/>
              <a:buChar char="●"/>
            </a:pPr>
            <a:r>
              <a:rPr lang="en" sz="2200">
                <a:latin typeface="Lato"/>
                <a:ea typeface="Lato"/>
                <a:cs typeface="Lato"/>
                <a:sym typeface="Lato"/>
              </a:rPr>
              <a:t>Raspberry Pi Pico H: The "H" stands for "header," meaning this version comes with pre-soldered headers.</a:t>
            </a:r>
            <a:endParaRPr sz="2200">
              <a:latin typeface="Lato"/>
              <a:ea typeface="Lato"/>
              <a:cs typeface="Lato"/>
              <a:sym typeface="Lato"/>
            </a:endParaRPr>
          </a:p>
          <a:p>
            <a:pPr indent="-368300" lvl="0" marL="457200" rtl="0" algn="l">
              <a:lnSpc>
                <a:spcPct val="115000"/>
              </a:lnSpc>
              <a:spcBef>
                <a:spcPts val="0"/>
              </a:spcBef>
              <a:spcAft>
                <a:spcPts val="0"/>
              </a:spcAft>
              <a:buSzPts val="2200"/>
              <a:buFont typeface="Lato"/>
              <a:buChar char="●"/>
            </a:pPr>
            <a:r>
              <a:rPr lang="en" sz="2200">
                <a:latin typeface="Lato"/>
                <a:ea typeface="Lato"/>
                <a:cs typeface="Lato"/>
                <a:sym typeface="Lato"/>
              </a:rPr>
              <a:t>Raspberry Pi Pico WH: A version of the Pico W with pre-soldered headers</a:t>
            </a:r>
            <a:endParaRPr sz="2200">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54" name="Shape 154"/>
        <p:cNvGrpSpPr/>
        <p:nvPr/>
      </p:nvGrpSpPr>
      <p:grpSpPr>
        <a:xfrm>
          <a:off x="0" y="0"/>
          <a:ext cx="0" cy="0"/>
          <a:chOff x="0" y="0"/>
          <a:chExt cx="0" cy="0"/>
        </a:xfrm>
      </p:grpSpPr>
      <p:sp>
        <p:nvSpPr>
          <p:cNvPr id="155" name="Google Shape;155;p28"/>
          <p:cNvSpPr txBox="1"/>
          <p:nvPr>
            <p:ph idx="4294967295" type="title"/>
          </p:nvPr>
        </p:nvSpPr>
        <p:spPr>
          <a:xfrm>
            <a:off x="427950" y="90875"/>
            <a:ext cx="8096400" cy="645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Clr>
                <a:schemeClr val="dk2"/>
              </a:buClr>
              <a:buSzPts val="1100"/>
              <a:buFont typeface="Arial"/>
              <a:buNone/>
            </a:pPr>
            <a:r>
              <a:rPr b="0" lang="en" sz="3400">
                <a:latin typeface="Lato Black"/>
                <a:ea typeface="Lato Black"/>
                <a:cs typeface="Lato Black"/>
                <a:sym typeface="Lato Black"/>
              </a:rPr>
              <a:t>Other devices</a:t>
            </a:r>
            <a:endParaRPr b="0" sz="4300">
              <a:solidFill>
                <a:schemeClr val="dk1"/>
              </a:solidFill>
              <a:latin typeface="Lato Black"/>
              <a:ea typeface="Lato Black"/>
              <a:cs typeface="Lato Black"/>
              <a:sym typeface="Lato Black"/>
            </a:endParaRPr>
          </a:p>
        </p:txBody>
      </p:sp>
      <p:sp>
        <p:nvSpPr>
          <p:cNvPr id="156" name="Google Shape;156;p28"/>
          <p:cNvSpPr txBox="1"/>
          <p:nvPr>
            <p:ph idx="4294967295" type="title"/>
          </p:nvPr>
        </p:nvSpPr>
        <p:spPr>
          <a:xfrm>
            <a:off x="545400" y="736775"/>
            <a:ext cx="8224500" cy="5056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800">
                <a:latin typeface="Lato"/>
                <a:ea typeface="Lato"/>
                <a:cs typeface="Lato"/>
                <a:sym typeface="Lato"/>
              </a:rPr>
              <a:t>Raspberry Pi (Model B, 4, 5, Zero 2 W): These are typically single-board computers (SBCs), which are more powerful than microcontrollers and can run full operating systems like Linux. They are based on microprocessors, not microcontrollers, although they have GPIO pins that can be used for microcontroller-like tasks.</a:t>
            </a:r>
            <a:endParaRPr sz="3900">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60" name="Shape 160"/>
        <p:cNvGrpSpPr/>
        <p:nvPr/>
      </p:nvGrpSpPr>
      <p:grpSpPr>
        <a:xfrm>
          <a:off x="0" y="0"/>
          <a:ext cx="0" cy="0"/>
          <a:chOff x="0" y="0"/>
          <a:chExt cx="0" cy="0"/>
        </a:xfrm>
      </p:grpSpPr>
      <p:sp>
        <p:nvSpPr>
          <p:cNvPr id="161" name="Google Shape;161;p29"/>
          <p:cNvSpPr txBox="1"/>
          <p:nvPr>
            <p:ph idx="4294967295" type="title"/>
          </p:nvPr>
        </p:nvSpPr>
        <p:spPr>
          <a:xfrm>
            <a:off x="427950" y="90875"/>
            <a:ext cx="8096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Clr>
                <a:schemeClr val="dk2"/>
              </a:buClr>
              <a:buSzPts val="1100"/>
              <a:buFont typeface="Arial"/>
              <a:buNone/>
            </a:pPr>
            <a:r>
              <a:rPr lang="en" sz="3800">
                <a:latin typeface="Arial"/>
                <a:ea typeface="Arial"/>
                <a:cs typeface="Arial"/>
                <a:sym typeface="Arial"/>
              </a:rPr>
              <a:t>ARM vs. Intel Processors</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62" name="Google Shape;162;p29"/>
          <p:cNvSpPr txBox="1"/>
          <p:nvPr>
            <p:ph idx="4294967295" type="title"/>
          </p:nvPr>
        </p:nvSpPr>
        <p:spPr>
          <a:xfrm>
            <a:off x="674550" y="1097975"/>
            <a:ext cx="8096400" cy="3886500"/>
          </a:xfrm>
          <a:prstGeom prst="rect">
            <a:avLst/>
          </a:prstGeom>
        </p:spPr>
        <p:txBody>
          <a:bodyPr anchorCtr="0" anchor="t" bIns="91425" lIns="91425" spcFirstLastPara="1" rIns="91425" wrap="square" tIns="91425">
            <a:noAutofit/>
          </a:bodyPr>
          <a:lstStyle/>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Arm and Intel are two companies that design processors used in most electronics today. Arm processors are known for their power efficiency in portable devices,</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 while Intel are known for its high-performance processors used in personal computers and servers. </a:t>
            </a:r>
            <a:endParaRPr sz="27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66" name="Shape 166"/>
        <p:cNvGrpSpPr/>
        <p:nvPr/>
      </p:nvGrpSpPr>
      <p:grpSpPr>
        <a:xfrm>
          <a:off x="0" y="0"/>
          <a:ext cx="0" cy="0"/>
          <a:chOff x="0" y="0"/>
          <a:chExt cx="0" cy="0"/>
        </a:xfrm>
      </p:grpSpPr>
      <p:sp>
        <p:nvSpPr>
          <p:cNvPr id="167" name="Google Shape;167;p30"/>
          <p:cNvSpPr txBox="1"/>
          <p:nvPr>
            <p:ph idx="4294967295" type="title"/>
          </p:nvPr>
        </p:nvSpPr>
        <p:spPr>
          <a:xfrm>
            <a:off x="427950" y="90875"/>
            <a:ext cx="8096400" cy="1007100"/>
          </a:xfrm>
          <a:prstGeom prst="rect">
            <a:avLst/>
          </a:prstGeom>
        </p:spPr>
        <p:txBody>
          <a:bodyPr anchorCtr="0" anchor="t" bIns="91425" lIns="91425" spcFirstLastPara="1" rIns="91425" wrap="square" tIns="91425">
            <a:noAutofit/>
          </a:bodyPr>
          <a:lstStyle/>
          <a:p>
            <a:pPr indent="0" lvl="0" marL="0" rtl="0" algn="ctr">
              <a:lnSpc>
                <a:spcPct val="115000"/>
              </a:lnSpc>
              <a:spcBef>
                <a:spcPts val="2400"/>
              </a:spcBef>
              <a:spcAft>
                <a:spcPts val="0"/>
              </a:spcAft>
              <a:buClr>
                <a:schemeClr val="dk2"/>
              </a:buClr>
              <a:buSzPts val="1100"/>
              <a:buFont typeface="Arial"/>
              <a:buNone/>
            </a:pPr>
            <a:r>
              <a:rPr lang="en" sz="3800">
                <a:latin typeface="Arial"/>
                <a:ea typeface="Arial"/>
                <a:cs typeface="Arial"/>
                <a:sym typeface="Arial"/>
              </a:rPr>
              <a:t>Instruction Set</a:t>
            </a:r>
            <a:endParaRPr sz="3800">
              <a:latin typeface="Arial"/>
              <a:ea typeface="Arial"/>
              <a:cs typeface="Arial"/>
              <a:sym typeface="Arial"/>
            </a:endParaRPr>
          </a:p>
          <a:p>
            <a:pPr indent="0" lvl="0" marL="0" rtl="0" algn="ctr">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68" name="Google Shape;168;p30"/>
          <p:cNvSpPr txBox="1"/>
          <p:nvPr>
            <p:ph idx="4294967295" type="title"/>
          </p:nvPr>
        </p:nvSpPr>
        <p:spPr>
          <a:xfrm>
            <a:off x="427950" y="1097975"/>
            <a:ext cx="8343000" cy="3886500"/>
          </a:xfrm>
          <a:prstGeom prst="rect">
            <a:avLst/>
          </a:prstGeom>
        </p:spPr>
        <p:txBody>
          <a:bodyPr anchorCtr="0" anchor="t" bIns="91425" lIns="91425" spcFirstLastPara="1" rIns="91425" wrap="square" tIns="91425">
            <a:noAutofit/>
          </a:bodyPr>
          <a:lstStyle/>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Both companies have their own ISA (Instruction Set Architecture), which they have exclusive access to use and license. </a:t>
            </a:r>
            <a:endParaRPr sz="2700">
              <a:latin typeface="Lato"/>
              <a:ea typeface="Lato"/>
              <a:cs typeface="Lato"/>
              <a:sym typeface="Lato"/>
            </a:endParaRPr>
          </a:p>
          <a:p>
            <a:pPr indent="-400050" lvl="0" marL="457200" rtl="0" algn="l">
              <a:lnSpc>
                <a:spcPct val="115000"/>
              </a:lnSpc>
              <a:spcBef>
                <a:spcPts val="0"/>
              </a:spcBef>
              <a:spcAft>
                <a:spcPts val="0"/>
              </a:spcAft>
              <a:buSzPts val="2700"/>
              <a:buFont typeface="Lato"/>
              <a:buChar char="●"/>
            </a:pPr>
            <a:r>
              <a:rPr lang="en" sz="2700">
                <a:latin typeface="Lato"/>
                <a:ea typeface="Lato"/>
                <a:cs typeface="Lato"/>
                <a:sym typeface="Lato"/>
              </a:rPr>
              <a:t>Intel’s ISA is known as the x86 architecture, which uses a CISC (Complex Instructions Set Computing) design philosophy. Arm’s ISA is the ARM architecture, which uses a RISC (Reduced Instruction Set Computing) design philosophy. </a:t>
            </a:r>
            <a:endParaRPr sz="2700">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72" name="Shape 172"/>
        <p:cNvGrpSpPr/>
        <p:nvPr/>
      </p:nvGrpSpPr>
      <p:grpSpPr>
        <a:xfrm>
          <a:off x="0" y="0"/>
          <a:ext cx="0" cy="0"/>
          <a:chOff x="0" y="0"/>
          <a:chExt cx="0" cy="0"/>
        </a:xfrm>
      </p:grpSpPr>
      <p:sp>
        <p:nvSpPr>
          <p:cNvPr id="173" name="Google Shape;173;p31"/>
          <p:cNvSpPr txBox="1"/>
          <p:nvPr>
            <p:ph idx="4294967295" type="title"/>
          </p:nvPr>
        </p:nvSpPr>
        <p:spPr>
          <a:xfrm>
            <a:off x="427950" y="90875"/>
            <a:ext cx="8096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rPr lang="en" sz="4000">
                <a:latin typeface="Arial"/>
                <a:ea typeface="Arial"/>
                <a:cs typeface="Arial"/>
                <a:sym typeface="Arial"/>
              </a:rPr>
              <a:t>Software Compatibility/Support</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74" name="Google Shape;174;p31"/>
          <p:cNvSpPr txBox="1"/>
          <p:nvPr>
            <p:ph idx="4294967295" type="title"/>
          </p:nvPr>
        </p:nvSpPr>
        <p:spPr>
          <a:xfrm>
            <a:off x="427950" y="1097975"/>
            <a:ext cx="8343000" cy="3886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2700">
                <a:latin typeface="Lato"/>
                <a:ea typeface="Lato"/>
                <a:cs typeface="Lato"/>
                <a:sym typeface="Lato"/>
              </a:rPr>
              <a:t>Since the x86 and ARM ISAs are based on two very</a:t>
            </a:r>
            <a:r>
              <a:rPr lang="en" sz="2700">
                <a:uFill>
                  <a:noFill/>
                </a:uFill>
                <a:latin typeface="Lato"/>
                <a:ea typeface="Lato"/>
                <a:cs typeface="Lato"/>
                <a:sym typeface="Lato"/>
                <a:hlinkClick r:id="rId3"/>
              </a:rPr>
              <a:t> </a:t>
            </a:r>
            <a:r>
              <a:rPr lang="en" sz="2700">
                <a:latin typeface="Lato"/>
                <a:ea typeface="Lato"/>
                <a:cs typeface="Lato"/>
                <a:sym typeface="Lato"/>
              </a:rPr>
              <a:t>different design philosophies (RISC and CISC), software made for Intel chips cannot be processed natively by an ARM processor and vice versa. Having most programs developed on a specific architecture ensures that consumers will buy a company's processor whose applications is available to them.</a:t>
            </a:r>
            <a:endParaRPr sz="2700">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78" name="Shape 178"/>
        <p:cNvGrpSpPr/>
        <p:nvPr/>
      </p:nvGrpSpPr>
      <p:grpSpPr>
        <a:xfrm>
          <a:off x="0" y="0"/>
          <a:ext cx="0" cy="0"/>
          <a:chOff x="0" y="0"/>
          <a:chExt cx="0" cy="0"/>
        </a:xfrm>
      </p:grpSpPr>
      <p:sp>
        <p:nvSpPr>
          <p:cNvPr id="179" name="Google Shape;179;p32"/>
          <p:cNvSpPr txBox="1"/>
          <p:nvPr>
            <p:ph idx="4294967295" type="title"/>
          </p:nvPr>
        </p:nvSpPr>
        <p:spPr>
          <a:xfrm>
            <a:off x="427950" y="90875"/>
            <a:ext cx="8096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Common ARM Processor Families</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80" name="Google Shape;180;p32"/>
          <p:cNvSpPr txBox="1"/>
          <p:nvPr>
            <p:ph idx="4294967295" type="title"/>
          </p:nvPr>
        </p:nvSpPr>
        <p:spPr>
          <a:xfrm>
            <a:off x="322200" y="924625"/>
            <a:ext cx="8499600" cy="4059900"/>
          </a:xfrm>
          <a:prstGeom prst="rect">
            <a:avLst/>
          </a:prstGeom>
        </p:spPr>
        <p:txBody>
          <a:bodyPr anchorCtr="0" anchor="t" bIns="91425" lIns="91425" spcFirstLastPara="1" rIns="91425" wrap="square" tIns="91425">
            <a:noAutofit/>
          </a:bodyPr>
          <a:lstStyle/>
          <a:p>
            <a:pPr indent="-387350" lvl="0" marL="457200" rtl="0" algn="l">
              <a:lnSpc>
                <a:spcPct val="115000"/>
              </a:lnSpc>
              <a:spcBef>
                <a:spcPts val="1300"/>
              </a:spcBef>
              <a:spcAft>
                <a:spcPts val="0"/>
              </a:spcAft>
              <a:buSzPts val="2500"/>
              <a:buFont typeface="Arial"/>
              <a:buChar char="●"/>
            </a:pPr>
            <a:r>
              <a:rPr lang="en" sz="2500">
                <a:latin typeface="Lato"/>
                <a:ea typeface="Lato"/>
                <a:cs typeface="Lato"/>
                <a:sym typeface="Lato"/>
              </a:rPr>
              <a:t>Cortex-M Series : For microcontrollers (low power, real-time control)</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Arial"/>
              <a:buChar char="●"/>
            </a:pPr>
            <a:r>
              <a:rPr lang="en" sz="2500">
                <a:latin typeface="Lato"/>
                <a:ea typeface="Lato"/>
                <a:cs typeface="Lato"/>
                <a:sym typeface="Lato"/>
              </a:rPr>
              <a:t>Cortex-R Series : For real-time systems (e.g., automotive, robotics)</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Arial"/>
              <a:buChar char="●"/>
            </a:pPr>
            <a:r>
              <a:rPr lang="en" sz="2500">
                <a:latin typeface="Lato"/>
                <a:ea typeface="Lato"/>
                <a:cs typeface="Lato"/>
                <a:sym typeface="Lato"/>
              </a:rPr>
              <a:t>Cortex-A Series : For application processors (e.g., smartphones, tablets)</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Arial"/>
              <a:buChar char="●"/>
            </a:pPr>
            <a:r>
              <a:rPr lang="en" sz="2500">
                <a:latin typeface="Lato"/>
                <a:ea typeface="Lato"/>
                <a:cs typeface="Lato"/>
                <a:sym typeface="Lato"/>
              </a:rPr>
              <a:t>Neoverse : For infrastructure and cloud computing</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Arial"/>
              <a:buChar char="●"/>
            </a:pPr>
            <a:r>
              <a:rPr lang="en" sz="2500">
                <a:latin typeface="Lato"/>
                <a:ea typeface="Lato"/>
                <a:cs typeface="Lato"/>
                <a:sym typeface="Lato"/>
              </a:rPr>
              <a:t>Apple Silicon (e.g., M1, M2) : Custom ARM-based processors for Macs</a:t>
            </a:r>
            <a:endParaRPr sz="2500">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84" name="Shape 184"/>
        <p:cNvGrpSpPr/>
        <p:nvPr/>
      </p:nvGrpSpPr>
      <p:grpSpPr>
        <a:xfrm>
          <a:off x="0" y="0"/>
          <a:ext cx="0" cy="0"/>
          <a:chOff x="0" y="0"/>
          <a:chExt cx="0" cy="0"/>
        </a:xfrm>
      </p:grpSpPr>
      <p:sp>
        <p:nvSpPr>
          <p:cNvPr id="185" name="Google Shape;185;p33"/>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Getting Started on your Unix Machine</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86" name="Google Shape;186;p33"/>
          <p:cNvSpPr txBox="1"/>
          <p:nvPr>
            <p:ph idx="4294967295" type="title"/>
          </p:nvPr>
        </p:nvSpPr>
        <p:spPr>
          <a:xfrm>
            <a:off x="322200" y="924625"/>
            <a:ext cx="8499600" cy="40599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1300"/>
              </a:spcAft>
              <a:buNone/>
            </a:pPr>
            <a:r>
              <a:rPr lang="en" sz="2800">
                <a:latin typeface="Lato"/>
                <a:ea typeface="Lato"/>
                <a:cs typeface="Lato"/>
                <a:sym typeface="Lato"/>
              </a:rPr>
              <a:t>The Raspberry Pi Pico SDK provides lightweight C and C++ support libraries that allow C++ code to run directly on the hardware.</a:t>
            </a:r>
            <a:br>
              <a:rPr lang="en" sz="2800">
                <a:latin typeface="Lato"/>
                <a:ea typeface="Lato"/>
                <a:cs typeface="Lato"/>
                <a:sym typeface="Lato"/>
              </a:rPr>
            </a:br>
            <a:r>
              <a:rPr lang="en" sz="2800">
                <a:latin typeface="Lato"/>
                <a:ea typeface="Lato"/>
                <a:cs typeface="Lato"/>
                <a:sym typeface="Lato"/>
              </a:rPr>
              <a:t>- A Unix machine</a:t>
            </a:r>
            <a:br>
              <a:rPr lang="en" sz="2800">
                <a:latin typeface="Lato"/>
                <a:ea typeface="Lato"/>
                <a:cs typeface="Lato"/>
                <a:sym typeface="Lato"/>
              </a:rPr>
            </a:br>
            <a:r>
              <a:rPr lang="en" sz="2800">
                <a:latin typeface="Lato"/>
                <a:ea typeface="Lato"/>
                <a:cs typeface="Lato"/>
                <a:sym typeface="Lato"/>
              </a:rPr>
              <a:t>- </a:t>
            </a:r>
            <a:r>
              <a:rPr lang="en" sz="2800">
                <a:latin typeface="Lato"/>
                <a:ea typeface="Lato"/>
                <a:cs typeface="Lato"/>
                <a:sym typeface="Lato"/>
              </a:rPr>
              <a:t>c</a:t>
            </a:r>
            <a:r>
              <a:rPr lang="en" sz="2800">
                <a:latin typeface="Lato"/>
                <a:ea typeface="Lato"/>
                <a:cs typeface="Lato"/>
                <a:sym typeface="Lato"/>
              </a:rPr>
              <a:t>lone : </a:t>
            </a:r>
            <a:r>
              <a:rPr lang="en" sz="2800" u="sng">
                <a:solidFill>
                  <a:schemeClr val="hlink"/>
                </a:solidFill>
                <a:latin typeface="Lato"/>
                <a:ea typeface="Lato"/>
                <a:cs typeface="Lato"/>
                <a:sym typeface="Lato"/>
                <a:hlinkClick r:id="rId3"/>
              </a:rPr>
              <a:t>https://github.com/raspberrypi/pico-sdk</a:t>
            </a:r>
            <a:br>
              <a:rPr lang="en" sz="2800">
                <a:latin typeface="Lato"/>
                <a:ea typeface="Lato"/>
                <a:cs typeface="Lato"/>
                <a:sym typeface="Lato"/>
              </a:rPr>
            </a:br>
            <a:r>
              <a:rPr lang="en" sz="2800">
                <a:latin typeface="Lato"/>
                <a:ea typeface="Lato"/>
                <a:cs typeface="Lato"/>
                <a:sym typeface="Lato"/>
              </a:rPr>
              <a:t>- USB type C cord</a:t>
            </a:r>
            <a:endParaRPr sz="2800">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90" name="Shape 190"/>
        <p:cNvGrpSpPr/>
        <p:nvPr/>
      </p:nvGrpSpPr>
      <p:grpSpPr>
        <a:xfrm>
          <a:off x="0" y="0"/>
          <a:ext cx="0" cy="0"/>
          <a:chOff x="0" y="0"/>
          <a:chExt cx="0" cy="0"/>
        </a:xfrm>
      </p:grpSpPr>
      <p:sp>
        <p:nvSpPr>
          <p:cNvPr id="191" name="Google Shape;191;p34"/>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Getting Started on your Unix Machine</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92" name="Google Shape;192;p34"/>
          <p:cNvSpPr txBox="1"/>
          <p:nvPr>
            <p:ph idx="4294967295" type="title"/>
          </p:nvPr>
        </p:nvSpPr>
        <p:spPr>
          <a:xfrm>
            <a:off x="322200" y="924625"/>
            <a:ext cx="8499600" cy="40599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 sz="2800">
                <a:latin typeface="Lato"/>
                <a:ea typeface="Lato"/>
                <a:cs typeface="Lato"/>
                <a:sym typeface="Lato"/>
              </a:rPr>
              <a:t>Install:</a:t>
            </a:r>
            <a:endParaRPr sz="2800">
              <a:latin typeface="Lato"/>
              <a:ea typeface="Lato"/>
              <a:cs typeface="Lato"/>
              <a:sym typeface="Lato"/>
            </a:endParaRPr>
          </a:p>
          <a:p>
            <a:pPr indent="0" lvl="0" marL="0" rtl="0" algn="l">
              <a:lnSpc>
                <a:spcPct val="115000"/>
              </a:lnSpc>
              <a:spcBef>
                <a:spcPts val="1300"/>
              </a:spcBef>
              <a:spcAft>
                <a:spcPts val="0"/>
              </a:spcAft>
              <a:buNone/>
            </a:pPr>
            <a:r>
              <a:rPr lang="en" sz="2800">
                <a:latin typeface="Lato"/>
                <a:ea typeface="Lato"/>
                <a:cs typeface="Lato"/>
                <a:sym typeface="Lato"/>
              </a:rPr>
              <a:t>CMake</a:t>
            </a:r>
            <a:br>
              <a:rPr lang="en" sz="2800">
                <a:latin typeface="Lato"/>
                <a:ea typeface="Lato"/>
                <a:cs typeface="Lato"/>
                <a:sym typeface="Lato"/>
              </a:rPr>
            </a:br>
            <a:r>
              <a:rPr lang="en" sz="2800">
                <a:latin typeface="Lato"/>
                <a:ea typeface="Lato"/>
                <a:cs typeface="Lato"/>
                <a:sym typeface="Lato"/>
              </a:rPr>
              <a:t>GCC ARM Toolchain</a:t>
            </a:r>
            <a:br>
              <a:rPr lang="en" sz="2800">
                <a:latin typeface="Lato"/>
                <a:ea typeface="Lato"/>
                <a:cs typeface="Lato"/>
                <a:sym typeface="Lato"/>
              </a:rPr>
            </a:br>
            <a:r>
              <a:rPr lang="en" sz="2800">
                <a:latin typeface="Lato"/>
                <a:ea typeface="Lato"/>
                <a:cs typeface="Lato"/>
                <a:sym typeface="Lato"/>
              </a:rPr>
              <a:t>Visual Studio Code integration</a:t>
            </a:r>
            <a:br>
              <a:rPr lang="en" sz="2800">
                <a:latin typeface="Lato"/>
                <a:ea typeface="Lato"/>
                <a:cs typeface="Lato"/>
                <a:sym typeface="Lato"/>
              </a:rPr>
            </a:br>
            <a:r>
              <a:rPr lang="en" sz="2800">
                <a:latin typeface="Lato"/>
                <a:ea typeface="Lato"/>
                <a:cs typeface="Lato"/>
                <a:sym typeface="Lato"/>
              </a:rPr>
              <a:t>Pico SDK</a:t>
            </a:r>
            <a:endParaRPr sz="2800">
              <a:latin typeface="Lato"/>
              <a:ea typeface="Lato"/>
              <a:cs typeface="Lato"/>
              <a:sym typeface="Lato"/>
            </a:endParaRPr>
          </a:p>
          <a:p>
            <a:pPr indent="0" lvl="0" marL="0" rtl="0" algn="l">
              <a:lnSpc>
                <a:spcPct val="115000"/>
              </a:lnSpc>
              <a:spcBef>
                <a:spcPts val="1300"/>
              </a:spcBef>
              <a:spcAft>
                <a:spcPts val="1300"/>
              </a:spcAft>
              <a:buNone/>
            </a:pPr>
            <a:r>
              <a:t/>
            </a:r>
            <a:endParaRPr sz="2800">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196" name="Shape 196"/>
        <p:cNvGrpSpPr/>
        <p:nvPr/>
      </p:nvGrpSpPr>
      <p:grpSpPr>
        <a:xfrm>
          <a:off x="0" y="0"/>
          <a:ext cx="0" cy="0"/>
          <a:chOff x="0" y="0"/>
          <a:chExt cx="0" cy="0"/>
        </a:xfrm>
      </p:grpSpPr>
      <p:sp>
        <p:nvSpPr>
          <p:cNvPr id="197" name="Google Shape;197;p35"/>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Getting Started on your Unix Machine</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198" name="Google Shape;198;p35"/>
          <p:cNvSpPr txBox="1"/>
          <p:nvPr>
            <p:ph idx="4294967295" type="title"/>
          </p:nvPr>
        </p:nvSpPr>
        <p:spPr>
          <a:xfrm>
            <a:off x="322200" y="924625"/>
            <a:ext cx="8499600" cy="40599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t/>
            </a:r>
            <a:endParaRPr sz="2800">
              <a:latin typeface="Lato"/>
              <a:ea typeface="Lato"/>
              <a:cs typeface="Lato"/>
              <a:sym typeface="Lato"/>
            </a:endParaRPr>
          </a:p>
          <a:p>
            <a:pPr indent="0" lvl="0" marL="0" rtl="0" algn="l">
              <a:lnSpc>
                <a:spcPct val="115000"/>
              </a:lnSpc>
              <a:spcBef>
                <a:spcPts val="1300"/>
              </a:spcBef>
              <a:spcAft>
                <a:spcPts val="0"/>
              </a:spcAft>
              <a:buNone/>
            </a:pPr>
            <a:r>
              <a:rPr lang="en" sz="2800">
                <a:latin typeface="Lato"/>
                <a:ea typeface="Lato"/>
                <a:cs typeface="Lato"/>
                <a:sym typeface="Lato"/>
              </a:rPr>
              <a:t>sudo apt install cmake python3 build-essential gcc-arm-none-eabi libnewlib-arm-none-eabi libstdc++-arm-none-eabi-newlib</a:t>
            </a:r>
            <a:endParaRPr sz="2800">
              <a:latin typeface="Lato"/>
              <a:ea typeface="Lato"/>
              <a:cs typeface="Lato"/>
              <a:sym typeface="Lato"/>
            </a:endParaRPr>
          </a:p>
          <a:p>
            <a:pPr indent="0" lvl="0" marL="0" rtl="0" algn="l">
              <a:lnSpc>
                <a:spcPct val="115000"/>
              </a:lnSpc>
              <a:spcBef>
                <a:spcPts val="1300"/>
              </a:spcBef>
              <a:spcAft>
                <a:spcPts val="1300"/>
              </a:spcAft>
              <a:buNone/>
            </a:pPr>
            <a:r>
              <a:t/>
            </a:r>
            <a:endParaRPr sz="2800">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02" name="Shape 202"/>
        <p:cNvGrpSpPr/>
        <p:nvPr/>
      </p:nvGrpSpPr>
      <p:grpSpPr>
        <a:xfrm>
          <a:off x="0" y="0"/>
          <a:ext cx="0" cy="0"/>
          <a:chOff x="0" y="0"/>
          <a:chExt cx="0" cy="0"/>
        </a:xfrm>
      </p:grpSpPr>
      <p:sp>
        <p:nvSpPr>
          <p:cNvPr id="203" name="Google Shape;203;p36"/>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Prepare your Pico SDK</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204" name="Google Shape;204;p36"/>
          <p:cNvSpPr txBox="1"/>
          <p:nvPr>
            <p:ph idx="4294967295" type="title"/>
          </p:nvPr>
        </p:nvSpPr>
        <p:spPr>
          <a:xfrm>
            <a:off x="322200" y="924625"/>
            <a:ext cx="8499600" cy="3958800"/>
          </a:xfrm>
          <a:prstGeom prst="rect">
            <a:avLst/>
          </a:prstGeom>
        </p:spPr>
        <p:txBody>
          <a:bodyPr anchorCtr="0" anchor="t" bIns="91425" lIns="91425" spcFirstLastPara="1" rIns="91425" wrap="square" tIns="91425">
            <a:noAutofit/>
          </a:bodyPr>
          <a:lstStyle/>
          <a:p>
            <a:pPr indent="-406400" lvl="0" marL="457200" rtl="0" algn="l">
              <a:lnSpc>
                <a:spcPct val="115000"/>
              </a:lnSpc>
              <a:spcBef>
                <a:spcPts val="1300"/>
              </a:spcBef>
              <a:spcAft>
                <a:spcPts val="0"/>
              </a:spcAft>
              <a:buSzPts val="2800"/>
              <a:buFont typeface="Lato"/>
              <a:buChar char="●"/>
            </a:pPr>
            <a:r>
              <a:rPr lang="en" sz="2800">
                <a:latin typeface="Lato"/>
                <a:ea typeface="Lato"/>
                <a:cs typeface="Lato"/>
                <a:sym typeface="Lato"/>
              </a:rPr>
              <a:t>Create a directory called “Pico”</a:t>
            </a:r>
            <a:br>
              <a:rPr lang="en" sz="2800">
                <a:latin typeface="Lato"/>
                <a:ea typeface="Lato"/>
                <a:cs typeface="Lato"/>
                <a:sym typeface="Lato"/>
              </a:rPr>
            </a:br>
            <a:r>
              <a:rPr lang="en" sz="2800">
                <a:latin typeface="Lato"/>
                <a:ea typeface="Lato"/>
                <a:cs typeface="Lato"/>
                <a:sym typeface="Lato"/>
              </a:rPr>
              <a:t>“mkdir pico”</a:t>
            </a:r>
            <a:br>
              <a:rPr lang="en" sz="2800">
                <a:latin typeface="Lato"/>
                <a:ea typeface="Lato"/>
                <a:cs typeface="Lato"/>
                <a:sym typeface="Lato"/>
              </a:rPr>
            </a:br>
            <a:r>
              <a:rPr lang="en" sz="2800">
                <a:latin typeface="Lato"/>
                <a:ea typeface="Lato"/>
                <a:cs typeface="Lato"/>
                <a:sym typeface="Lato"/>
              </a:rPr>
              <a:t>/home/</a:t>
            </a:r>
            <a:r>
              <a:rPr lang="en" sz="2800">
                <a:latin typeface="Lato"/>
                <a:ea typeface="Lato"/>
                <a:cs typeface="Lato"/>
                <a:sym typeface="Lato"/>
              </a:rPr>
              <a:t>dencomac</a:t>
            </a:r>
            <a:r>
              <a:rPr lang="en" sz="2800">
                <a:latin typeface="Lato"/>
                <a:ea typeface="Lato"/>
                <a:cs typeface="Lato"/>
                <a:sym typeface="Lato"/>
              </a:rPr>
              <a:t>/pico/</a:t>
            </a:r>
            <a:endParaRPr sz="2800">
              <a:latin typeface="Lato"/>
              <a:ea typeface="Lato"/>
              <a:cs typeface="Lato"/>
              <a:sym typeface="Lato"/>
            </a:endParaRPr>
          </a:p>
          <a:p>
            <a:pPr indent="-406400" lvl="0" marL="457200" rtl="0" algn="l">
              <a:lnSpc>
                <a:spcPct val="115000"/>
              </a:lnSpc>
              <a:spcBef>
                <a:spcPts val="0"/>
              </a:spcBef>
              <a:spcAft>
                <a:spcPts val="0"/>
              </a:spcAft>
              <a:buSzPts val="2800"/>
              <a:buFont typeface="Lato"/>
              <a:buChar char="●"/>
            </a:pPr>
            <a:r>
              <a:rPr lang="en" sz="2800">
                <a:latin typeface="Lato"/>
                <a:ea typeface="Lato"/>
                <a:cs typeface="Lato"/>
                <a:sym typeface="Lato"/>
              </a:rPr>
              <a:t>Move your pico sdk into it the folder</a:t>
            </a:r>
            <a:endParaRPr sz="2800">
              <a:latin typeface="Lato"/>
              <a:ea typeface="Lato"/>
              <a:cs typeface="Lato"/>
              <a:sym typeface="Lato"/>
            </a:endParaRPr>
          </a:p>
          <a:p>
            <a:pPr indent="-406400" lvl="0" marL="457200" rtl="0" algn="l">
              <a:lnSpc>
                <a:spcPct val="115000"/>
              </a:lnSpc>
              <a:spcBef>
                <a:spcPts val="0"/>
              </a:spcBef>
              <a:spcAft>
                <a:spcPts val="0"/>
              </a:spcAft>
              <a:buSzPts val="2800"/>
              <a:buFont typeface="Lato"/>
              <a:buChar char="●"/>
            </a:pPr>
            <a:r>
              <a:rPr lang="en" sz="2800">
                <a:latin typeface="Lato"/>
                <a:ea typeface="Lato"/>
                <a:cs typeface="Lato"/>
                <a:sym typeface="Lato"/>
              </a:rPr>
              <a:t>Create another directory where your projects will reside “mkdir myprojects”</a:t>
            </a:r>
            <a:endParaRPr sz="2800">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08" name="Shape 208"/>
        <p:cNvGrpSpPr/>
        <p:nvPr/>
      </p:nvGrpSpPr>
      <p:grpSpPr>
        <a:xfrm>
          <a:off x="0" y="0"/>
          <a:ext cx="0" cy="0"/>
          <a:chOff x="0" y="0"/>
          <a:chExt cx="0" cy="0"/>
        </a:xfrm>
      </p:grpSpPr>
      <p:sp>
        <p:nvSpPr>
          <p:cNvPr id="209" name="Google Shape;209;p37"/>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Directory Structure</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210" name="Google Shape;210;p37"/>
          <p:cNvSpPr txBox="1"/>
          <p:nvPr>
            <p:ph idx="4294967295" type="title"/>
          </p:nvPr>
        </p:nvSpPr>
        <p:spPr>
          <a:xfrm>
            <a:off x="322200" y="924625"/>
            <a:ext cx="8499600" cy="3958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 sz="2800">
                <a:latin typeface="Lato"/>
                <a:ea typeface="Lato"/>
                <a:cs typeface="Lato"/>
                <a:sym typeface="Lato"/>
              </a:rPr>
              <a:t>Inside pico directory:</a:t>
            </a:r>
            <a:br>
              <a:rPr lang="en" sz="2800">
                <a:latin typeface="Lato"/>
                <a:ea typeface="Lato"/>
                <a:cs typeface="Lato"/>
                <a:sym typeface="Lato"/>
              </a:rPr>
            </a:br>
            <a:r>
              <a:rPr lang="en" sz="2800" u="sng">
                <a:latin typeface="Lato"/>
                <a:ea typeface="Lato"/>
                <a:cs typeface="Lato"/>
                <a:sym typeface="Lato"/>
              </a:rPr>
              <a:t>/home/dencomac/pico/</a:t>
            </a:r>
            <a:endParaRPr sz="2800" u="sng">
              <a:latin typeface="Lato"/>
              <a:ea typeface="Lato"/>
              <a:cs typeface="Lato"/>
              <a:sym typeface="Lato"/>
            </a:endParaRPr>
          </a:p>
          <a:p>
            <a:pPr indent="0" lvl="0" marL="0" rtl="0" algn="l">
              <a:lnSpc>
                <a:spcPct val="115000"/>
              </a:lnSpc>
              <a:spcBef>
                <a:spcPts val="1300"/>
              </a:spcBef>
              <a:spcAft>
                <a:spcPts val="0"/>
              </a:spcAft>
              <a:buNone/>
            </a:pPr>
            <a:r>
              <a:rPr lang="en" sz="2800">
                <a:latin typeface="Lato"/>
                <a:ea typeface="Lato"/>
                <a:cs typeface="Lato"/>
                <a:sym typeface="Lato"/>
              </a:rPr>
              <a:t>_________ pico-sdk/        the SDK (shared by all projects)</a:t>
            </a:r>
            <a:endParaRPr sz="2800">
              <a:latin typeface="Lato"/>
              <a:ea typeface="Lato"/>
              <a:cs typeface="Lato"/>
              <a:sym typeface="Lato"/>
            </a:endParaRPr>
          </a:p>
          <a:p>
            <a:pPr indent="0" lvl="0" marL="0" rtl="0" algn="l">
              <a:lnSpc>
                <a:spcPct val="115000"/>
              </a:lnSpc>
              <a:spcBef>
                <a:spcPts val="1300"/>
              </a:spcBef>
              <a:spcAft>
                <a:spcPts val="0"/>
              </a:spcAft>
              <a:buNone/>
            </a:pPr>
            <a:r>
              <a:rPr lang="en" sz="2800">
                <a:latin typeface="Lato"/>
                <a:ea typeface="Lato"/>
                <a:cs typeface="Lato"/>
                <a:sym typeface="Lato"/>
              </a:rPr>
              <a:t>_________ </a:t>
            </a:r>
            <a:r>
              <a:rPr lang="en" sz="2800">
                <a:latin typeface="Lato"/>
                <a:ea typeface="Lato"/>
                <a:cs typeface="Lato"/>
                <a:sym typeface="Lato"/>
              </a:rPr>
              <a:t>myprojects/</a:t>
            </a:r>
            <a:endParaRPr sz="2800">
              <a:latin typeface="Lato"/>
              <a:ea typeface="Lato"/>
              <a:cs typeface="Lato"/>
              <a:sym typeface="Lato"/>
            </a:endParaRPr>
          </a:p>
          <a:p>
            <a:pPr indent="0" lvl="0" marL="0" rtl="0" algn="l">
              <a:lnSpc>
                <a:spcPct val="115000"/>
              </a:lnSpc>
              <a:spcBef>
                <a:spcPts val="1300"/>
              </a:spcBef>
              <a:spcAft>
                <a:spcPts val="0"/>
              </a:spcAft>
              <a:buNone/>
            </a:pPr>
            <a:r>
              <a:rPr lang="en" sz="2800">
                <a:latin typeface="Lato"/>
                <a:ea typeface="Lato"/>
                <a:cs typeface="Lato"/>
                <a:sym typeface="Lato"/>
              </a:rPr>
              <a:t>			|__________ blink_simple/</a:t>
            </a:r>
            <a:endParaRPr sz="2800">
              <a:latin typeface="Lato"/>
              <a:ea typeface="Lato"/>
              <a:cs typeface="Lato"/>
              <a:sym typeface="Lato"/>
            </a:endParaRPr>
          </a:p>
          <a:p>
            <a:pPr indent="0" lvl="0" marL="0" rtl="0" algn="l">
              <a:lnSpc>
                <a:spcPct val="115000"/>
              </a:lnSpc>
              <a:spcBef>
                <a:spcPts val="1300"/>
              </a:spcBef>
              <a:spcAft>
                <a:spcPts val="1300"/>
              </a:spcAft>
              <a:buNone/>
            </a:pPr>
            <a:r>
              <a:rPr lang="en" sz="2800">
                <a:latin typeface="Lato"/>
                <a:ea typeface="Lato"/>
                <a:cs typeface="Lato"/>
                <a:sym typeface="Lato"/>
              </a:rPr>
              <a:t>							|___________</a:t>
            </a:r>
            <a:r>
              <a:rPr lang="en" sz="1400">
                <a:latin typeface="Lato"/>
                <a:ea typeface="Lato"/>
                <a:cs typeface="Lato"/>
                <a:sym typeface="Lato"/>
              </a:rPr>
              <a:t>CMakeLists.txt, blink_simple.cpp, </a:t>
            </a:r>
            <a:r>
              <a:rPr lang="en" sz="2400">
                <a:latin typeface="Lato"/>
                <a:ea typeface="Lato"/>
                <a:cs typeface="Lato"/>
                <a:sym typeface="Lato"/>
              </a:rPr>
              <a:t>build/</a:t>
            </a:r>
            <a:endParaRPr sz="2400">
              <a:latin typeface="Lato"/>
              <a:ea typeface="Lato"/>
              <a:cs typeface="Lato"/>
              <a:sym typeface="Lato"/>
            </a:endParaRPr>
          </a:p>
        </p:txBody>
      </p:sp>
      <p:cxnSp>
        <p:nvCxnSpPr>
          <p:cNvPr id="211" name="Google Shape;211;p37"/>
          <p:cNvCxnSpPr/>
          <p:nvPr/>
        </p:nvCxnSpPr>
        <p:spPr>
          <a:xfrm>
            <a:off x="433450" y="2109425"/>
            <a:ext cx="28800" cy="4767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15" name="Shape 215"/>
        <p:cNvGrpSpPr/>
        <p:nvPr/>
      </p:nvGrpSpPr>
      <p:grpSpPr>
        <a:xfrm>
          <a:off x="0" y="0"/>
          <a:ext cx="0" cy="0"/>
          <a:chOff x="0" y="0"/>
          <a:chExt cx="0" cy="0"/>
        </a:xfrm>
      </p:grpSpPr>
      <p:sp>
        <p:nvSpPr>
          <p:cNvPr id="216" name="Google Shape;216;p38"/>
          <p:cNvSpPr txBox="1"/>
          <p:nvPr>
            <p:ph idx="4294967295" type="title"/>
          </p:nvPr>
        </p:nvSpPr>
        <p:spPr>
          <a:xfrm>
            <a:off x="1363125" y="-187150"/>
            <a:ext cx="6234000" cy="1007100"/>
          </a:xfrm>
          <a:prstGeom prst="rect">
            <a:avLst/>
          </a:prstGeom>
        </p:spPr>
        <p:txBody>
          <a:bodyPr anchorCtr="0" anchor="t" bIns="91425" lIns="91425" spcFirstLastPara="1" rIns="91425" wrap="square" tIns="91425">
            <a:noAutofit/>
          </a:bodyPr>
          <a:lstStyle/>
          <a:p>
            <a:pPr indent="0" lvl="0" marL="0" rtl="0" algn="ctr">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What CMake Actually Is</a:t>
            </a:r>
            <a:endParaRPr sz="3700">
              <a:latin typeface="Arial"/>
              <a:ea typeface="Arial"/>
              <a:cs typeface="Arial"/>
              <a:sym typeface="Arial"/>
            </a:endParaRPr>
          </a:p>
          <a:p>
            <a:pPr indent="0" lvl="0" marL="0" rtl="0" algn="ctr">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ctr">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ctr">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217" name="Google Shape;217;p38"/>
          <p:cNvSpPr txBox="1"/>
          <p:nvPr>
            <p:ph idx="4294967295" type="title"/>
          </p:nvPr>
        </p:nvSpPr>
        <p:spPr>
          <a:xfrm>
            <a:off x="227475" y="731500"/>
            <a:ext cx="8643900" cy="42477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Clr>
                <a:schemeClr val="dk2"/>
              </a:buClr>
              <a:buSzPts val="1100"/>
              <a:buFont typeface="Arial"/>
              <a:buNone/>
            </a:pPr>
            <a:r>
              <a:rPr lang="en" sz="2000">
                <a:latin typeface="Lato"/>
                <a:ea typeface="Lato"/>
                <a:cs typeface="Lato"/>
                <a:sym typeface="Lato"/>
              </a:rPr>
              <a:t>CMake is </a:t>
            </a:r>
            <a:r>
              <a:rPr i="1" lang="en" sz="2000">
                <a:latin typeface="Lato"/>
                <a:ea typeface="Lato"/>
                <a:cs typeface="Lato"/>
                <a:sym typeface="Lato"/>
              </a:rPr>
              <a:t>not</a:t>
            </a:r>
            <a:r>
              <a:rPr lang="en" sz="2000">
                <a:latin typeface="Lato"/>
                <a:ea typeface="Lato"/>
                <a:cs typeface="Lato"/>
                <a:sym typeface="Lato"/>
              </a:rPr>
              <a:t> a compiler.</a:t>
            </a:r>
            <a:br>
              <a:rPr lang="en" sz="2000">
                <a:latin typeface="Lato"/>
                <a:ea typeface="Lato"/>
                <a:cs typeface="Lato"/>
                <a:sym typeface="Lato"/>
              </a:rPr>
            </a:br>
            <a:r>
              <a:rPr lang="en" sz="2000">
                <a:latin typeface="Lato"/>
                <a:ea typeface="Lato"/>
                <a:cs typeface="Lato"/>
                <a:sym typeface="Lato"/>
              </a:rPr>
              <a:t> It’s a build system generator — it creates all the files and commands needed to compile your project using your chosen compiler and tools (in this case, the ARM GCC toolchain for the RP2040).</a:t>
            </a:r>
            <a:endParaRPr sz="2000">
              <a:latin typeface="Lato"/>
              <a:ea typeface="Lato"/>
              <a:cs typeface="Lato"/>
              <a:sym typeface="Lato"/>
            </a:endParaRPr>
          </a:p>
          <a:p>
            <a:pPr indent="0" lvl="0" marL="0" rtl="0" algn="l">
              <a:lnSpc>
                <a:spcPct val="115000"/>
              </a:lnSpc>
              <a:spcBef>
                <a:spcPts val="1300"/>
              </a:spcBef>
              <a:spcAft>
                <a:spcPts val="0"/>
              </a:spcAft>
              <a:buNone/>
            </a:pPr>
            <a:r>
              <a:rPr lang="en" sz="2000">
                <a:latin typeface="Lato"/>
                <a:ea typeface="Lato"/>
                <a:cs typeface="Lato"/>
                <a:sym typeface="Lato"/>
              </a:rPr>
              <a:t>So instead of writing a massive Makefile by hand, you write a short CMakeLists.txt file, and CMake:</a:t>
            </a:r>
            <a:endParaRPr sz="2000">
              <a:latin typeface="Lato"/>
              <a:ea typeface="Lato"/>
              <a:cs typeface="Lato"/>
              <a:sym typeface="Lato"/>
            </a:endParaRPr>
          </a:p>
          <a:p>
            <a:pPr indent="0" lvl="0" marL="0" rtl="0" algn="l">
              <a:lnSpc>
                <a:spcPct val="115000"/>
              </a:lnSpc>
              <a:spcBef>
                <a:spcPts val="1300"/>
              </a:spcBef>
              <a:spcAft>
                <a:spcPts val="0"/>
              </a:spcAft>
              <a:buNone/>
            </a:pPr>
            <a:r>
              <a:rPr lang="en" sz="1900">
                <a:latin typeface="Lato"/>
                <a:ea typeface="Lato"/>
                <a:cs typeface="Lato"/>
                <a:sym typeface="Lato"/>
              </a:rPr>
              <a:t>Reads it</a:t>
            </a:r>
            <a:br>
              <a:rPr lang="en" sz="1900">
                <a:latin typeface="Lato"/>
                <a:ea typeface="Lato"/>
                <a:cs typeface="Lato"/>
                <a:sym typeface="Lato"/>
              </a:rPr>
            </a:br>
            <a:r>
              <a:rPr lang="en" sz="1900">
                <a:latin typeface="Lato"/>
                <a:ea typeface="Lato"/>
                <a:cs typeface="Lato"/>
                <a:sym typeface="Lato"/>
              </a:rPr>
              <a:t>Pulls in all dependencies from the Pico SDK</a:t>
            </a:r>
            <a:endParaRPr sz="1900">
              <a:latin typeface="Lato"/>
              <a:ea typeface="Lato"/>
              <a:cs typeface="Lato"/>
              <a:sym typeface="Lato"/>
            </a:endParaRPr>
          </a:p>
          <a:p>
            <a:pPr indent="0" lvl="0" marL="0" rtl="0" algn="l">
              <a:lnSpc>
                <a:spcPct val="115000"/>
              </a:lnSpc>
              <a:spcBef>
                <a:spcPts val="1300"/>
              </a:spcBef>
              <a:spcAft>
                <a:spcPts val="0"/>
              </a:spcAft>
              <a:buNone/>
            </a:pPr>
            <a:r>
              <a:rPr lang="en" sz="1900">
                <a:latin typeface="Lato"/>
                <a:ea typeface="Lato"/>
                <a:cs typeface="Lato"/>
                <a:sym typeface="Lato"/>
              </a:rPr>
              <a:t>Sets up the cross-compilation for the RP2040 (ARM Cortex-M0+)</a:t>
            </a:r>
            <a:endParaRPr sz="1900">
              <a:latin typeface="Lato"/>
              <a:ea typeface="Lato"/>
              <a:cs typeface="Lato"/>
              <a:sym typeface="Lato"/>
            </a:endParaRPr>
          </a:p>
          <a:p>
            <a:pPr indent="0" lvl="0" marL="0" rtl="0" algn="l">
              <a:lnSpc>
                <a:spcPct val="115000"/>
              </a:lnSpc>
              <a:spcBef>
                <a:spcPts val="1300"/>
              </a:spcBef>
              <a:spcAft>
                <a:spcPts val="1300"/>
              </a:spcAft>
              <a:buNone/>
            </a:pPr>
            <a:r>
              <a:rPr lang="en" sz="1900">
                <a:latin typeface="Lato"/>
                <a:ea typeface="Lato"/>
                <a:cs typeface="Lato"/>
                <a:sym typeface="Lato"/>
              </a:rPr>
              <a:t>Generates the proper Makefiles that can build .elf, .bin, and .uf2 files.</a:t>
            </a:r>
            <a:endParaRPr sz="2700">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21" name="Shape 221"/>
        <p:cNvGrpSpPr/>
        <p:nvPr/>
      </p:nvGrpSpPr>
      <p:grpSpPr>
        <a:xfrm>
          <a:off x="0" y="0"/>
          <a:ext cx="0" cy="0"/>
          <a:chOff x="0" y="0"/>
          <a:chExt cx="0" cy="0"/>
        </a:xfrm>
      </p:grpSpPr>
      <p:sp>
        <p:nvSpPr>
          <p:cNvPr id="222" name="Google Shape;222;p39"/>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2"/>
              </a:buClr>
              <a:buSzPts val="1100"/>
              <a:buFont typeface="Arial"/>
              <a:buNone/>
            </a:pPr>
            <a:r>
              <a:rPr lang="en" sz="3700">
                <a:latin typeface="Arial"/>
                <a:ea typeface="Arial"/>
                <a:cs typeface="Arial"/>
                <a:sym typeface="Arial"/>
              </a:rPr>
              <a:t>Build your CMAKE Project</a:t>
            </a:r>
            <a:endParaRPr sz="3700">
              <a:latin typeface="Arial"/>
              <a:ea typeface="Arial"/>
              <a:cs typeface="Arial"/>
              <a:sym typeface="Arial"/>
            </a:endParaRPr>
          </a:p>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223" name="Google Shape;223;p39"/>
          <p:cNvSpPr txBox="1"/>
          <p:nvPr>
            <p:ph idx="4294967295" type="title"/>
          </p:nvPr>
        </p:nvSpPr>
        <p:spPr>
          <a:xfrm>
            <a:off x="322200" y="1097975"/>
            <a:ext cx="8499600" cy="38145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 sz="2800">
                <a:latin typeface="Lato"/>
                <a:ea typeface="Lato"/>
                <a:cs typeface="Lato"/>
                <a:sym typeface="Lato"/>
              </a:rPr>
              <a:t>Run this commands in the /build directory</a:t>
            </a:r>
            <a:endParaRPr sz="2800">
              <a:latin typeface="Lato"/>
              <a:ea typeface="Lato"/>
              <a:cs typeface="Lato"/>
              <a:sym typeface="Lato"/>
            </a:endParaRPr>
          </a:p>
          <a:p>
            <a:pPr indent="-406400" lvl="0" marL="457200" rtl="0" algn="l">
              <a:lnSpc>
                <a:spcPct val="115000"/>
              </a:lnSpc>
              <a:spcBef>
                <a:spcPts val="1300"/>
              </a:spcBef>
              <a:spcAft>
                <a:spcPts val="0"/>
              </a:spcAft>
              <a:buSzPts val="2800"/>
              <a:buFont typeface="Lato"/>
              <a:buChar char="●"/>
            </a:pPr>
            <a:r>
              <a:rPr lang="en" sz="2800">
                <a:latin typeface="Lato"/>
                <a:ea typeface="Lato"/>
                <a:cs typeface="Lato"/>
                <a:sym typeface="Lato"/>
              </a:rPr>
              <a:t>cmake .. -DPICO_SDK_PATH=/home/dencomac/pico/pico-sdk -DCMAKE_EXPORT_COMPILE_COMMANDS=ON</a:t>
            </a:r>
            <a:endParaRPr sz="2800">
              <a:latin typeface="Lato"/>
              <a:ea typeface="Lato"/>
              <a:cs typeface="Lato"/>
              <a:sym typeface="Lato"/>
            </a:endParaRPr>
          </a:p>
          <a:p>
            <a:pPr indent="-406400" lvl="0" marL="457200" rtl="0" algn="l">
              <a:lnSpc>
                <a:spcPct val="115000"/>
              </a:lnSpc>
              <a:spcBef>
                <a:spcPts val="0"/>
              </a:spcBef>
              <a:spcAft>
                <a:spcPts val="0"/>
              </a:spcAft>
              <a:buSzPts val="2800"/>
              <a:buFont typeface="Lato"/>
              <a:buChar char="●"/>
            </a:pPr>
            <a:r>
              <a:rPr lang="en" sz="2800">
                <a:latin typeface="Lato"/>
                <a:ea typeface="Lato"/>
                <a:cs typeface="Lato"/>
                <a:sym typeface="Lato"/>
              </a:rPr>
              <a:t>make -j4  (for faster compilation)</a:t>
            </a:r>
            <a:endParaRPr sz="2800">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27" name="Shape 227"/>
        <p:cNvGrpSpPr/>
        <p:nvPr/>
      </p:nvGrpSpPr>
      <p:grpSpPr>
        <a:xfrm>
          <a:off x="0" y="0"/>
          <a:ext cx="0" cy="0"/>
          <a:chOff x="0" y="0"/>
          <a:chExt cx="0" cy="0"/>
        </a:xfrm>
      </p:grpSpPr>
      <p:sp>
        <p:nvSpPr>
          <p:cNvPr id="228" name="Google Shape;228;p40"/>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2"/>
              </a:buClr>
              <a:buSzPts val="1100"/>
              <a:buFont typeface="Arial"/>
              <a:buNone/>
            </a:pPr>
            <a:r>
              <a:t/>
            </a:r>
            <a:endParaRPr sz="4000">
              <a:latin typeface="Arial"/>
              <a:ea typeface="Arial"/>
              <a:cs typeface="Arial"/>
              <a:sym typeface="Arial"/>
            </a:endParaRPr>
          </a:p>
          <a:p>
            <a:pPr indent="0" lvl="0" marL="0" rtl="0" algn="l">
              <a:lnSpc>
                <a:spcPct val="115000"/>
              </a:lnSpc>
              <a:spcBef>
                <a:spcPts val="2400"/>
              </a:spcBef>
              <a:spcAft>
                <a:spcPts val="0"/>
              </a:spcAft>
              <a:buClr>
                <a:schemeClr val="dk2"/>
              </a:buClr>
              <a:buSzPts val="1100"/>
              <a:buFont typeface="Arial"/>
              <a:buNone/>
            </a:pPr>
            <a:r>
              <a:t/>
            </a:r>
            <a:endParaRPr sz="3800">
              <a:latin typeface="Arial"/>
              <a:ea typeface="Arial"/>
              <a:cs typeface="Arial"/>
              <a:sym typeface="Arial"/>
            </a:endParaRPr>
          </a:p>
          <a:p>
            <a:pPr indent="0" lvl="0" marL="0" rtl="0" algn="l">
              <a:lnSpc>
                <a:spcPct val="115000"/>
              </a:lnSpc>
              <a:spcBef>
                <a:spcPts val="600"/>
              </a:spcBef>
              <a:spcAft>
                <a:spcPts val="1600"/>
              </a:spcAft>
              <a:buClr>
                <a:schemeClr val="dk2"/>
              </a:buClr>
              <a:buSzPts val="1100"/>
              <a:buFont typeface="Arial"/>
              <a:buNone/>
            </a:pPr>
            <a:r>
              <a:t/>
            </a:r>
            <a:endParaRPr sz="3200">
              <a:latin typeface="Lato"/>
              <a:ea typeface="Lato"/>
              <a:cs typeface="Lato"/>
              <a:sym typeface="Lato"/>
            </a:endParaRPr>
          </a:p>
        </p:txBody>
      </p:sp>
      <p:sp>
        <p:nvSpPr>
          <p:cNvPr id="229" name="Google Shape;229;p40"/>
          <p:cNvSpPr txBox="1"/>
          <p:nvPr>
            <p:ph idx="4294967295" type="title"/>
          </p:nvPr>
        </p:nvSpPr>
        <p:spPr>
          <a:xfrm>
            <a:off x="322200" y="924625"/>
            <a:ext cx="8499600" cy="3958800"/>
          </a:xfrm>
          <a:prstGeom prst="rect">
            <a:avLst/>
          </a:prstGeom>
        </p:spPr>
        <p:txBody>
          <a:bodyPr anchorCtr="0" anchor="t" bIns="91425" lIns="91425" spcFirstLastPara="1" rIns="91425" wrap="square" tIns="91425">
            <a:noAutofit/>
          </a:bodyPr>
          <a:lstStyle/>
          <a:p>
            <a:pPr indent="0" lvl="0" marL="0" rtl="0" algn="l">
              <a:lnSpc>
                <a:spcPct val="115000"/>
              </a:lnSpc>
              <a:spcBef>
                <a:spcPts val="1300"/>
              </a:spcBef>
              <a:spcAft>
                <a:spcPts val="0"/>
              </a:spcAft>
              <a:buNone/>
            </a:pPr>
            <a:r>
              <a:rPr lang="en" sz="2800">
                <a:latin typeface="Lato"/>
                <a:ea typeface="Lato"/>
                <a:cs typeface="Lato"/>
                <a:sym typeface="Lato"/>
              </a:rPr>
              <a:t>-DCMAKE_EXPORT_COMPILE_COMMANDS=ON is an optional CMake flag that tells CMake to generate a file called: compile_commands.json</a:t>
            </a:r>
            <a:endParaRPr sz="2800">
              <a:latin typeface="Lato"/>
              <a:ea typeface="Lato"/>
              <a:cs typeface="Lato"/>
              <a:sym typeface="Lato"/>
            </a:endParaRPr>
          </a:p>
          <a:p>
            <a:pPr indent="0" lvl="0" marL="0" rtl="0" algn="l">
              <a:lnSpc>
                <a:spcPct val="115000"/>
              </a:lnSpc>
              <a:spcBef>
                <a:spcPts val="1300"/>
              </a:spcBef>
              <a:spcAft>
                <a:spcPts val="0"/>
              </a:spcAft>
              <a:buClr>
                <a:schemeClr val="dk2"/>
              </a:buClr>
              <a:buSzPts val="1100"/>
              <a:buFont typeface="Arial"/>
              <a:buNone/>
            </a:pPr>
            <a:r>
              <a:t/>
            </a:r>
            <a:endParaRPr sz="2800">
              <a:latin typeface="Lato"/>
              <a:ea typeface="Lato"/>
              <a:cs typeface="Lato"/>
              <a:sym typeface="Lato"/>
            </a:endParaRPr>
          </a:p>
          <a:p>
            <a:pPr indent="0" lvl="0" marL="0" rtl="0" algn="l">
              <a:lnSpc>
                <a:spcPct val="115000"/>
              </a:lnSpc>
              <a:spcBef>
                <a:spcPts val="1300"/>
              </a:spcBef>
              <a:spcAft>
                <a:spcPts val="0"/>
              </a:spcAft>
              <a:buClr>
                <a:schemeClr val="dk2"/>
              </a:buClr>
              <a:buSzPts val="1100"/>
              <a:buFont typeface="Arial"/>
              <a:buNone/>
            </a:pPr>
            <a:r>
              <a:rPr lang="en" sz="2800">
                <a:latin typeface="Lato"/>
                <a:ea typeface="Lato"/>
                <a:cs typeface="Lato"/>
                <a:sym typeface="Lato"/>
              </a:rPr>
              <a:t>Useful for IDEs &amp; editors to provide correct C/C++ tooling</a:t>
            </a:r>
            <a:endParaRPr sz="2800">
              <a:latin typeface="Lato"/>
              <a:ea typeface="Lato"/>
              <a:cs typeface="Lato"/>
              <a:sym typeface="Lato"/>
            </a:endParaRPr>
          </a:p>
          <a:p>
            <a:pPr indent="0" lvl="0" marL="0" rtl="0" algn="l">
              <a:lnSpc>
                <a:spcPct val="115000"/>
              </a:lnSpc>
              <a:spcBef>
                <a:spcPts val="1300"/>
              </a:spcBef>
              <a:spcAft>
                <a:spcPts val="1300"/>
              </a:spcAft>
              <a:buNone/>
            </a:pPr>
            <a:r>
              <a:t/>
            </a:r>
            <a:endParaRPr sz="2800">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33" name="Shape 233"/>
        <p:cNvGrpSpPr/>
        <p:nvPr/>
      </p:nvGrpSpPr>
      <p:grpSpPr>
        <a:xfrm>
          <a:off x="0" y="0"/>
          <a:ext cx="0" cy="0"/>
          <a:chOff x="0" y="0"/>
          <a:chExt cx="0" cy="0"/>
        </a:xfrm>
      </p:grpSpPr>
      <p:sp>
        <p:nvSpPr>
          <p:cNvPr id="234" name="Google Shape;234;p41"/>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2"/>
              </a:buClr>
              <a:buSzPts val="1100"/>
              <a:buFont typeface="Arial"/>
              <a:buNone/>
            </a:pPr>
            <a:r>
              <a:rPr lang="en" sz="2700">
                <a:latin typeface="Arial"/>
                <a:ea typeface="Arial"/>
                <a:cs typeface="Arial"/>
                <a:sym typeface="Arial"/>
              </a:rPr>
              <a:t>What happens after “make” is entered</a:t>
            </a:r>
            <a:endParaRPr sz="5300">
              <a:latin typeface="Arial"/>
              <a:ea typeface="Arial"/>
              <a:cs typeface="Arial"/>
              <a:sym typeface="Arial"/>
            </a:endParaRPr>
          </a:p>
          <a:p>
            <a:pPr indent="0" lvl="0" marL="0" rtl="0" algn="ctr">
              <a:lnSpc>
                <a:spcPct val="115000"/>
              </a:lnSpc>
              <a:spcBef>
                <a:spcPts val="1400"/>
              </a:spcBef>
              <a:spcAft>
                <a:spcPts val="0"/>
              </a:spcAft>
              <a:buClr>
                <a:schemeClr val="dk2"/>
              </a:buClr>
              <a:buSzPts val="1100"/>
              <a:buFont typeface="Arial"/>
              <a:buNone/>
            </a:pPr>
            <a:r>
              <a:t/>
            </a:r>
            <a:endParaRPr sz="5600">
              <a:latin typeface="Arial"/>
              <a:ea typeface="Arial"/>
              <a:cs typeface="Arial"/>
              <a:sym typeface="Arial"/>
            </a:endParaRPr>
          </a:p>
          <a:p>
            <a:pPr indent="0" lvl="0" marL="0" rtl="0" algn="ctr">
              <a:lnSpc>
                <a:spcPct val="115000"/>
              </a:lnSpc>
              <a:spcBef>
                <a:spcPts val="2400"/>
              </a:spcBef>
              <a:spcAft>
                <a:spcPts val="0"/>
              </a:spcAft>
              <a:buClr>
                <a:schemeClr val="dk2"/>
              </a:buClr>
              <a:buSzPts val="1100"/>
              <a:buFont typeface="Arial"/>
              <a:buNone/>
            </a:pPr>
            <a:r>
              <a:t/>
            </a:r>
            <a:endParaRPr sz="5400">
              <a:latin typeface="Arial"/>
              <a:ea typeface="Arial"/>
              <a:cs typeface="Arial"/>
              <a:sym typeface="Arial"/>
            </a:endParaRPr>
          </a:p>
          <a:p>
            <a:pPr indent="0" lvl="0" marL="0" rtl="0" algn="ctr">
              <a:lnSpc>
                <a:spcPct val="115000"/>
              </a:lnSpc>
              <a:spcBef>
                <a:spcPts val="600"/>
              </a:spcBef>
              <a:spcAft>
                <a:spcPts val="1600"/>
              </a:spcAft>
              <a:buClr>
                <a:schemeClr val="dk2"/>
              </a:buClr>
              <a:buSzPts val="1100"/>
              <a:buFont typeface="Arial"/>
              <a:buNone/>
            </a:pPr>
            <a:r>
              <a:t/>
            </a:r>
            <a:endParaRPr sz="4800">
              <a:latin typeface="Lato"/>
              <a:ea typeface="Lato"/>
              <a:cs typeface="Lato"/>
              <a:sym typeface="Lato"/>
            </a:endParaRPr>
          </a:p>
        </p:txBody>
      </p:sp>
      <p:sp>
        <p:nvSpPr>
          <p:cNvPr id="235" name="Google Shape;235;p41"/>
          <p:cNvSpPr txBox="1"/>
          <p:nvPr>
            <p:ph idx="4294967295" type="title"/>
          </p:nvPr>
        </p:nvSpPr>
        <p:spPr>
          <a:xfrm>
            <a:off x="0" y="924625"/>
            <a:ext cx="9642600" cy="37107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Clr>
                <a:srgbClr val="000000"/>
              </a:buClr>
              <a:buSzPts val="2600"/>
              <a:buFont typeface="Lato"/>
              <a:buChar char="●"/>
            </a:pPr>
            <a:r>
              <a:rPr lang="en" sz="2600">
                <a:solidFill>
                  <a:srgbClr val="000000"/>
                </a:solidFill>
                <a:latin typeface="Lato"/>
                <a:ea typeface="Lato"/>
                <a:cs typeface="Lato"/>
                <a:sym typeface="Lato"/>
              </a:rPr>
              <a:t>Compile</a:t>
            </a:r>
            <a:endParaRPr sz="2600">
              <a:solidFill>
                <a:srgbClr val="000000"/>
              </a:solidFill>
              <a:latin typeface="Lato"/>
              <a:ea typeface="Lato"/>
              <a:cs typeface="Lato"/>
              <a:sym typeface="Lato"/>
            </a:endParaRPr>
          </a:p>
          <a:p>
            <a:pPr indent="0" lvl="0" marL="0" rtl="0" algn="l">
              <a:spcBef>
                <a:spcPts val="0"/>
              </a:spcBef>
              <a:spcAft>
                <a:spcPts val="0"/>
              </a:spcAft>
              <a:buNone/>
            </a:pPr>
            <a:r>
              <a:rPr lang="en" sz="2300">
                <a:solidFill>
                  <a:srgbClr val="000000"/>
                </a:solidFill>
                <a:latin typeface="Lato"/>
                <a:ea typeface="Lato"/>
                <a:cs typeface="Lato"/>
                <a:sym typeface="Lato"/>
              </a:rPr>
              <a:t>Each </a:t>
            </a:r>
            <a:r>
              <a:rPr lang="en" sz="2300">
                <a:solidFill>
                  <a:srgbClr val="188038"/>
                </a:solidFill>
                <a:latin typeface="Lato"/>
                <a:ea typeface="Lato"/>
                <a:cs typeface="Lato"/>
                <a:sym typeface="Lato"/>
              </a:rPr>
              <a:t>.c</a:t>
            </a:r>
            <a:r>
              <a:rPr lang="en" sz="2300">
                <a:solidFill>
                  <a:srgbClr val="000000"/>
                </a:solidFill>
                <a:latin typeface="Lato"/>
                <a:ea typeface="Lato"/>
                <a:cs typeface="Lato"/>
                <a:sym typeface="Lato"/>
              </a:rPr>
              <a:t> or </a:t>
            </a:r>
            <a:r>
              <a:rPr lang="en" sz="2300">
                <a:solidFill>
                  <a:srgbClr val="188038"/>
                </a:solidFill>
                <a:latin typeface="Lato"/>
                <a:ea typeface="Lato"/>
                <a:cs typeface="Lato"/>
                <a:sym typeface="Lato"/>
              </a:rPr>
              <a:t>.cpp</a:t>
            </a:r>
            <a:r>
              <a:rPr lang="en" sz="2300">
                <a:solidFill>
                  <a:srgbClr val="000000"/>
                </a:solidFill>
                <a:latin typeface="Lato"/>
                <a:ea typeface="Lato"/>
                <a:cs typeface="Lato"/>
                <a:sym typeface="Lato"/>
              </a:rPr>
              <a:t> file → </a:t>
            </a:r>
            <a:r>
              <a:rPr lang="en" sz="2300">
                <a:solidFill>
                  <a:srgbClr val="188038"/>
                </a:solidFill>
                <a:latin typeface="Lato"/>
                <a:ea typeface="Lato"/>
                <a:cs typeface="Lato"/>
                <a:sym typeface="Lato"/>
              </a:rPr>
              <a:t>.o</a:t>
            </a:r>
            <a:r>
              <a:rPr lang="en" sz="2300">
                <a:solidFill>
                  <a:srgbClr val="000000"/>
                </a:solidFill>
                <a:latin typeface="Lato"/>
                <a:ea typeface="Lato"/>
                <a:cs typeface="Lato"/>
                <a:sym typeface="Lato"/>
              </a:rPr>
              <a:t> (object file) </a:t>
            </a:r>
            <a:r>
              <a:rPr lang="en" sz="2300">
                <a:solidFill>
                  <a:srgbClr val="188038"/>
                </a:solidFill>
                <a:latin typeface="Lato"/>
                <a:ea typeface="Lato"/>
                <a:cs typeface="Lato"/>
                <a:sym typeface="Lato"/>
              </a:rPr>
              <a:t>Blink.o</a:t>
            </a:r>
            <a:endParaRPr sz="2300">
              <a:solidFill>
                <a:srgbClr val="188038"/>
              </a:solidFill>
              <a:latin typeface="Lato"/>
              <a:ea typeface="Lato"/>
              <a:cs typeface="Lato"/>
              <a:sym typeface="Lato"/>
            </a:endParaRPr>
          </a:p>
          <a:p>
            <a:pPr indent="-393700" lvl="0" marL="457200" rtl="0" algn="l">
              <a:spcBef>
                <a:spcPts val="0"/>
              </a:spcBef>
              <a:spcAft>
                <a:spcPts val="0"/>
              </a:spcAft>
              <a:buClr>
                <a:srgbClr val="000000"/>
              </a:buClr>
              <a:buSzPts val="2600"/>
              <a:buFont typeface="Lato"/>
              <a:buChar char="●"/>
            </a:pPr>
            <a:r>
              <a:rPr lang="en" sz="2600">
                <a:solidFill>
                  <a:srgbClr val="000000"/>
                </a:solidFill>
                <a:latin typeface="Lato"/>
                <a:ea typeface="Lato"/>
                <a:cs typeface="Lato"/>
                <a:sym typeface="Lato"/>
              </a:rPr>
              <a:t>Link</a:t>
            </a:r>
            <a:endParaRPr sz="2600">
              <a:solidFill>
                <a:srgbClr val="000000"/>
              </a:solidFill>
              <a:latin typeface="Lato"/>
              <a:ea typeface="Lato"/>
              <a:cs typeface="Lato"/>
              <a:sym typeface="Lato"/>
            </a:endParaRPr>
          </a:p>
          <a:p>
            <a:pPr indent="0" lvl="0" marL="0" rtl="0" algn="l">
              <a:spcBef>
                <a:spcPts val="0"/>
              </a:spcBef>
              <a:spcAft>
                <a:spcPts val="0"/>
              </a:spcAft>
              <a:buNone/>
            </a:pPr>
            <a:r>
              <a:rPr lang="en" sz="2300">
                <a:solidFill>
                  <a:srgbClr val="000000"/>
                </a:solidFill>
                <a:latin typeface="Lato"/>
                <a:ea typeface="Lato"/>
                <a:cs typeface="Lato"/>
                <a:sym typeface="Lato"/>
              </a:rPr>
              <a:t>All </a:t>
            </a:r>
            <a:r>
              <a:rPr lang="en" sz="2300">
                <a:solidFill>
                  <a:srgbClr val="188038"/>
                </a:solidFill>
                <a:latin typeface="Lato"/>
                <a:ea typeface="Lato"/>
                <a:cs typeface="Lato"/>
                <a:sym typeface="Lato"/>
              </a:rPr>
              <a:t>.o</a:t>
            </a:r>
            <a:r>
              <a:rPr lang="en" sz="2300">
                <a:solidFill>
                  <a:srgbClr val="000000"/>
                </a:solidFill>
                <a:latin typeface="Lato"/>
                <a:ea typeface="Lato"/>
                <a:cs typeface="Lato"/>
                <a:sym typeface="Lato"/>
              </a:rPr>
              <a:t> files → single </a:t>
            </a:r>
            <a:r>
              <a:rPr lang="en" sz="2300">
                <a:solidFill>
                  <a:srgbClr val="188038"/>
                </a:solidFill>
                <a:latin typeface="Lato"/>
                <a:ea typeface="Lato"/>
                <a:cs typeface="Lato"/>
                <a:sym typeface="Lato"/>
              </a:rPr>
              <a:t>.elf</a:t>
            </a:r>
            <a:r>
              <a:rPr lang="en" sz="2300">
                <a:solidFill>
                  <a:srgbClr val="000000"/>
                </a:solidFill>
                <a:latin typeface="Lato"/>
                <a:ea typeface="Lato"/>
                <a:cs typeface="Lato"/>
                <a:sym typeface="Lato"/>
              </a:rPr>
              <a:t> (Executable and Linkable Format) </a:t>
            </a:r>
            <a:r>
              <a:rPr lang="en" sz="2300">
                <a:solidFill>
                  <a:srgbClr val="188038"/>
                </a:solidFill>
                <a:latin typeface="Lato"/>
                <a:ea typeface="Lato"/>
                <a:cs typeface="Lato"/>
                <a:sym typeface="Lato"/>
              </a:rPr>
              <a:t>blink.elf</a:t>
            </a:r>
            <a:endParaRPr sz="2300">
              <a:solidFill>
                <a:srgbClr val="188038"/>
              </a:solidFill>
              <a:latin typeface="Lato"/>
              <a:ea typeface="Lato"/>
              <a:cs typeface="Lato"/>
              <a:sym typeface="Lato"/>
            </a:endParaRPr>
          </a:p>
          <a:p>
            <a:pPr indent="-393700" lvl="0" marL="457200" rtl="0" algn="l">
              <a:spcBef>
                <a:spcPts val="0"/>
              </a:spcBef>
              <a:spcAft>
                <a:spcPts val="0"/>
              </a:spcAft>
              <a:buClr>
                <a:srgbClr val="000000"/>
              </a:buClr>
              <a:buSzPts val="2600"/>
              <a:buFont typeface="Lato"/>
              <a:buChar char="●"/>
            </a:pPr>
            <a:r>
              <a:rPr lang="en" sz="2600">
                <a:solidFill>
                  <a:srgbClr val="000000"/>
                </a:solidFill>
                <a:latin typeface="Lato"/>
                <a:ea typeface="Lato"/>
                <a:cs typeface="Lato"/>
                <a:sym typeface="Lato"/>
              </a:rPr>
              <a:t>Convert</a:t>
            </a:r>
            <a:endParaRPr sz="2600">
              <a:solidFill>
                <a:srgbClr val="000000"/>
              </a:solidFill>
              <a:latin typeface="Lato"/>
              <a:ea typeface="Lato"/>
              <a:cs typeface="Lato"/>
              <a:sym typeface="Lato"/>
            </a:endParaRPr>
          </a:p>
          <a:p>
            <a:pPr indent="0" lvl="0" marL="0" rtl="0" algn="l">
              <a:spcBef>
                <a:spcPts val="0"/>
              </a:spcBef>
              <a:spcAft>
                <a:spcPts val="0"/>
              </a:spcAft>
              <a:buNone/>
            </a:pPr>
            <a:r>
              <a:rPr lang="en" sz="2300">
                <a:solidFill>
                  <a:srgbClr val="188038"/>
                </a:solidFill>
                <a:latin typeface="Lato"/>
                <a:ea typeface="Lato"/>
                <a:cs typeface="Lato"/>
                <a:sym typeface="Lato"/>
              </a:rPr>
              <a:t>.elf</a:t>
            </a:r>
            <a:r>
              <a:rPr lang="en" sz="2300">
                <a:solidFill>
                  <a:srgbClr val="000000"/>
                </a:solidFill>
                <a:latin typeface="Lato"/>
                <a:ea typeface="Lato"/>
                <a:cs typeface="Lato"/>
                <a:sym typeface="Lato"/>
              </a:rPr>
              <a:t> → </a:t>
            </a:r>
            <a:r>
              <a:rPr lang="en" sz="2300">
                <a:solidFill>
                  <a:srgbClr val="188038"/>
                </a:solidFill>
                <a:latin typeface="Lato"/>
                <a:ea typeface="Lato"/>
                <a:cs typeface="Lato"/>
                <a:sym typeface="Lato"/>
              </a:rPr>
              <a:t>.bin</a:t>
            </a:r>
            <a:r>
              <a:rPr lang="en" sz="2300">
                <a:solidFill>
                  <a:srgbClr val="000000"/>
                </a:solidFill>
                <a:latin typeface="Lato"/>
                <a:ea typeface="Lato"/>
                <a:cs typeface="Lato"/>
                <a:sym typeface="Lato"/>
              </a:rPr>
              <a:t> (raw binary) </a:t>
            </a:r>
            <a:r>
              <a:rPr lang="en" sz="2300">
                <a:solidFill>
                  <a:srgbClr val="188038"/>
                </a:solidFill>
                <a:latin typeface="Lato"/>
                <a:ea typeface="Lato"/>
                <a:cs typeface="Lato"/>
                <a:sym typeface="Lato"/>
              </a:rPr>
              <a:t>blink.bin</a:t>
            </a:r>
            <a:endParaRPr sz="2300">
              <a:solidFill>
                <a:srgbClr val="188038"/>
              </a:solidFill>
              <a:latin typeface="Lato"/>
              <a:ea typeface="Lato"/>
              <a:cs typeface="Lato"/>
              <a:sym typeface="Lato"/>
            </a:endParaRPr>
          </a:p>
          <a:p>
            <a:pPr indent="-393700" lvl="0" marL="457200" rtl="0" algn="l">
              <a:spcBef>
                <a:spcPts val="0"/>
              </a:spcBef>
              <a:spcAft>
                <a:spcPts val="0"/>
              </a:spcAft>
              <a:buClr>
                <a:srgbClr val="000000"/>
              </a:buClr>
              <a:buSzPts val="2600"/>
              <a:buFont typeface="Lato"/>
              <a:buChar char="●"/>
            </a:pPr>
            <a:r>
              <a:rPr lang="en" sz="2600">
                <a:solidFill>
                  <a:srgbClr val="000000"/>
                </a:solidFill>
                <a:latin typeface="Lato"/>
                <a:ea typeface="Lato"/>
                <a:cs typeface="Lato"/>
                <a:sym typeface="Lato"/>
              </a:rPr>
              <a:t>Package</a:t>
            </a:r>
            <a:endParaRPr sz="2600">
              <a:solidFill>
                <a:srgbClr val="000000"/>
              </a:solidFill>
              <a:latin typeface="Lato"/>
              <a:ea typeface="Lato"/>
              <a:cs typeface="Lato"/>
              <a:sym typeface="Lato"/>
            </a:endParaRPr>
          </a:p>
          <a:p>
            <a:pPr indent="0" lvl="0" marL="0" rtl="0" algn="l">
              <a:spcBef>
                <a:spcPts val="0"/>
              </a:spcBef>
              <a:spcAft>
                <a:spcPts val="0"/>
              </a:spcAft>
              <a:buNone/>
            </a:pPr>
            <a:r>
              <a:rPr lang="en" sz="2300">
                <a:solidFill>
                  <a:srgbClr val="188038"/>
                </a:solidFill>
                <a:latin typeface="Lato"/>
                <a:ea typeface="Lato"/>
                <a:cs typeface="Lato"/>
                <a:sym typeface="Lato"/>
              </a:rPr>
              <a:t>.bin</a:t>
            </a:r>
            <a:r>
              <a:rPr lang="en" sz="2300">
                <a:solidFill>
                  <a:srgbClr val="000000"/>
                </a:solidFill>
                <a:latin typeface="Lato"/>
                <a:ea typeface="Lato"/>
                <a:cs typeface="Lato"/>
                <a:sym typeface="Lato"/>
              </a:rPr>
              <a:t> → </a:t>
            </a:r>
            <a:r>
              <a:rPr lang="en" sz="2300">
                <a:solidFill>
                  <a:srgbClr val="188038"/>
                </a:solidFill>
                <a:latin typeface="Lato"/>
                <a:ea typeface="Lato"/>
                <a:cs typeface="Lato"/>
                <a:sym typeface="Lato"/>
              </a:rPr>
              <a:t>.uf2</a:t>
            </a:r>
            <a:r>
              <a:rPr lang="en" sz="2300">
                <a:solidFill>
                  <a:srgbClr val="000000"/>
                </a:solidFill>
                <a:latin typeface="Lato"/>
                <a:ea typeface="Lato"/>
                <a:cs typeface="Lato"/>
                <a:sym typeface="Lato"/>
              </a:rPr>
              <a:t> (USB Flashing Format) </a:t>
            </a:r>
            <a:r>
              <a:rPr lang="en" sz="2300">
                <a:solidFill>
                  <a:srgbClr val="188038"/>
                </a:solidFill>
                <a:latin typeface="Lato"/>
                <a:ea typeface="Lato"/>
                <a:cs typeface="Lato"/>
                <a:sym typeface="Lato"/>
              </a:rPr>
              <a:t>blink.uf2</a:t>
            </a:r>
            <a:endParaRPr sz="2300">
              <a:solidFill>
                <a:srgbClr val="188038"/>
              </a:solidFill>
              <a:latin typeface="Lato"/>
              <a:ea typeface="Lato"/>
              <a:cs typeface="Lato"/>
              <a:sym typeface="Lato"/>
            </a:endParaRPr>
          </a:p>
          <a:p>
            <a:pPr indent="0" lvl="0" marL="457200" rtl="0" algn="l">
              <a:lnSpc>
                <a:spcPct val="115000"/>
              </a:lnSpc>
              <a:spcBef>
                <a:spcPts val="1300"/>
              </a:spcBef>
              <a:spcAft>
                <a:spcPts val="1300"/>
              </a:spcAft>
              <a:buNone/>
            </a:pPr>
            <a:r>
              <a:t/>
            </a:r>
            <a:endParaRPr sz="3600">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39" name="Shape 239"/>
        <p:cNvGrpSpPr/>
        <p:nvPr/>
      </p:nvGrpSpPr>
      <p:grpSpPr>
        <a:xfrm>
          <a:off x="0" y="0"/>
          <a:ext cx="0" cy="0"/>
          <a:chOff x="0" y="0"/>
          <a:chExt cx="0" cy="0"/>
        </a:xfrm>
      </p:grpSpPr>
      <p:sp>
        <p:nvSpPr>
          <p:cNvPr id="240" name="Google Shape;240;p42"/>
          <p:cNvSpPr txBox="1"/>
          <p:nvPr>
            <p:ph idx="4294967295" type="title"/>
          </p:nvPr>
        </p:nvSpPr>
        <p:spPr>
          <a:xfrm>
            <a:off x="427950" y="90875"/>
            <a:ext cx="8963400" cy="10071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2"/>
              </a:buClr>
              <a:buSzPts val="1100"/>
              <a:buFont typeface="Arial"/>
              <a:buNone/>
            </a:pPr>
            <a:r>
              <a:rPr lang="en" sz="2700">
                <a:latin typeface="Arial"/>
                <a:ea typeface="Arial"/>
                <a:cs typeface="Arial"/>
                <a:sym typeface="Arial"/>
              </a:rPr>
              <a:t>How a Pico Program Starts Running</a:t>
            </a:r>
            <a:endParaRPr sz="5600">
              <a:latin typeface="Arial"/>
              <a:ea typeface="Arial"/>
              <a:cs typeface="Arial"/>
              <a:sym typeface="Arial"/>
            </a:endParaRPr>
          </a:p>
          <a:p>
            <a:pPr indent="0" lvl="0" marL="0" rtl="0" algn="ctr">
              <a:lnSpc>
                <a:spcPct val="115000"/>
              </a:lnSpc>
              <a:spcBef>
                <a:spcPts val="2400"/>
              </a:spcBef>
              <a:spcAft>
                <a:spcPts val="0"/>
              </a:spcAft>
              <a:buClr>
                <a:schemeClr val="dk2"/>
              </a:buClr>
              <a:buSzPts val="1100"/>
              <a:buFont typeface="Arial"/>
              <a:buNone/>
            </a:pPr>
            <a:r>
              <a:t/>
            </a:r>
            <a:endParaRPr sz="5400">
              <a:latin typeface="Arial"/>
              <a:ea typeface="Arial"/>
              <a:cs typeface="Arial"/>
              <a:sym typeface="Arial"/>
            </a:endParaRPr>
          </a:p>
          <a:p>
            <a:pPr indent="0" lvl="0" marL="0" rtl="0" algn="ctr">
              <a:lnSpc>
                <a:spcPct val="115000"/>
              </a:lnSpc>
              <a:spcBef>
                <a:spcPts val="600"/>
              </a:spcBef>
              <a:spcAft>
                <a:spcPts val="1600"/>
              </a:spcAft>
              <a:buClr>
                <a:schemeClr val="dk2"/>
              </a:buClr>
              <a:buSzPts val="1100"/>
              <a:buFont typeface="Arial"/>
              <a:buNone/>
            </a:pPr>
            <a:r>
              <a:t/>
            </a:r>
            <a:endParaRPr sz="4800">
              <a:latin typeface="Lato"/>
              <a:ea typeface="Lato"/>
              <a:cs typeface="Lato"/>
              <a:sym typeface="Lato"/>
            </a:endParaRPr>
          </a:p>
        </p:txBody>
      </p:sp>
      <p:sp>
        <p:nvSpPr>
          <p:cNvPr id="241" name="Google Shape;241;p42"/>
          <p:cNvSpPr txBox="1"/>
          <p:nvPr>
            <p:ph idx="4294967295" type="title"/>
          </p:nvPr>
        </p:nvSpPr>
        <p:spPr>
          <a:xfrm>
            <a:off x="0" y="924625"/>
            <a:ext cx="9144000" cy="3710700"/>
          </a:xfrm>
          <a:prstGeom prst="rect">
            <a:avLst/>
          </a:prstGeom>
        </p:spPr>
        <p:txBody>
          <a:bodyPr anchorCtr="0" anchor="t" bIns="91425" lIns="91425" spcFirstLastPara="1" rIns="91425" wrap="square" tIns="91425">
            <a:noAutofit/>
          </a:bodyPr>
          <a:lstStyle/>
          <a:p>
            <a:pPr indent="-387350" lvl="0" marL="457200" rtl="0" algn="l">
              <a:lnSpc>
                <a:spcPct val="115000"/>
              </a:lnSpc>
              <a:spcBef>
                <a:spcPts val="1300"/>
              </a:spcBef>
              <a:spcAft>
                <a:spcPts val="0"/>
              </a:spcAft>
              <a:buSzPts val="2500"/>
              <a:buFont typeface="Lato"/>
              <a:buAutoNum type="arabicPeriod"/>
            </a:pPr>
            <a:r>
              <a:rPr lang="en" sz="2500">
                <a:latin typeface="Lato"/>
                <a:ea typeface="Lato"/>
                <a:cs typeface="Lato"/>
                <a:sym typeface="Lato"/>
              </a:rPr>
              <a:t>You compile your program into a UF2 file</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Lato"/>
              <a:buAutoNum type="arabicPeriod"/>
            </a:pPr>
            <a:r>
              <a:rPr lang="en" sz="2500">
                <a:latin typeface="Lato"/>
                <a:ea typeface="Lato"/>
                <a:cs typeface="Lato"/>
                <a:sym typeface="Lato"/>
              </a:rPr>
              <a:t>You put the Pico in bootloader mode (BOOTSEL button)</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Lato"/>
              <a:buAutoNum type="arabicPeriod"/>
            </a:pPr>
            <a:r>
              <a:rPr lang="en" sz="2500">
                <a:latin typeface="Lato"/>
                <a:ea typeface="Lato"/>
                <a:cs typeface="Lato"/>
                <a:sym typeface="Lato"/>
              </a:rPr>
              <a:t>You drag and drop the UF2 file to the mounted drive</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Lato"/>
              <a:buAutoNum type="arabicPeriod"/>
            </a:pPr>
            <a:r>
              <a:rPr lang="en" sz="2500">
                <a:latin typeface="Lato"/>
                <a:ea typeface="Lato"/>
                <a:cs typeface="Lato"/>
                <a:sym typeface="Lato"/>
              </a:rPr>
              <a:t>The bootloader writes the firmware into flash memory</a:t>
            </a:r>
            <a:endParaRPr sz="2500">
              <a:latin typeface="Lato"/>
              <a:ea typeface="Lato"/>
              <a:cs typeface="Lato"/>
              <a:sym typeface="Lato"/>
            </a:endParaRPr>
          </a:p>
          <a:p>
            <a:pPr indent="-387350" lvl="0" marL="457200" rtl="0" algn="l">
              <a:lnSpc>
                <a:spcPct val="115000"/>
              </a:lnSpc>
              <a:spcBef>
                <a:spcPts val="0"/>
              </a:spcBef>
              <a:spcAft>
                <a:spcPts val="0"/>
              </a:spcAft>
              <a:buSzPts val="2500"/>
              <a:buFont typeface="Arial"/>
              <a:buAutoNum type="arabicPeriod"/>
            </a:pPr>
            <a:r>
              <a:rPr lang="en" sz="2500">
                <a:latin typeface="Lato"/>
                <a:ea typeface="Lato"/>
                <a:cs typeface="Lato"/>
                <a:sym typeface="Lato"/>
              </a:rPr>
              <a:t>After reset, the RP2040 reads your program from flash and runs </a:t>
            </a:r>
            <a:r>
              <a:rPr lang="en" sz="2500">
                <a:solidFill>
                  <a:srgbClr val="188038"/>
                </a:solidFill>
                <a:latin typeface="Lato"/>
                <a:ea typeface="Lato"/>
                <a:cs typeface="Lato"/>
                <a:sym typeface="Lato"/>
              </a:rPr>
              <a:t>main()</a:t>
            </a:r>
            <a:endParaRPr sz="2500">
              <a:solidFill>
                <a:srgbClr val="188038"/>
              </a:solidFill>
              <a:latin typeface="Lato"/>
              <a:ea typeface="Lato"/>
              <a:cs typeface="Lato"/>
              <a:sym typeface="Lato"/>
            </a:endParaRPr>
          </a:p>
          <a:p>
            <a:pPr indent="0" lvl="0" marL="0" rtl="0" algn="l">
              <a:lnSpc>
                <a:spcPct val="115000"/>
              </a:lnSpc>
              <a:spcBef>
                <a:spcPts val="1300"/>
              </a:spcBef>
              <a:spcAft>
                <a:spcPts val="0"/>
              </a:spcAft>
              <a:buClr>
                <a:schemeClr val="dk2"/>
              </a:buClr>
              <a:buSzPts val="1100"/>
              <a:buFont typeface="Arial"/>
              <a:buNone/>
            </a:pPr>
            <a:r>
              <a:rPr lang="en" sz="2500">
                <a:latin typeface="Lato"/>
                <a:ea typeface="Lato"/>
                <a:cs typeface="Lato"/>
                <a:sym typeface="Lato"/>
              </a:rPr>
              <a:t>There is no OS. Your code </a:t>
            </a:r>
            <a:r>
              <a:rPr i="1" lang="en" sz="2500">
                <a:latin typeface="Lato"/>
                <a:ea typeface="Lato"/>
                <a:cs typeface="Lato"/>
                <a:sym typeface="Lato"/>
              </a:rPr>
              <a:t>is</a:t>
            </a:r>
            <a:r>
              <a:rPr lang="en" sz="2500">
                <a:latin typeface="Lato"/>
                <a:ea typeface="Lato"/>
                <a:cs typeface="Lato"/>
                <a:sym typeface="Lato"/>
              </a:rPr>
              <a:t> the firmware.</a:t>
            </a:r>
            <a:endParaRPr sz="2500">
              <a:latin typeface="Lato"/>
              <a:ea typeface="Lato"/>
              <a:cs typeface="Lato"/>
              <a:sym typeface="Lato"/>
            </a:endParaRPr>
          </a:p>
          <a:p>
            <a:pPr indent="0" lvl="0" marL="457200" rtl="0" algn="l">
              <a:lnSpc>
                <a:spcPct val="115000"/>
              </a:lnSpc>
              <a:spcBef>
                <a:spcPts val="1300"/>
              </a:spcBef>
              <a:spcAft>
                <a:spcPts val="1300"/>
              </a:spcAft>
              <a:buNone/>
            </a:pPr>
            <a:r>
              <a:t/>
            </a:r>
            <a:endParaRPr sz="2600">
              <a:solidFill>
                <a:srgbClr val="000000"/>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53DDD5"/>
            </a:gs>
            <a:gs pos="100000">
              <a:srgbClr val="238B84"/>
            </a:gs>
          </a:gsLst>
          <a:path path="circle">
            <a:fillToRect b="50%" l="50%" r="50%" t="50%"/>
          </a:path>
          <a:tileRect/>
        </a:gradFill>
      </p:bgPr>
    </p:bg>
    <p:spTree>
      <p:nvGrpSpPr>
        <p:cNvPr id="245" name="Shape 245"/>
        <p:cNvGrpSpPr/>
        <p:nvPr/>
      </p:nvGrpSpPr>
      <p:grpSpPr>
        <a:xfrm>
          <a:off x="0" y="0"/>
          <a:ext cx="0" cy="0"/>
          <a:chOff x="0" y="0"/>
          <a:chExt cx="0" cy="0"/>
        </a:xfrm>
      </p:grpSpPr>
      <p:sp>
        <p:nvSpPr>
          <p:cNvPr id="246" name="Google Shape;246;p43"/>
          <p:cNvSpPr txBox="1"/>
          <p:nvPr>
            <p:ph idx="4294967295" type="title"/>
          </p:nvPr>
        </p:nvSpPr>
        <p:spPr>
          <a:xfrm>
            <a:off x="2297225" y="1521250"/>
            <a:ext cx="4363500" cy="1353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2"/>
              </a:buClr>
              <a:buSzPts val="1100"/>
              <a:buFont typeface="Arial"/>
              <a:buNone/>
            </a:pPr>
            <a:r>
              <a:rPr lang="en" sz="6800">
                <a:latin typeface="Arial"/>
                <a:ea typeface="Arial"/>
                <a:cs typeface="Arial"/>
                <a:sym typeface="Arial"/>
              </a:rPr>
              <a:t>END</a:t>
            </a:r>
            <a:endParaRPr sz="9700">
              <a:latin typeface="Arial"/>
              <a:ea typeface="Arial"/>
              <a:cs typeface="Arial"/>
              <a:sym typeface="Arial"/>
            </a:endParaRPr>
          </a:p>
          <a:p>
            <a:pPr indent="0" lvl="0" marL="0" rtl="0" algn="ctr">
              <a:lnSpc>
                <a:spcPct val="115000"/>
              </a:lnSpc>
              <a:spcBef>
                <a:spcPts val="2400"/>
              </a:spcBef>
              <a:spcAft>
                <a:spcPts val="0"/>
              </a:spcAft>
              <a:buClr>
                <a:schemeClr val="dk2"/>
              </a:buClr>
              <a:buSzPts val="1100"/>
              <a:buFont typeface="Arial"/>
              <a:buNone/>
            </a:pPr>
            <a:r>
              <a:t/>
            </a:r>
            <a:endParaRPr sz="9500">
              <a:latin typeface="Arial"/>
              <a:ea typeface="Arial"/>
              <a:cs typeface="Arial"/>
              <a:sym typeface="Arial"/>
            </a:endParaRPr>
          </a:p>
          <a:p>
            <a:pPr indent="0" lvl="0" marL="0" rtl="0" algn="ctr">
              <a:lnSpc>
                <a:spcPct val="115000"/>
              </a:lnSpc>
              <a:spcBef>
                <a:spcPts val="600"/>
              </a:spcBef>
              <a:spcAft>
                <a:spcPts val="1600"/>
              </a:spcAft>
              <a:buClr>
                <a:schemeClr val="dk2"/>
              </a:buClr>
              <a:buSzPts val="1100"/>
              <a:buFont typeface="Arial"/>
              <a:buNone/>
            </a:pPr>
            <a:r>
              <a:t/>
            </a:r>
            <a:endParaRPr sz="8900">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