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2860d88fa_2_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2860d88fa_2_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55" name="Google Shape;55;g3e2860d88fa_2_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2860d88fa_2_1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e2860d88fa_2_1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64" name="Google Shape;64;g3e2860d88fa_2_1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2860d88fa_2_2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e2860d88fa_2_2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82" name="Google Shape;82;g3e2860d88fa_2_2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2860d88fa_2_5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e2860d88fa_2_5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05" name="Google Shape;105;g3e2860d88fa_2_5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2860d88fa_2_73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e2860d88fa_2_73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29" name="Google Shape;129;g3e2860d88fa_2_73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2860d88fa_2_8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e2860d88fa_2_8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38" name="Google Shape;138;g3e2860d88fa_2_8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2860d88fa_2_10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e2860d88fa_2_10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65" name="Google Shape;165;g3e2860d88fa_2_10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2860d88fa_2_14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e2860d88fa_2_14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00" name="Google Shape;200;g3e2860d88fa_2_14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2860d88fa_2_179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e2860d88fa_2_179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39" name="Google Shape;239;g3e2860d88fa_2_179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2860d88fa_2_203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e2860d88fa_2_203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64" name="Google Shape;264;g3e2860d88fa_2_203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2860d88fa_2_23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e2860d88fa_2_23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99" name="Google Shape;299;g3e2860d88fa_2_23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2860d88fa_2_29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e2860d88fa_2_29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60" name="Google Shape;360;g3e2860d88fa_2_29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e2860d88fa_2_33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3e2860d88fa_2_33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400" name="Google Shape;400;g3e2860d88fa_2_33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2860d88fa_2_34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e2860d88fa_2_34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410" name="Google Shape;410;g3e2860d88fa_2_34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e2860d88fa_2_379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3e2860d88fa_2_379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445" name="Google Shape;445;g3e2860d88fa_2_379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e2860d88fa_2_403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3e2860d88fa_2_403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470" name="Google Shape;470;g3e2860d88fa_2_403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e2860d88fa_2_443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g3e2860d88fa_2_443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511" name="Google Shape;511;g3e2860d88fa_2_443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e2860d88fa_2_47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g3e2860d88fa_2_47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545" name="Google Shape;545;g3e2860d88fa_2_47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e2860d88fa_2_49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g3e2860d88fa_2_49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561" name="Google Shape;561;g3e2860d88fa_2_49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e2860d88fa_2_51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g3e2860d88fa_2_51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586" name="Google Shape;586;g3e2860d88fa_2_51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e2860d88fa_2_54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g3e2860d88fa_2_54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620" name="Google Shape;620;g3e2860d88fa_2_54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e2860d88fa_2_60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g3e2860d88fa_2_60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680" name="Google Shape;680;g3e2860d88fa_2_60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e2860d88fa_2_653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6" name="Google Shape;726;g3e2860d88fa_2_653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727" name="Google Shape;727;g3e2860d88fa_2_653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e2860d88fa_2_69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8" name="Google Shape;768;g3e2860d88fa_2_69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769" name="Google Shape;769;g3e2860d88fa_2_69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e2860d88fa_2_73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0" name="Google Shape;810;g3e2860d88fa_2_73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811" name="Google Shape;811;g3e2860d88fa_2_73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15"/>
          <p:cNvPicPr preferRelativeResize="0"/>
          <p:nvPr/>
        </p:nvPicPr>
        <p:blipFill rotWithShape="1">
          <a:blip r:embed="rId3">
            <a:alphaModFix amt="55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A C++ PERFORMANCE STORY ·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476250" y="2038350"/>
            <a:ext cx="7358063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GB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Fix one bottleneck, create </a:t>
            </a:r>
            <a:r>
              <a:rPr b="1" i="0" lang="en-GB" sz="36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another</a:t>
            </a:r>
            <a:r>
              <a:rPr b="1" i="0" lang="en-GB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476250" y="3086100"/>
            <a:ext cx="8437245" cy="223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A journey from DFS to lock-free work stealing.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01 / ORIGIN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 started simply enough.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476250" y="2295763"/>
            <a:ext cx="3139440" cy="25193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I wanted to use </a:t>
            </a:r>
            <a:r>
              <a:rPr b="0" i="0" lang="en-GB" sz="12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C++23 modules</a:t>
            </a:r>
            <a:r>
              <a:rPr b="0" i="0" lang="en-GB" sz="12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476250" y="2681050"/>
            <a:ext cx="31394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I needed a small project to play with them.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476250" y="3054430"/>
            <a:ext cx="31394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So I built a directory scanner.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476250" y="3427810"/>
            <a:ext cx="31394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Thought it would be simple… it wasn't.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 rot="-120000">
            <a:off x="5743575" y="2374623"/>
            <a:ext cx="1943100" cy="1195387"/>
          </a:xfrm>
          <a:prstGeom prst="roundRect">
            <a:avLst>
              <a:gd fmla="val 12749" name="adj"/>
            </a:avLst>
          </a:prstGeom>
          <a:solidFill>
            <a:srgbClr val="161922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0" rotWithShape="0" algn="bl" dir="5400000" dist="285750">
              <a:srgbClr val="00B4D8">
                <a:alpha val="7843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6071870" y="2688749"/>
            <a:ext cx="117316" cy="321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6190377" y="2664857"/>
            <a:ext cx="664131" cy="3404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must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6893798" y="2646998"/>
            <a:ext cx="491966" cy="334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6102350" y="2954179"/>
            <a:ext cx="1274286" cy="36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modules!!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5890895" y="3780473"/>
            <a:ext cx="118189" cy="118189"/>
          </a:xfrm>
          <a:prstGeom prst="ellipse">
            <a:avLst/>
          </a:prstGeom>
          <a:solidFill>
            <a:srgbClr val="161922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5811520" y="3965655"/>
            <a:ext cx="78819" cy="78819"/>
          </a:xfrm>
          <a:prstGeom prst="ellipse">
            <a:avLst/>
          </a:prstGeom>
          <a:solidFill>
            <a:srgbClr val="161922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02 / PROJECT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Phanes?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476250" y="1039178"/>
            <a:ext cx="8437245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1700"/>
              <a:buFont typeface="Arial"/>
              <a:buNone/>
            </a:pPr>
            <a:r>
              <a:rPr b="0" i="0" lang="en-GB" sz="17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A small, self-contained directory scanner — three stages from disk to insight.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76250" y="1796415"/>
            <a:ext cx="2374900" cy="1233488"/>
          </a:xfrm>
          <a:prstGeom prst="roundRect">
            <a:avLst>
              <a:gd fmla="val 6950" name="adj"/>
            </a:avLst>
          </a:prstGeom>
          <a:solidFill>
            <a:srgbClr val="161922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2250" y="2010728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/>
          <p:nvPr/>
        </p:nvSpPr>
        <p:spPr>
          <a:xfrm>
            <a:off x="602504" y="2458403"/>
            <a:ext cx="2122393" cy="1952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Scan filesystem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602504" y="2691765"/>
            <a:ext cx="21223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Walk directories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3003550" y="2282190"/>
            <a:ext cx="2667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3849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32384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3384550" y="1796415"/>
            <a:ext cx="2374900" cy="1233488"/>
          </a:xfrm>
          <a:prstGeom prst="roundRect">
            <a:avLst>
              <a:gd fmla="val 6950" name="adj"/>
            </a:avLst>
          </a:prstGeom>
          <a:solidFill>
            <a:srgbClr val="161922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0550" y="2010728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/>
          <p:nvPr/>
        </p:nvSpPr>
        <p:spPr>
          <a:xfrm>
            <a:off x="3510804" y="2458403"/>
            <a:ext cx="2122392" cy="1952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Build tree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3510804" y="2691765"/>
            <a:ext cx="2122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In-memory structure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5911850" y="2282190"/>
            <a:ext cx="2667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3849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32384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6292850" y="1796415"/>
            <a:ext cx="2374900" cy="1233488"/>
          </a:xfrm>
          <a:prstGeom prst="roundRect">
            <a:avLst>
              <a:gd fmla="val 6950" name="adj"/>
            </a:avLst>
          </a:prstGeom>
          <a:solidFill>
            <a:srgbClr val="161922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8850" y="2010728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/>
          <p:nvPr/>
        </p:nvSpPr>
        <p:spPr>
          <a:xfrm>
            <a:off x="6419104" y="2458403"/>
            <a:ext cx="2122392" cy="1952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Analyze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6419104" y="2691765"/>
            <a:ext cx="2122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Stats, sizes, extensions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476250" y="3506153"/>
            <a:ext cx="8437245" cy="21240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Each stage feeds the next. The whole pipeline is gated by stage one.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03 / DIAGNOSIS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Everything depends on the scan.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476250" y="1467803"/>
            <a:ext cx="2374900" cy="1233488"/>
          </a:xfrm>
          <a:prstGeom prst="roundRect">
            <a:avLst>
              <a:gd fmla="val 6950" name="adj"/>
            </a:avLst>
          </a:prstGeom>
          <a:solidFill>
            <a:srgbClr val="E5484D">
              <a:alpha val="7843"/>
            </a:srgbClr>
          </a:solidFill>
          <a:ln cap="flat" cmpd="sng" w="9525">
            <a:solidFill>
              <a:srgbClr val="E5484D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16200000" dist="50800">
              <a:srgbClr val="E5484D">
                <a:alpha val="18039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2250" y="168211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/>
          <p:nvPr/>
        </p:nvSpPr>
        <p:spPr>
          <a:xfrm>
            <a:off x="602504" y="2129790"/>
            <a:ext cx="2122393" cy="1952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B7E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FF7B7E"/>
                </a:solidFill>
                <a:latin typeface="Courier New"/>
                <a:ea typeface="Courier New"/>
                <a:cs typeface="Courier New"/>
                <a:sym typeface="Courier New"/>
              </a:rPr>
              <a:t>Scan filesystem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602504" y="2363153"/>
            <a:ext cx="21223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B7E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FF7B7E"/>
                </a:solidFill>
                <a:latin typeface="Arial"/>
                <a:ea typeface="Arial"/>
                <a:cs typeface="Arial"/>
                <a:sym typeface="Arial"/>
              </a:rPr>
              <a:t>The bottleneck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3003550" y="1953578"/>
            <a:ext cx="2667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3849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32384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3384550" y="1467803"/>
            <a:ext cx="2374900" cy="1233488"/>
          </a:xfrm>
          <a:prstGeom prst="roundRect">
            <a:avLst>
              <a:gd fmla="val 6950" name="adj"/>
            </a:avLst>
          </a:prstGeom>
          <a:solidFill>
            <a:srgbClr val="161922">
              <a:alpha val="34901"/>
            </a:srgbClr>
          </a:solidFill>
          <a:ln cap="flat" cmpd="sng" w="9525">
            <a:solidFill>
              <a:srgbClr val="323849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0550" y="168211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/>
          <p:nvPr/>
        </p:nvSpPr>
        <p:spPr>
          <a:xfrm>
            <a:off x="3510804" y="2129790"/>
            <a:ext cx="2122392" cy="1952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Build tree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3510804" y="2363153"/>
            <a:ext cx="2122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Waiting…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5911850" y="1953578"/>
            <a:ext cx="2667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3849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32384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6292850" y="1467803"/>
            <a:ext cx="2374900" cy="1233488"/>
          </a:xfrm>
          <a:prstGeom prst="roundRect">
            <a:avLst>
              <a:gd fmla="val 6950" name="adj"/>
            </a:avLst>
          </a:prstGeom>
          <a:solidFill>
            <a:srgbClr val="161922">
              <a:alpha val="34901"/>
            </a:srgbClr>
          </a:solidFill>
          <a:ln cap="flat" cmpd="sng" w="9525">
            <a:solidFill>
              <a:srgbClr val="323849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8850" y="168211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/>
          <p:nvPr/>
        </p:nvSpPr>
        <p:spPr>
          <a:xfrm>
            <a:off x="6419104" y="2129790"/>
            <a:ext cx="2122392" cy="1952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Analyze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6419104" y="2363153"/>
            <a:ext cx="2122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Waiting…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476250" y="2891790"/>
            <a:ext cx="8191500" cy="471488"/>
          </a:xfrm>
          <a:prstGeom prst="roundRect">
            <a:avLst>
              <a:gd fmla="val 14141" name="adj"/>
            </a:avLst>
          </a:prstGeom>
          <a:solidFill>
            <a:srgbClr val="E5484D">
              <a:alpha val="7843"/>
            </a:srgbClr>
          </a:solidFill>
          <a:ln cap="flat" cmpd="sng" w="9525">
            <a:solidFill>
              <a:srgbClr val="E5484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652463" y="3020378"/>
            <a:ext cx="247333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E"/>
              </a:buClr>
              <a:buSzPts val="1200"/>
              <a:buFont typeface="Courier New"/>
              <a:buNone/>
            </a:pPr>
            <a:r>
              <a:rPr b="0" i="0" lang="en-GB" sz="1200" u="none" cap="none" strike="noStrike">
                <a:solidFill>
                  <a:srgbClr val="FF7B7E"/>
                </a:solidFill>
                <a:latin typeface="Courier New"/>
                <a:ea typeface="Courier New"/>
                <a:cs typeface="Courier New"/>
                <a:sym typeface="Courier New"/>
              </a:rPr>
              <a:t>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947420" y="3056097"/>
            <a:ext cx="306095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E"/>
              </a:buClr>
              <a:buSzPts val="1000"/>
              <a:buFont typeface="Courier New"/>
              <a:buNone/>
            </a:pPr>
            <a:r>
              <a:rPr b="0" i="0" lang="en-GB" sz="1000" u="none" cap="none" strike="noStrike">
                <a:solidFill>
                  <a:srgbClr val="FF7B7E"/>
                </a:solidFill>
                <a:latin typeface="Courier New"/>
                <a:ea typeface="Courier New"/>
                <a:cs typeface="Courier New"/>
                <a:sym typeface="Courier New"/>
              </a:rPr>
              <a:t>If scanning is slow, everything is slow.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VERSION 1 · SINGLE THREAD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Iterative DFS.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" name="Google Shape;13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182053"/>
            <a:ext cx="81915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/>
          <p:nvPr/>
        </p:nvSpPr>
        <p:spPr>
          <a:xfrm>
            <a:off x="353378" y="4753928"/>
            <a:ext cx="8437245" cy="21240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One thread. One directory at a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BASELINE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numbers.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476250" y="1865947"/>
            <a:ext cx="4010025" cy="1690688"/>
          </a:xfrm>
          <a:prstGeom prst="roundRect">
            <a:avLst>
              <a:gd fmla="val 6197" name="adj"/>
            </a:avLst>
          </a:prstGeom>
          <a:solidFill>
            <a:srgbClr val="161922"/>
          </a:solidFill>
          <a:ln cap="flat" cmpd="sng" w="9525">
            <a:solidFill>
              <a:srgbClr val="2429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709613" y="2108835"/>
            <a:ext cx="3649599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🐧 LINUX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709613" y="2342198"/>
            <a:ext cx="364959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15,660 </a:t>
            </a:r>
            <a:r>
              <a:rPr b="0" i="0" lang="en-GB" sz="14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ms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709613" y="2875598"/>
            <a:ext cx="3543300" cy="4763"/>
          </a:xfrm>
          <a:prstGeom prst="rect">
            <a:avLst/>
          </a:prstGeom>
          <a:solidFill>
            <a:srgbClr val="24293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0"/>
          <p:cNvSpPr/>
          <p:nvPr/>
        </p:nvSpPr>
        <p:spPr>
          <a:xfrm>
            <a:off x="709613" y="2994660"/>
            <a:ext cx="72961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directories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3812858" y="2994660"/>
            <a:ext cx="47815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547,997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709613" y="3113723"/>
            <a:ext cx="3543300" cy="4763"/>
          </a:xfrm>
          <a:prstGeom prst="rect">
            <a:avLst/>
          </a:prstGeom>
          <a:solidFill>
            <a:srgbClr val="24293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709613" y="3194685"/>
            <a:ext cx="35242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files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3687128" y="3194685"/>
            <a:ext cx="60388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1,937,334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4657725" y="1865947"/>
            <a:ext cx="4010025" cy="1690688"/>
          </a:xfrm>
          <a:prstGeom prst="roundRect">
            <a:avLst>
              <a:gd fmla="val 6197" name="adj"/>
            </a:avLst>
          </a:prstGeom>
          <a:solidFill>
            <a:srgbClr val="161922"/>
          </a:solidFill>
          <a:ln cap="flat" cmpd="sng" w="9525">
            <a:solidFill>
              <a:srgbClr val="2429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4891088" y="2108835"/>
            <a:ext cx="3649599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🪟 WINDOWS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4891088" y="2342198"/>
            <a:ext cx="364959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65,204 </a:t>
            </a:r>
            <a:r>
              <a:rPr b="0" i="0" lang="en-GB" sz="14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ms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4891088" y="2875598"/>
            <a:ext cx="3543300" cy="4763"/>
          </a:xfrm>
          <a:prstGeom prst="rect">
            <a:avLst/>
          </a:prstGeom>
          <a:solidFill>
            <a:srgbClr val="24293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4891088" y="2994660"/>
            <a:ext cx="72961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directories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7994332" y="2994660"/>
            <a:ext cx="47815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223,414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4891088" y="3113723"/>
            <a:ext cx="3543300" cy="4763"/>
          </a:xfrm>
          <a:prstGeom prst="rect">
            <a:avLst/>
          </a:prstGeom>
          <a:solidFill>
            <a:srgbClr val="24293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4891088" y="3194685"/>
            <a:ext cx="35242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files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7868603" y="3194685"/>
            <a:ext cx="60388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1,225,260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476250" y="4240530"/>
            <a:ext cx="8191500" cy="4763"/>
          </a:xfrm>
          <a:prstGeom prst="rect">
            <a:avLst/>
          </a:prstGeom>
          <a:solidFill>
            <a:srgbClr val="24293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476250" y="4435793"/>
            <a:ext cx="8437245" cy="21240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Slow enough to </a:t>
            </a:r>
            <a:r>
              <a:rPr b="0" i="0" lang="en-GB" sz="11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be annoying</a:t>
            </a:r>
            <a:r>
              <a:rPr b="0" i="0" lang="en-GB" sz="11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04 / INSIGHT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Directories are independent.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476250" y="2139791"/>
            <a:ext cx="2540000" cy="1143000"/>
          </a:xfrm>
          <a:prstGeom prst="roundRect">
            <a:avLst>
              <a:gd fmla="val 7500" name="adj"/>
            </a:avLst>
          </a:prstGeom>
          <a:solidFill>
            <a:srgbClr val="161922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633412" y="2316004"/>
            <a:ext cx="2292445" cy="233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urier New"/>
              <a:buNone/>
            </a:pPr>
            <a:r>
              <a:rPr b="0" i="0" lang="en-GB" sz="12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📁 /A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633413" y="2675573"/>
            <a:ext cx="38100" cy="38100"/>
          </a:xfrm>
          <a:prstGeom prst="roundRect">
            <a:avLst>
              <a:gd fmla="val 25000" name="adj"/>
            </a:avLst>
          </a:prstGeom>
          <a:solidFill>
            <a:srgbClr val="5C637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738188" y="2635091"/>
            <a:ext cx="541020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main.cpp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633413" y="2851785"/>
            <a:ext cx="38100" cy="38100"/>
          </a:xfrm>
          <a:prstGeom prst="roundRect">
            <a:avLst>
              <a:gd fmla="val 25000" name="adj"/>
            </a:avLst>
          </a:prstGeom>
          <a:solidFill>
            <a:srgbClr val="5C637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1"/>
          <p:cNvSpPr/>
          <p:nvPr/>
        </p:nvSpPr>
        <p:spPr>
          <a:xfrm>
            <a:off x="738188" y="2811304"/>
            <a:ext cx="415290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util.h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633413" y="3027998"/>
            <a:ext cx="38100" cy="38100"/>
          </a:xfrm>
          <a:prstGeom prst="roundRect">
            <a:avLst>
              <a:gd fmla="val 25000" name="adj"/>
            </a:avLst>
          </a:prstGeom>
          <a:solidFill>
            <a:srgbClr val="5C637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738188" y="2987516"/>
            <a:ext cx="72961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config.json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3302000" y="2139791"/>
            <a:ext cx="2540000" cy="1143000"/>
          </a:xfrm>
          <a:prstGeom prst="roundRect">
            <a:avLst>
              <a:gd fmla="val 7500" name="adj"/>
            </a:avLst>
          </a:prstGeom>
          <a:solidFill>
            <a:srgbClr val="161922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3459163" y="2316004"/>
            <a:ext cx="2292446" cy="233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urier New"/>
              <a:buNone/>
            </a:pPr>
            <a:r>
              <a:rPr b="0" i="0" lang="en-GB" sz="12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📁 /B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3459163" y="2675573"/>
            <a:ext cx="38100" cy="38100"/>
          </a:xfrm>
          <a:prstGeom prst="roundRect">
            <a:avLst>
              <a:gd fmla="val 25000" name="adj"/>
            </a:avLst>
          </a:prstGeom>
          <a:solidFill>
            <a:srgbClr val="5C637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3563938" y="2635091"/>
            <a:ext cx="666750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parser.cpp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3459163" y="2851785"/>
            <a:ext cx="38100" cy="38100"/>
          </a:xfrm>
          <a:prstGeom prst="roundRect">
            <a:avLst>
              <a:gd fmla="val 25000" name="adj"/>
            </a:avLst>
          </a:prstGeom>
          <a:solidFill>
            <a:srgbClr val="5C637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3563938" y="2811304"/>
            <a:ext cx="60388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lexer.cpp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3459163" y="3027998"/>
            <a:ext cx="38100" cy="38100"/>
          </a:xfrm>
          <a:prstGeom prst="roundRect">
            <a:avLst>
              <a:gd fmla="val 25000" name="adj"/>
            </a:avLst>
          </a:prstGeom>
          <a:solidFill>
            <a:srgbClr val="5C637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3563938" y="2987516"/>
            <a:ext cx="47815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token.h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6127750" y="2139791"/>
            <a:ext cx="2540000" cy="1143000"/>
          </a:xfrm>
          <a:prstGeom prst="roundRect">
            <a:avLst>
              <a:gd fmla="val 7500" name="adj"/>
            </a:avLst>
          </a:prstGeom>
          <a:solidFill>
            <a:srgbClr val="161922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6284913" y="2316004"/>
            <a:ext cx="2292445" cy="233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urier New"/>
              <a:buNone/>
            </a:pPr>
            <a:r>
              <a:rPr b="0" i="0" lang="en-GB" sz="12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📁 /C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6284913" y="2675573"/>
            <a:ext cx="38100" cy="38100"/>
          </a:xfrm>
          <a:prstGeom prst="roundRect">
            <a:avLst>
              <a:gd fmla="val 25000" name="adj"/>
            </a:avLst>
          </a:prstGeom>
          <a:solidFill>
            <a:srgbClr val="5C637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6389688" y="2635091"/>
            <a:ext cx="666750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render.cpp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6284913" y="2851785"/>
            <a:ext cx="38100" cy="38100"/>
          </a:xfrm>
          <a:prstGeom prst="roundRect">
            <a:avLst>
              <a:gd fmla="val 25000" name="adj"/>
            </a:avLst>
          </a:prstGeom>
          <a:solidFill>
            <a:srgbClr val="5C637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6389688" y="2811304"/>
            <a:ext cx="541020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mesh.cpp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6284913" y="3027998"/>
            <a:ext cx="38100" cy="38100"/>
          </a:xfrm>
          <a:prstGeom prst="roundRect">
            <a:avLst>
              <a:gd fmla="val 25000" name="adj"/>
            </a:avLst>
          </a:prstGeom>
          <a:solidFill>
            <a:srgbClr val="5C637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6389688" y="2987516"/>
            <a:ext cx="72961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shader.glsl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3179445" y="2520791"/>
            <a:ext cx="90662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3000"/>
              <a:buFont typeface="Courier New"/>
              <a:buNone/>
            </a:pPr>
            <a:r>
              <a:rPr b="0" i="0" lang="en-GB" sz="30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⤍ ✕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096034" y="2520791"/>
            <a:ext cx="90662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3000"/>
              <a:buFont typeface="Courier New"/>
              <a:buNone/>
            </a:pPr>
            <a:r>
              <a:rPr b="0" i="0" lang="en-GB" sz="30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⤍ ✕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476250" y="4240530"/>
            <a:ext cx="8191500" cy="4763"/>
          </a:xfrm>
          <a:prstGeom prst="rect">
            <a:avLst/>
          </a:prstGeom>
          <a:solidFill>
            <a:srgbClr val="24293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476250" y="4435793"/>
            <a:ext cx="8437245" cy="21240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The contents of one directory have </a:t>
            </a:r>
            <a:r>
              <a:rPr b="0" i="0" lang="en-GB" sz="11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nothing to do with </a:t>
            </a:r>
            <a:r>
              <a:rPr b="0" i="0" lang="en-GB" sz="11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the contents of another.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VERSION 2 · SHARED QUEUE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Thread pool.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4" name="Google Shape;2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3300" y="149709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/>
          <p:nvPr/>
        </p:nvSpPr>
        <p:spPr>
          <a:xfrm>
            <a:off x="3524250" y="1847136"/>
            <a:ext cx="3429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/src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6" name="Google Shape;2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9600" y="149709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/>
          <p:nvPr/>
        </p:nvSpPr>
        <p:spPr>
          <a:xfrm>
            <a:off x="4400550" y="1847136"/>
            <a:ext cx="3429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/lib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5900" y="149709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/>
          <p:nvPr/>
        </p:nvSpPr>
        <p:spPr>
          <a:xfrm>
            <a:off x="5276850" y="1847136"/>
            <a:ext cx="3429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/test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4070747" y="2042398"/>
            <a:ext cx="104060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PRODUCING TASKS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1" name="Google Shape;21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3250" y="2175748"/>
            <a:ext cx="28575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/>
          <p:nvPr/>
        </p:nvSpPr>
        <p:spPr>
          <a:xfrm>
            <a:off x="2314575" y="2499598"/>
            <a:ext cx="4514850" cy="447675"/>
          </a:xfrm>
          <a:prstGeom prst="roundRect">
            <a:avLst>
              <a:gd fmla="val 14894" name="adj"/>
            </a:avLst>
          </a:prstGeom>
          <a:solidFill>
            <a:srgbClr val="161922"/>
          </a:solidFill>
          <a:ln cap="flat" cmpd="sng" w="19050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2983230" y="2659142"/>
            <a:ext cx="1301115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900"/>
              <a:buFont typeface="Courier New"/>
              <a:buNone/>
            </a:pPr>
            <a:r>
              <a:rPr b="0" i="0" lang="en-GB" sz="9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Global Task Queue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4398645" y="2613898"/>
            <a:ext cx="219075" cy="219075"/>
          </a:xfrm>
          <a:prstGeom prst="roundRect">
            <a:avLst>
              <a:gd fmla="val 17391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4655820" y="2613898"/>
            <a:ext cx="219075" cy="219075"/>
          </a:xfrm>
          <a:prstGeom prst="roundRect">
            <a:avLst>
              <a:gd fmla="val 17391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4912995" y="2613898"/>
            <a:ext cx="219075" cy="219075"/>
          </a:xfrm>
          <a:prstGeom prst="roundRect">
            <a:avLst>
              <a:gd fmla="val 17391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5170170" y="2613898"/>
            <a:ext cx="219075" cy="219075"/>
          </a:xfrm>
          <a:prstGeom prst="roundRect">
            <a:avLst>
              <a:gd fmla="val 17391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5427345" y="2613898"/>
            <a:ext cx="219075" cy="219075"/>
          </a:xfrm>
          <a:prstGeom prst="roundRect">
            <a:avLst>
              <a:gd fmla="val 17391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5684520" y="2613898"/>
            <a:ext cx="219075" cy="219075"/>
          </a:xfrm>
          <a:prstGeom prst="roundRect">
            <a:avLst>
              <a:gd fmla="val 17391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5941695" y="2613898"/>
            <a:ext cx="219075" cy="219075"/>
          </a:xfrm>
          <a:prstGeom prst="roundRect">
            <a:avLst>
              <a:gd fmla="val 17391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6677025" y="2404348"/>
            <a:ext cx="247650" cy="247650"/>
          </a:xfrm>
          <a:prstGeom prst="ellipse">
            <a:avLst/>
          </a:prstGeom>
          <a:solidFill>
            <a:srgbClr val="0F1117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16200000" dist="50800">
              <a:srgbClr val="00B4D8">
                <a:alpha val="2509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" name="Google Shape;22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8463" y="2475786"/>
            <a:ext cx="104775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3" name="Google Shape;22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43250" y="2985373"/>
            <a:ext cx="28575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/>
          <p:nvPr/>
        </p:nvSpPr>
        <p:spPr>
          <a:xfrm>
            <a:off x="4070747" y="3309223"/>
            <a:ext cx="104060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CONSUMING TASKS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2833688" y="3490198"/>
            <a:ext cx="904875" cy="252413"/>
          </a:xfrm>
          <a:prstGeom prst="roundRect">
            <a:avLst>
              <a:gd fmla="val 50000" name="adj"/>
            </a:avLst>
          </a:prstGeom>
          <a:solidFill>
            <a:srgbClr val="161922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2943225" y="3587830"/>
            <a:ext cx="57150" cy="571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3038475" y="3561636"/>
            <a:ext cx="6096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worker ·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4119563" y="3490198"/>
            <a:ext cx="904875" cy="252413"/>
          </a:xfrm>
          <a:prstGeom prst="roundRect">
            <a:avLst>
              <a:gd fmla="val 50000" name="adj"/>
            </a:avLst>
          </a:prstGeom>
          <a:solidFill>
            <a:srgbClr val="161922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4229100" y="3587830"/>
            <a:ext cx="57150" cy="571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4324350" y="3561636"/>
            <a:ext cx="6096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worker ·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5405438" y="3490198"/>
            <a:ext cx="904875" cy="252413"/>
          </a:xfrm>
          <a:prstGeom prst="roundRect">
            <a:avLst>
              <a:gd fmla="val 50000" name="adj"/>
            </a:avLst>
          </a:prstGeom>
          <a:solidFill>
            <a:srgbClr val="161922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5514975" y="3587830"/>
            <a:ext cx="57150" cy="571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5610225" y="3561636"/>
            <a:ext cx="6096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worker ·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1814513" y="3895011"/>
            <a:ext cx="5514975" cy="552450"/>
          </a:xfrm>
          <a:prstGeom prst="roundRect">
            <a:avLst>
              <a:gd fmla="val 8621" name="adj"/>
            </a:avLst>
          </a:prstGeom>
          <a:solidFill>
            <a:srgbClr val="161922"/>
          </a:solidFill>
          <a:ln cap="flat" cmpd="sng" w="9525">
            <a:solidFill>
              <a:srgbClr val="2429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1869901" y="3985498"/>
            <a:ext cx="540419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⌐ </a:t>
            </a:r>
            <a:r>
              <a:rPr b="0" i="0" lang="en-GB" sz="1000" u="none" cap="none" strike="noStrike">
                <a:solidFill>
                  <a:srgbClr val="8A8F9C"/>
                </a:solidFill>
                <a:highlight>
                  <a:srgbClr val="161922"/>
                </a:highlight>
                <a:latin typeface="Arial"/>
                <a:ea typeface="Arial"/>
                <a:cs typeface="Arial"/>
                <a:sym typeface="Arial"/>
              </a:rPr>
              <a:t>Same threads are both producers and consumers — when a worker scans a directory, every subdirectory it finds becomes a new task pushed back into the queue.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VERSION 2 · RESULTS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 improvement — on most platforms.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476250" y="1980248"/>
            <a:ext cx="4010025" cy="1462088"/>
          </a:xfrm>
          <a:prstGeom prst="roundRect">
            <a:avLst>
              <a:gd fmla="val 7166" name="adj"/>
            </a:avLst>
          </a:prstGeom>
          <a:solidFill>
            <a:srgbClr val="161922"/>
          </a:solidFill>
          <a:ln cap="flat" cmpd="sng" w="9525">
            <a:solidFill>
              <a:srgbClr val="2429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3437096" y="2127885"/>
            <a:ext cx="901542" cy="214313"/>
          </a:xfrm>
          <a:prstGeom prst="roundRect">
            <a:avLst>
              <a:gd fmla="val 50000" name="adj"/>
            </a:avLst>
          </a:prstGeom>
          <a:solidFill>
            <a:srgbClr val="00B4D8">
              <a:alpha val="1803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3513296" y="2165985"/>
            <a:ext cx="787242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1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1.6× faster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709613" y="2223135"/>
            <a:ext cx="3649599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LINUX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709613" y="2427923"/>
            <a:ext cx="364959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10,031 </a:t>
            </a:r>
            <a:r>
              <a:rPr b="0" i="0" lang="en-GB" sz="14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ms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709613" y="2961323"/>
            <a:ext cx="3543300" cy="4763"/>
          </a:xfrm>
          <a:prstGeom prst="rect">
            <a:avLst/>
          </a:prstGeom>
          <a:solidFill>
            <a:srgbClr val="24293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709613" y="3080385"/>
            <a:ext cx="22669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was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3687128" y="3080385"/>
            <a:ext cx="60388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800"/>
              <a:buFont typeface="Courier New"/>
              <a:buNone/>
            </a:pPr>
            <a:r>
              <a:rPr b="0" i="0" lang="en-GB" sz="800" u="none" cap="none" strike="sng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15,660 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4657725" y="1980248"/>
            <a:ext cx="4010025" cy="1462088"/>
          </a:xfrm>
          <a:prstGeom prst="roundRect">
            <a:avLst>
              <a:gd fmla="val 7166" name="adj"/>
            </a:avLst>
          </a:prstGeom>
          <a:solidFill>
            <a:srgbClr val="161922"/>
          </a:solidFill>
          <a:ln cap="flat" cmpd="sng" w="9525">
            <a:solidFill>
              <a:srgbClr val="2429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7618571" y="2127885"/>
            <a:ext cx="901541" cy="214313"/>
          </a:xfrm>
          <a:prstGeom prst="roundRect">
            <a:avLst>
              <a:gd fmla="val 50000" name="adj"/>
            </a:avLst>
          </a:prstGeom>
          <a:solidFill>
            <a:srgbClr val="00B4D8">
              <a:alpha val="1803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7694771" y="2165985"/>
            <a:ext cx="787241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1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9.2× faster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4891088" y="2223135"/>
            <a:ext cx="3649599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WINDOWS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4891088" y="2427923"/>
            <a:ext cx="364959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7,058 </a:t>
            </a:r>
            <a:r>
              <a:rPr b="0" i="0" lang="en-GB" sz="14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ms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4891088" y="2961323"/>
            <a:ext cx="3543300" cy="4763"/>
          </a:xfrm>
          <a:prstGeom prst="rect">
            <a:avLst/>
          </a:prstGeom>
          <a:solidFill>
            <a:srgbClr val="24293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4891088" y="3080385"/>
            <a:ext cx="22669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was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7868603" y="3080385"/>
            <a:ext cx="60388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800"/>
              <a:buFont typeface="Courier New"/>
              <a:buNone/>
            </a:pPr>
            <a:r>
              <a:rPr b="0" i="0" lang="en-GB" sz="800" u="none" cap="none" strike="sng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65,204 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476250" y="4240530"/>
            <a:ext cx="8191500" cy="4763"/>
          </a:xfrm>
          <a:prstGeom prst="rect">
            <a:avLst/>
          </a:prstGeom>
          <a:solidFill>
            <a:srgbClr val="24293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476250" y="4435793"/>
            <a:ext cx="8437245" cy="21240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More threads hide I/O latency. </a:t>
            </a:r>
            <a:r>
              <a:rPr b="0" i="0" lang="en-GB" sz="11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But look at that one mutex…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PROBLEM #1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Everyone fights over one lock.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3094673" y="1913811"/>
            <a:ext cx="2954655" cy="447675"/>
          </a:xfrm>
          <a:prstGeom prst="roundRect">
            <a:avLst>
              <a:gd fmla="val 14894" name="adj"/>
            </a:avLst>
          </a:prstGeom>
          <a:solidFill>
            <a:srgbClr val="161922"/>
          </a:solidFill>
          <a:ln cap="flat" cmpd="sng" w="1905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0" rotWithShape="0" algn="bl" dir="16200000" dist="50800">
              <a:srgbClr val="E5484D">
                <a:alpha val="2509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3256598" y="2078117"/>
            <a:ext cx="110680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E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7B7E"/>
                </a:solidFill>
                <a:latin typeface="Courier New"/>
                <a:ea typeface="Courier New"/>
                <a:cs typeface="Courier New"/>
                <a:sym typeface="Courier New"/>
              </a:rPr>
              <a:t>Global Task Queue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4487228" y="2028111"/>
            <a:ext cx="219075" cy="219075"/>
          </a:xfrm>
          <a:prstGeom prst="roundRect">
            <a:avLst>
              <a:gd fmla="val 17391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"/>
          <p:cNvSpPr/>
          <p:nvPr/>
        </p:nvSpPr>
        <p:spPr>
          <a:xfrm>
            <a:off x="4782503" y="2028111"/>
            <a:ext cx="219075" cy="219075"/>
          </a:xfrm>
          <a:prstGeom prst="roundRect">
            <a:avLst>
              <a:gd fmla="val 17391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4"/>
          <p:cNvSpPr/>
          <p:nvPr/>
        </p:nvSpPr>
        <p:spPr>
          <a:xfrm>
            <a:off x="5077778" y="2028111"/>
            <a:ext cx="219075" cy="219075"/>
          </a:xfrm>
          <a:prstGeom prst="roundRect">
            <a:avLst>
              <a:gd fmla="val 17391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5373053" y="2028111"/>
            <a:ext cx="219075" cy="219075"/>
          </a:xfrm>
          <a:prstGeom prst="roundRect">
            <a:avLst>
              <a:gd fmla="val 17391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5668328" y="2028111"/>
            <a:ext cx="219075" cy="219075"/>
          </a:xfrm>
          <a:prstGeom prst="roundRect">
            <a:avLst>
              <a:gd fmla="val 17391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5896928" y="1818561"/>
            <a:ext cx="247650" cy="247650"/>
          </a:xfrm>
          <a:prstGeom prst="ellipse">
            <a:avLst/>
          </a:prstGeom>
          <a:solidFill>
            <a:srgbClr val="0F1117"/>
          </a:solidFill>
          <a:ln cap="flat" cmpd="sng" w="9525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16200000" dist="50800">
              <a:srgbClr val="E5484D">
                <a:alpha val="5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6" name="Google Shape;27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8365" y="1889998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/>
          <p:nvPr/>
        </p:nvSpPr>
        <p:spPr>
          <a:xfrm>
            <a:off x="2009775" y="2628186"/>
            <a:ext cx="9525" cy="28575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1574007" y="2913936"/>
            <a:ext cx="881063" cy="519112"/>
          </a:xfrm>
          <a:prstGeom prst="roundRect">
            <a:avLst>
              <a:gd fmla="val 12844" name="adj"/>
            </a:avLst>
          </a:prstGeom>
          <a:solidFill>
            <a:srgbClr val="161922"/>
          </a:solidFill>
          <a:ln cap="flat" cmpd="sng" w="9525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1674019" y="3032998"/>
            <a:ext cx="719138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worker ·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1808797" y="3218736"/>
            <a:ext cx="44958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waiting…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3714750" y="2628186"/>
            <a:ext cx="9525" cy="28575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3278982" y="2913936"/>
            <a:ext cx="881063" cy="519112"/>
          </a:xfrm>
          <a:prstGeom prst="roundRect">
            <a:avLst>
              <a:gd fmla="val 12844" name="adj"/>
            </a:avLst>
          </a:prstGeom>
          <a:solidFill>
            <a:srgbClr val="161922"/>
          </a:solidFill>
          <a:ln cap="flat" cmpd="sng" w="9525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4"/>
          <p:cNvSpPr/>
          <p:nvPr/>
        </p:nvSpPr>
        <p:spPr>
          <a:xfrm>
            <a:off x="3378994" y="3032998"/>
            <a:ext cx="719138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worker ·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3513773" y="3218736"/>
            <a:ext cx="44958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waiting…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5419725" y="2628186"/>
            <a:ext cx="9525" cy="28575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4983957" y="2913936"/>
            <a:ext cx="881063" cy="519112"/>
          </a:xfrm>
          <a:prstGeom prst="roundRect">
            <a:avLst>
              <a:gd fmla="val 12844" name="adj"/>
            </a:avLst>
          </a:prstGeom>
          <a:solidFill>
            <a:srgbClr val="161922"/>
          </a:solidFill>
          <a:ln cap="flat" cmpd="sng" w="9525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5083969" y="3032998"/>
            <a:ext cx="719138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worker ·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5218748" y="3218736"/>
            <a:ext cx="44958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waiting…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7124700" y="2628186"/>
            <a:ext cx="9525" cy="28575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"/>
          <p:cNvSpPr/>
          <p:nvPr/>
        </p:nvSpPr>
        <p:spPr>
          <a:xfrm>
            <a:off x="6688932" y="2913936"/>
            <a:ext cx="881063" cy="519112"/>
          </a:xfrm>
          <a:prstGeom prst="roundRect">
            <a:avLst>
              <a:gd fmla="val 12844" name="adj"/>
            </a:avLst>
          </a:prstGeom>
          <a:solidFill>
            <a:srgbClr val="161922"/>
          </a:solidFill>
          <a:ln cap="flat" cmpd="sng" w="9525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6788944" y="3032998"/>
            <a:ext cx="719138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worker ·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6923723" y="3218736"/>
            <a:ext cx="44958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waiting…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476250" y="4355307"/>
            <a:ext cx="8191500" cy="407194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476250" y="4355307"/>
            <a:ext cx="14288" cy="407194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"/>
          <p:cNvSpPr/>
          <p:nvPr/>
        </p:nvSpPr>
        <p:spPr>
          <a:xfrm>
            <a:off x="661988" y="4479132"/>
            <a:ext cx="8080058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E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F7B7E"/>
                </a:solidFill>
                <a:latin typeface="Arial"/>
                <a:ea typeface="Arial"/>
                <a:cs typeface="Arial"/>
                <a:sym typeface="Arial"/>
              </a:rPr>
              <a:t>Mutex contention </a:t>
            </a:r>
            <a:r>
              <a:rPr b="0" i="0" lang="en-GB" sz="1100" u="none" cap="none" strike="noStrike">
                <a:solidFill>
                  <a:srgbClr val="D7DAE3"/>
                </a:solidFill>
                <a:highlight>
                  <a:srgbClr val="161922"/>
                </a:highlight>
                <a:latin typeface="Arial"/>
                <a:ea typeface="Arial"/>
                <a:cs typeface="Arial"/>
                <a:sym typeface="Arial"/>
              </a:rPr>
              <a:t>— every </a:t>
            </a:r>
            <a:r>
              <a:rPr b="0" i="0" lang="en-GB" sz="11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submit() </a:t>
            </a:r>
            <a:r>
              <a:rPr b="0" i="0" lang="en-GB" sz="1100" u="none" cap="none" strike="noStrike">
                <a:solidFill>
                  <a:srgbClr val="D7DAE3"/>
                </a:solidFill>
                <a:highlight>
                  <a:srgbClr val="161922"/>
                </a:highlight>
                <a:latin typeface="Arial"/>
                <a:ea typeface="Arial"/>
                <a:cs typeface="Arial"/>
                <a:sym typeface="Arial"/>
              </a:rPr>
              <a:t>and every </a:t>
            </a:r>
            <a:r>
              <a:rPr b="0" i="0" lang="en-GB" sz="11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pop() </a:t>
            </a:r>
            <a:r>
              <a:rPr b="0" i="0" lang="en-GB" sz="1100" u="none" cap="none" strike="noStrike">
                <a:solidFill>
                  <a:srgbClr val="D7DAE3"/>
                </a:solidFill>
                <a:highlight>
                  <a:srgbClr val="161922"/>
                </a:highlight>
                <a:latin typeface="Arial"/>
                <a:ea typeface="Arial"/>
                <a:cs typeface="Arial"/>
                <a:sym typeface="Arial"/>
              </a:rPr>
              <a:t>requires this lock. It's a tax on every unit of work.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5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FIX #1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Give each thread its own queue.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3535918" y="1491139"/>
            <a:ext cx="2072164" cy="266700"/>
          </a:xfrm>
          <a:prstGeom prst="roundRect">
            <a:avLst>
              <a:gd fmla="val 21429" name="adj"/>
            </a:avLst>
          </a:prstGeom>
          <a:solidFill>
            <a:srgbClr val="161922">
              <a:alpha val="50196"/>
            </a:srgbClr>
          </a:solidFill>
          <a:ln cap="flat" cmpd="sng" w="9525">
            <a:solidFill>
              <a:srgbClr val="323849">
                <a:alpha val="50196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5"/>
          <p:cNvSpPr/>
          <p:nvPr/>
        </p:nvSpPr>
        <p:spPr>
          <a:xfrm>
            <a:off x="3654981" y="1576864"/>
            <a:ext cx="132003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Global Queue (fallback)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5041345" y="1562577"/>
            <a:ext cx="123825" cy="123825"/>
          </a:xfrm>
          <a:prstGeom prst="roundRect">
            <a:avLst>
              <a:gd fmla="val 15385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5"/>
          <p:cNvSpPr/>
          <p:nvPr/>
        </p:nvSpPr>
        <p:spPr>
          <a:xfrm>
            <a:off x="5203270" y="1562577"/>
            <a:ext cx="123825" cy="123825"/>
          </a:xfrm>
          <a:prstGeom prst="roundRect">
            <a:avLst>
              <a:gd fmla="val 15385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5"/>
          <p:cNvSpPr/>
          <p:nvPr/>
        </p:nvSpPr>
        <p:spPr>
          <a:xfrm>
            <a:off x="5365195" y="1562577"/>
            <a:ext cx="123825" cy="123825"/>
          </a:xfrm>
          <a:prstGeom prst="roundRect">
            <a:avLst>
              <a:gd fmla="val 15385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1228725" y="1900714"/>
            <a:ext cx="400050" cy="400050"/>
          </a:xfrm>
          <a:prstGeom prst="ellipse">
            <a:avLst/>
          </a:prstGeom>
          <a:solidFill>
            <a:srgbClr val="161922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1219200" y="1910239"/>
            <a:ext cx="419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urier New"/>
              <a:buNone/>
            </a:pPr>
            <a:r>
              <a:rPr b="1" i="0" lang="en-GB" sz="11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T1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1291590" y="2348389"/>
            <a:ext cx="312420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600"/>
              <a:buFont typeface="Courier New"/>
              <a:buNone/>
            </a:pPr>
            <a:r>
              <a:rPr b="0" i="0" lang="en-GB" sz="6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worker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1990725" y="2057877"/>
            <a:ext cx="276225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600"/>
              <a:buFont typeface="Courier New"/>
              <a:buNone/>
            </a:pPr>
            <a:r>
              <a:rPr b="0" i="0" lang="en-GB" sz="6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2" name="Google Shape;3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6475" y="2067402"/>
            <a:ext cx="571500" cy="6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/>
          <p:nvPr/>
        </p:nvSpPr>
        <p:spPr>
          <a:xfrm>
            <a:off x="1990725" y="2191227"/>
            <a:ext cx="276225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600"/>
              <a:buFont typeface="Courier New"/>
              <a:buNone/>
            </a:pPr>
            <a:r>
              <a:rPr b="0" i="0" lang="en-GB" sz="6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pop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4" name="Google Shape;31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6475" y="2200752"/>
            <a:ext cx="571500" cy="6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5"/>
          <p:cNvSpPr/>
          <p:nvPr/>
        </p:nvSpPr>
        <p:spPr>
          <a:xfrm>
            <a:off x="2933700" y="2005489"/>
            <a:ext cx="4791075" cy="323850"/>
          </a:xfrm>
          <a:prstGeom prst="roundRect">
            <a:avLst>
              <a:gd fmla="val 17647" name="adj"/>
            </a:avLst>
          </a:prstGeom>
          <a:solidFill>
            <a:srgbClr val="161922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16200000" dist="50800">
              <a:srgbClr val="00B4D8">
                <a:alpha val="1215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5"/>
          <p:cNvSpPr/>
          <p:nvPr/>
        </p:nvSpPr>
        <p:spPr>
          <a:xfrm>
            <a:off x="3033713" y="2129314"/>
            <a:ext cx="288132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FRONT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3369469" y="2076927"/>
            <a:ext cx="180975" cy="180975"/>
          </a:xfrm>
          <a:prstGeom prst="roundRect">
            <a:avLst>
              <a:gd fmla="val 15789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5"/>
          <p:cNvSpPr/>
          <p:nvPr/>
        </p:nvSpPr>
        <p:spPr>
          <a:xfrm>
            <a:off x="3598069" y="2076927"/>
            <a:ext cx="180975" cy="180975"/>
          </a:xfrm>
          <a:prstGeom prst="roundRect">
            <a:avLst>
              <a:gd fmla="val 15789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5"/>
          <p:cNvSpPr/>
          <p:nvPr/>
        </p:nvSpPr>
        <p:spPr>
          <a:xfrm>
            <a:off x="3826669" y="2076927"/>
            <a:ext cx="180975" cy="180975"/>
          </a:xfrm>
          <a:prstGeom prst="roundRect">
            <a:avLst>
              <a:gd fmla="val 15789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5"/>
          <p:cNvSpPr/>
          <p:nvPr/>
        </p:nvSpPr>
        <p:spPr>
          <a:xfrm>
            <a:off x="4055269" y="2076927"/>
            <a:ext cx="180975" cy="180975"/>
          </a:xfrm>
          <a:prstGeom prst="roundRect">
            <a:avLst>
              <a:gd fmla="val 15789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5"/>
          <p:cNvSpPr/>
          <p:nvPr/>
        </p:nvSpPr>
        <p:spPr>
          <a:xfrm>
            <a:off x="7424738" y="2129314"/>
            <a:ext cx="238125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2" name="Google Shape;32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4800" y="1934052"/>
            <a:ext cx="1524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5"/>
          <p:cNvSpPr/>
          <p:nvPr/>
        </p:nvSpPr>
        <p:spPr>
          <a:xfrm>
            <a:off x="7840980" y="2334102"/>
            <a:ext cx="358140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fallback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1228725" y="2605564"/>
            <a:ext cx="400050" cy="400050"/>
          </a:xfrm>
          <a:prstGeom prst="ellipse">
            <a:avLst/>
          </a:prstGeom>
          <a:solidFill>
            <a:srgbClr val="161922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5"/>
          <p:cNvSpPr/>
          <p:nvPr/>
        </p:nvSpPr>
        <p:spPr>
          <a:xfrm>
            <a:off x="1219200" y="2615089"/>
            <a:ext cx="419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urier New"/>
              <a:buNone/>
            </a:pPr>
            <a:r>
              <a:rPr b="1" i="0" lang="en-GB" sz="11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T2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1291590" y="3053239"/>
            <a:ext cx="312420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600"/>
              <a:buFont typeface="Courier New"/>
              <a:buNone/>
            </a:pPr>
            <a:r>
              <a:rPr b="0" i="0" lang="en-GB" sz="6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worker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1990725" y="2762726"/>
            <a:ext cx="276225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600"/>
              <a:buFont typeface="Courier New"/>
              <a:buNone/>
            </a:pPr>
            <a:r>
              <a:rPr b="0" i="0" lang="en-GB" sz="6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8" name="Google Shape;3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6475" y="2772251"/>
            <a:ext cx="571500" cy="6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5"/>
          <p:cNvSpPr/>
          <p:nvPr/>
        </p:nvSpPr>
        <p:spPr>
          <a:xfrm>
            <a:off x="1990725" y="2896076"/>
            <a:ext cx="276225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600"/>
              <a:buFont typeface="Courier New"/>
              <a:buNone/>
            </a:pPr>
            <a:r>
              <a:rPr b="0" i="0" lang="en-GB" sz="6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pop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0" name="Google Shape;33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6475" y="2905601"/>
            <a:ext cx="571500" cy="6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5"/>
          <p:cNvSpPr/>
          <p:nvPr/>
        </p:nvSpPr>
        <p:spPr>
          <a:xfrm>
            <a:off x="2933700" y="2710339"/>
            <a:ext cx="4791075" cy="323850"/>
          </a:xfrm>
          <a:prstGeom prst="roundRect">
            <a:avLst>
              <a:gd fmla="val 17647" name="adj"/>
            </a:avLst>
          </a:prstGeom>
          <a:solidFill>
            <a:srgbClr val="161922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16200000" dist="50800">
              <a:srgbClr val="00B4D8">
                <a:alpha val="1215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5"/>
          <p:cNvSpPr/>
          <p:nvPr/>
        </p:nvSpPr>
        <p:spPr>
          <a:xfrm>
            <a:off x="3033713" y="2834164"/>
            <a:ext cx="288132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FRONT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3369469" y="2781776"/>
            <a:ext cx="180975" cy="180975"/>
          </a:xfrm>
          <a:prstGeom prst="roundRect">
            <a:avLst>
              <a:gd fmla="val 15789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5"/>
          <p:cNvSpPr/>
          <p:nvPr/>
        </p:nvSpPr>
        <p:spPr>
          <a:xfrm>
            <a:off x="3598069" y="2781776"/>
            <a:ext cx="180975" cy="180975"/>
          </a:xfrm>
          <a:prstGeom prst="roundRect">
            <a:avLst>
              <a:gd fmla="val 15789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5"/>
          <p:cNvSpPr/>
          <p:nvPr/>
        </p:nvSpPr>
        <p:spPr>
          <a:xfrm>
            <a:off x="3826669" y="2781776"/>
            <a:ext cx="180975" cy="180975"/>
          </a:xfrm>
          <a:prstGeom prst="roundRect">
            <a:avLst>
              <a:gd fmla="val 15789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5"/>
          <p:cNvSpPr/>
          <p:nvPr/>
        </p:nvSpPr>
        <p:spPr>
          <a:xfrm>
            <a:off x="7424738" y="2834164"/>
            <a:ext cx="238125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7" name="Google Shape;33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4800" y="2638901"/>
            <a:ext cx="1524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5"/>
          <p:cNvSpPr/>
          <p:nvPr/>
        </p:nvSpPr>
        <p:spPr>
          <a:xfrm>
            <a:off x="7840980" y="3038951"/>
            <a:ext cx="358140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fallback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1228725" y="3310414"/>
            <a:ext cx="400050" cy="400050"/>
          </a:xfrm>
          <a:prstGeom prst="ellipse">
            <a:avLst/>
          </a:prstGeom>
          <a:solidFill>
            <a:srgbClr val="161922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5"/>
          <p:cNvSpPr/>
          <p:nvPr/>
        </p:nvSpPr>
        <p:spPr>
          <a:xfrm>
            <a:off x="1219200" y="3319939"/>
            <a:ext cx="419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urier New"/>
              <a:buNone/>
            </a:pPr>
            <a:r>
              <a:rPr b="1" i="0" lang="en-GB" sz="11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T3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1291590" y="3758089"/>
            <a:ext cx="312420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600"/>
              <a:buFont typeface="Courier New"/>
              <a:buNone/>
            </a:pPr>
            <a:r>
              <a:rPr b="0" i="0" lang="en-GB" sz="6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worker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1990725" y="3467576"/>
            <a:ext cx="276225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600"/>
              <a:buFont typeface="Courier New"/>
              <a:buNone/>
            </a:pPr>
            <a:r>
              <a:rPr b="0" i="0" lang="en-GB" sz="6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3" name="Google Shape;34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6475" y="3477101"/>
            <a:ext cx="571500" cy="6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5"/>
          <p:cNvSpPr/>
          <p:nvPr/>
        </p:nvSpPr>
        <p:spPr>
          <a:xfrm>
            <a:off x="1990725" y="3600926"/>
            <a:ext cx="276225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600"/>
              <a:buFont typeface="Courier New"/>
              <a:buNone/>
            </a:pPr>
            <a:r>
              <a:rPr b="0" i="0" lang="en-GB" sz="6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pop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5" name="Google Shape;34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6475" y="3610451"/>
            <a:ext cx="571500" cy="6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5"/>
          <p:cNvSpPr/>
          <p:nvPr/>
        </p:nvSpPr>
        <p:spPr>
          <a:xfrm>
            <a:off x="2933700" y="3415189"/>
            <a:ext cx="4791075" cy="323850"/>
          </a:xfrm>
          <a:prstGeom prst="roundRect">
            <a:avLst>
              <a:gd fmla="val 17647" name="adj"/>
            </a:avLst>
          </a:prstGeom>
          <a:solidFill>
            <a:srgbClr val="161922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16200000" dist="50800">
              <a:srgbClr val="00B4D8">
                <a:alpha val="1215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5"/>
          <p:cNvSpPr/>
          <p:nvPr/>
        </p:nvSpPr>
        <p:spPr>
          <a:xfrm>
            <a:off x="3033713" y="3539014"/>
            <a:ext cx="288132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FRONT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3369469" y="3486626"/>
            <a:ext cx="180975" cy="180975"/>
          </a:xfrm>
          <a:prstGeom prst="roundRect">
            <a:avLst>
              <a:gd fmla="val 15789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5"/>
          <p:cNvSpPr/>
          <p:nvPr/>
        </p:nvSpPr>
        <p:spPr>
          <a:xfrm>
            <a:off x="3598069" y="3486626"/>
            <a:ext cx="180975" cy="180975"/>
          </a:xfrm>
          <a:prstGeom prst="roundRect">
            <a:avLst>
              <a:gd fmla="val 15789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5"/>
          <p:cNvSpPr/>
          <p:nvPr/>
        </p:nvSpPr>
        <p:spPr>
          <a:xfrm>
            <a:off x="3826669" y="3486626"/>
            <a:ext cx="180975" cy="180975"/>
          </a:xfrm>
          <a:prstGeom prst="roundRect">
            <a:avLst>
              <a:gd fmla="val 15789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5"/>
          <p:cNvSpPr/>
          <p:nvPr/>
        </p:nvSpPr>
        <p:spPr>
          <a:xfrm>
            <a:off x="4055269" y="3486626"/>
            <a:ext cx="180975" cy="180975"/>
          </a:xfrm>
          <a:prstGeom prst="roundRect">
            <a:avLst>
              <a:gd fmla="val 15789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5"/>
          <p:cNvSpPr/>
          <p:nvPr/>
        </p:nvSpPr>
        <p:spPr>
          <a:xfrm>
            <a:off x="4283869" y="3486626"/>
            <a:ext cx="180975" cy="180975"/>
          </a:xfrm>
          <a:prstGeom prst="roundRect">
            <a:avLst>
              <a:gd fmla="val 15789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5"/>
          <p:cNvSpPr/>
          <p:nvPr/>
        </p:nvSpPr>
        <p:spPr>
          <a:xfrm>
            <a:off x="7424738" y="3539014"/>
            <a:ext cx="238125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4" name="Google Shape;35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4800" y="3343751"/>
            <a:ext cx="1524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5"/>
          <p:cNvSpPr/>
          <p:nvPr/>
        </p:nvSpPr>
        <p:spPr>
          <a:xfrm>
            <a:off x="7840980" y="3743801"/>
            <a:ext cx="358140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fallback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1874043" y="4081939"/>
            <a:ext cx="5395913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Each thread talks to its </a:t>
            </a:r>
            <a:r>
              <a:rPr b="0" i="0" lang="en-GB" sz="10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own queue first </a:t>
            </a:r>
            <a:r>
              <a:rPr b="0" i="0" lang="en-GB" sz="10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— the shared queue only sees traffic when a worker has nothing left to do.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6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PROBLEM #2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6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Load imbalance.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6"/>
          <p:cNvSpPr/>
          <p:nvPr/>
        </p:nvSpPr>
        <p:spPr>
          <a:xfrm>
            <a:off x="1470422" y="3361373"/>
            <a:ext cx="666750" cy="152400"/>
          </a:xfrm>
          <a:prstGeom prst="roundRect">
            <a:avLst>
              <a:gd fmla="val 12500" name="adj"/>
            </a:avLst>
          </a:prstGeom>
          <a:solidFill>
            <a:srgbClr val="00B4D8">
              <a:alpha val="63137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6"/>
          <p:cNvSpPr/>
          <p:nvPr/>
        </p:nvSpPr>
        <p:spPr>
          <a:xfrm>
            <a:off x="1470422" y="3180398"/>
            <a:ext cx="666750" cy="152400"/>
          </a:xfrm>
          <a:prstGeom prst="roundRect">
            <a:avLst>
              <a:gd fmla="val 12500" name="adj"/>
            </a:avLst>
          </a:prstGeom>
          <a:solidFill>
            <a:srgbClr val="00B4D8">
              <a:alpha val="9019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6"/>
          <p:cNvSpPr/>
          <p:nvPr/>
        </p:nvSpPr>
        <p:spPr>
          <a:xfrm>
            <a:off x="1470422" y="2999423"/>
            <a:ext cx="666750" cy="152400"/>
          </a:xfrm>
          <a:prstGeom prst="roundRect">
            <a:avLst>
              <a:gd fmla="val 12500" name="adj"/>
            </a:avLst>
          </a:prstGeom>
          <a:solidFill>
            <a:srgbClr val="00B4D8">
              <a:alpha val="63137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6"/>
          <p:cNvSpPr/>
          <p:nvPr/>
        </p:nvSpPr>
        <p:spPr>
          <a:xfrm>
            <a:off x="1470422" y="2818448"/>
            <a:ext cx="666750" cy="152400"/>
          </a:xfrm>
          <a:prstGeom prst="roundRect">
            <a:avLst>
              <a:gd fmla="val 12500" name="adj"/>
            </a:avLst>
          </a:prstGeom>
          <a:solidFill>
            <a:srgbClr val="00B4D8">
              <a:alpha val="9019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6"/>
          <p:cNvSpPr/>
          <p:nvPr/>
        </p:nvSpPr>
        <p:spPr>
          <a:xfrm>
            <a:off x="1470422" y="2637473"/>
            <a:ext cx="666750" cy="152400"/>
          </a:xfrm>
          <a:prstGeom prst="roundRect">
            <a:avLst>
              <a:gd fmla="val 12500" name="adj"/>
            </a:avLst>
          </a:prstGeom>
          <a:solidFill>
            <a:srgbClr val="00B4D8">
              <a:alpha val="63137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1470422" y="2456498"/>
            <a:ext cx="666750" cy="152400"/>
          </a:xfrm>
          <a:prstGeom prst="roundRect">
            <a:avLst>
              <a:gd fmla="val 12500" name="adj"/>
            </a:avLst>
          </a:prstGeom>
          <a:solidFill>
            <a:srgbClr val="00B4D8">
              <a:alpha val="9019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6"/>
          <p:cNvSpPr/>
          <p:nvPr/>
        </p:nvSpPr>
        <p:spPr>
          <a:xfrm>
            <a:off x="1470422" y="2275523"/>
            <a:ext cx="666750" cy="152400"/>
          </a:xfrm>
          <a:prstGeom prst="roundRect">
            <a:avLst>
              <a:gd fmla="val 12500" name="adj"/>
            </a:avLst>
          </a:prstGeom>
          <a:solidFill>
            <a:srgbClr val="00B4D8">
              <a:alpha val="63137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6"/>
          <p:cNvSpPr/>
          <p:nvPr/>
        </p:nvSpPr>
        <p:spPr>
          <a:xfrm>
            <a:off x="1470422" y="2094548"/>
            <a:ext cx="666750" cy="152400"/>
          </a:xfrm>
          <a:prstGeom prst="roundRect">
            <a:avLst>
              <a:gd fmla="val 12500" name="adj"/>
            </a:avLst>
          </a:prstGeom>
          <a:solidFill>
            <a:srgbClr val="00B4D8">
              <a:alpha val="9019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6"/>
          <p:cNvSpPr/>
          <p:nvPr/>
        </p:nvSpPr>
        <p:spPr>
          <a:xfrm>
            <a:off x="1470422" y="1913573"/>
            <a:ext cx="666750" cy="152400"/>
          </a:xfrm>
          <a:prstGeom prst="roundRect">
            <a:avLst>
              <a:gd fmla="val 12500" name="adj"/>
            </a:avLst>
          </a:prstGeom>
          <a:solidFill>
            <a:srgbClr val="00B4D8">
              <a:alpha val="63137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6"/>
          <p:cNvSpPr/>
          <p:nvPr/>
        </p:nvSpPr>
        <p:spPr>
          <a:xfrm>
            <a:off x="1470422" y="1732597"/>
            <a:ext cx="666750" cy="152400"/>
          </a:xfrm>
          <a:prstGeom prst="roundRect">
            <a:avLst>
              <a:gd fmla="val 12500" name="adj"/>
            </a:avLst>
          </a:prstGeom>
          <a:solidFill>
            <a:srgbClr val="00B4D8">
              <a:alpha val="9019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6"/>
          <p:cNvSpPr/>
          <p:nvPr/>
        </p:nvSpPr>
        <p:spPr>
          <a:xfrm>
            <a:off x="1470422" y="1551623"/>
            <a:ext cx="666750" cy="152400"/>
          </a:xfrm>
          <a:prstGeom prst="roundRect">
            <a:avLst>
              <a:gd fmla="val 12500" name="adj"/>
            </a:avLst>
          </a:prstGeom>
          <a:solidFill>
            <a:srgbClr val="00B4D8">
              <a:alpha val="63137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6"/>
          <p:cNvSpPr/>
          <p:nvPr/>
        </p:nvSpPr>
        <p:spPr>
          <a:xfrm>
            <a:off x="1470422" y="1370648"/>
            <a:ext cx="666750" cy="152400"/>
          </a:xfrm>
          <a:prstGeom prst="roundRect">
            <a:avLst>
              <a:gd fmla="val 12500" name="adj"/>
            </a:avLst>
          </a:prstGeom>
          <a:solidFill>
            <a:srgbClr val="00B4D8">
              <a:alpha val="9019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6"/>
          <p:cNvSpPr/>
          <p:nvPr/>
        </p:nvSpPr>
        <p:spPr>
          <a:xfrm>
            <a:off x="1341835" y="3599498"/>
            <a:ext cx="923925" cy="271463"/>
          </a:xfrm>
          <a:prstGeom prst="roundRect">
            <a:avLst>
              <a:gd fmla="val 50000" name="adj"/>
            </a:avLst>
          </a:prstGeom>
          <a:solidFill>
            <a:srgbClr val="161922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6"/>
          <p:cNvSpPr/>
          <p:nvPr/>
        </p:nvSpPr>
        <p:spPr>
          <a:xfrm>
            <a:off x="1451372" y="3701891"/>
            <a:ext cx="66675" cy="66675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6"/>
          <p:cNvSpPr/>
          <p:nvPr/>
        </p:nvSpPr>
        <p:spPr>
          <a:xfrm>
            <a:off x="1584722" y="3680460"/>
            <a:ext cx="6096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worker ·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1598057" y="3956685"/>
            <a:ext cx="44958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12 tasks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3306366" y="3156585"/>
            <a:ext cx="685800" cy="304800"/>
          </a:xfrm>
          <a:prstGeom prst="roundRect">
            <a:avLst>
              <a:gd fmla="val 12500" name="adj"/>
            </a:avLst>
          </a:prstGeom>
          <a:noFill/>
          <a:ln cap="flat" cmpd="sng" w="19050">
            <a:solidFill>
              <a:srgbClr val="32384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6"/>
          <p:cNvSpPr/>
          <p:nvPr/>
        </p:nvSpPr>
        <p:spPr>
          <a:xfrm>
            <a:off x="3187303" y="3547110"/>
            <a:ext cx="923925" cy="271463"/>
          </a:xfrm>
          <a:prstGeom prst="roundRect">
            <a:avLst>
              <a:gd fmla="val 50000" name="adj"/>
            </a:avLst>
          </a:prstGeom>
          <a:solidFill>
            <a:srgbClr val="161922">
              <a:alpha val="60000"/>
            </a:srgbClr>
          </a:solidFill>
          <a:ln cap="flat" cmpd="sng" w="9525">
            <a:solidFill>
              <a:srgbClr val="32384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6"/>
          <p:cNvSpPr/>
          <p:nvPr/>
        </p:nvSpPr>
        <p:spPr>
          <a:xfrm>
            <a:off x="3296841" y="3649504"/>
            <a:ext cx="66675" cy="66675"/>
          </a:xfrm>
          <a:prstGeom prst="ellipse">
            <a:avLst/>
          </a:prstGeom>
          <a:solidFill>
            <a:srgbClr val="5C637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6"/>
          <p:cNvSpPr/>
          <p:nvPr/>
        </p:nvSpPr>
        <p:spPr>
          <a:xfrm>
            <a:off x="3430191" y="3628073"/>
            <a:ext cx="6096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worker ·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3415903" y="3904298"/>
            <a:ext cx="504825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z z 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5151835" y="3156585"/>
            <a:ext cx="685800" cy="304800"/>
          </a:xfrm>
          <a:prstGeom prst="roundRect">
            <a:avLst>
              <a:gd fmla="val 12500" name="adj"/>
            </a:avLst>
          </a:prstGeom>
          <a:noFill/>
          <a:ln cap="flat" cmpd="sng" w="19050">
            <a:solidFill>
              <a:srgbClr val="32384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5032772" y="3547110"/>
            <a:ext cx="923925" cy="271463"/>
          </a:xfrm>
          <a:prstGeom prst="roundRect">
            <a:avLst>
              <a:gd fmla="val 50000" name="adj"/>
            </a:avLst>
          </a:prstGeom>
          <a:solidFill>
            <a:srgbClr val="161922">
              <a:alpha val="60000"/>
            </a:srgbClr>
          </a:solidFill>
          <a:ln cap="flat" cmpd="sng" w="9525">
            <a:solidFill>
              <a:srgbClr val="32384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6"/>
          <p:cNvSpPr/>
          <p:nvPr/>
        </p:nvSpPr>
        <p:spPr>
          <a:xfrm>
            <a:off x="5142310" y="3649504"/>
            <a:ext cx="66675" cy="66675"/>
          </a:xfrm>
          <a:prstGeom prst="ellipse">
            <a:avLst/>
          </a:prstGeom>
          <a:solidFill>
            <a:srgbClr val="5C637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6"/>
          <p:cNvSpPr/>
          <p:nvPr/>
        </p:nvSpPr>
        <p:spPr>
          <a:xfrm>
            <a:off x="5275660" y="3628073"/>
            <a:ext cx="6096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worker ·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5261372" y="3904298"/>
            <a:ext cx="504825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z z 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6"/>
          <p:cNvSpPr/>
          <p:nvPr/>
        </p:nvSpPr>
        <p:spPr>
          <a:xfrm>
            <a:off x="6997303" y="3156585"/>
            <a:ext cx="685800" cy="304800"/>
          </a:xfrm>
          <a:prstGeom prst="roundRect">
            <a:avLst>
              <a:gd fmla="val 12500" name="adj"/>
            </a:avLst>
          </a:prstGeom>
          <a:noFill/>
          <a:ln cap="flat" cmpd="sng" w="19050">
            <a:solidFill>
              <a:srgbClr val="32384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6"/>
          <p:cNvSpPr/>
          <p:nvPr/>
        </p:nvSpPr>
        <p:spPr>
          <a:xfrm>
            <a:off x="6878241" y="3547110"/>
            <a:ext cx="923925" cy="271463"/>
          </a:xfrm>
          <a:prstGeom prst="roundRect">
            <a:avLst>
              <a:gd fmla="val 50000" name="adj"/>
            </a:avLst>
          </a:prstGeom>
          <a:solidFill>
            <a:srgbClr val="161922">
              <a:alpha val="60000"/>
            </a:srgbClr>
          </a:solidFill>
          <a:ln cap="flat" cmpd="sng" w="9525">
            <a:solidFill>
              <a:srgbClr val="32384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6"/>
          <p:cNvSpPr/>
          <p:nvPr/>
        </p:nvSpPr>
        <p:spPr>
          <a:xfrm>
            <a:off x="6987778" y="3649504"/>
            <a:ext cx="66675" cy="66675"/>
          </a:xfrm>
          <a:prstGeom prst="ellipse">
            <a:avLst/>
          </a:prstGeom>
          <a:solidFill>
            <a:srgbClr val="5C637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6"/>
          <p:cNvSpPr/>
          <p:nvPr/>
        </p:nvSpPr>
        <p:spPr>
          <a:xfrm>
            <a:off x="7121128" y="3628073"/>
            <a:ext cx="6096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worker ·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6"/>
          <p:cNvSpPr/>
          <p:nvPr/>
        </p:nvSpPr>
        <p:spPr>
          <a:xfrm>
            <a:off x="7106841" y="3904298"/>
            <a:ext cx="504825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z z 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6"/>
          <p:cNvSpPr/>
          <p:nvPr/>
        </p:nvSpPr>
        <p:spPr>
          <a:xfrm>
            <a:off x="476250" y="4240530"/>
            <a:ext cx="8191500" cy="4763"/>
          </a:xfrm>
          <a:prstGeom prst="rect">
            <a:avLst/>
          </a:prstGeom>
          <a:solidFill>
            <a:srgbClr val="24293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6"/>
          <p:cNvSpPr/>
          <p:nvPr/>
        </p:nvSpPr>
        <p:spPr>
          <a:xfrm>
            <a:off x="476250" y="4435793"/>
            <a:ext cx="8437245" cy="21240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The work exists. The threads exist. </a:t>
            </a:r>
            <a:r>
              <a:rPr b="0" i="0" lang="en-GB" sz="11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They are just in the wrong place.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7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VERSION 3 · WORK STEALING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Idle threads steal from busy ones.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4" name="Google Shape;4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277303"/>
            <a:ext cx="81915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7"/>
          <p:cNvSpPr/>
          <p:nvPr/>
        </p:nvSpPr>
        <p:spPr>
          <a:xfrm>
            <a:off x="476250" y="4801553"/>
            <a:ext cx="8191500" cy="4763"/>
          </a:xfrm>
          <a:prstGeom prst="rect">
            <a:avLst/>
          </a:prstGeom>
          <a:solidFill>
            <a:srgbClr val="24293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353378" y="4996815"/>
            <a:ext cx="8437245" cy="21240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Idle threads reach into busy threads' queues </a:t>
            </a:r>
            <a:r>
              <a:rPr b="0" i="0" lang="en-GB" sz="11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from the opposite end</a:t>
            </a:r>
            <a:r>
              <a:rPr b="0" i="0" lang="en-GB" sz="11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8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PROBLEM #3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8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Stealing still uses locks.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8"/>
          <p:cNvSpPr/>
          <p:nvPr/>
        </p:nvSpPr>
        <p:spPr>
          <a:xfrm>
            <a:off x="476250" y="1182052"/>
            <a:ext cx="8191500" cy="3580448"/>
          </a:xfrm>
          <a:prstGeom prst="roundRect">
            <a:avLst>
              <a:gd fmla="val 2926" name="adj"/>
            </a:avLst>
          </a:prstGeom>
          <a:solidFill>
            <a:srgbClr val="161922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8"/>
          <p:cNvSpPr/>
          <p:nvPr/>
        </p:nvSpPr>
        <p:spPr>
          <a:xfrm>
            <a:off x="633413" y="1301115"/>
            <a:ext cx="183657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— ZOOM · steal operation —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8"/>
          <p:cNvSpPr/>
          <p:nvPr/>
        </p:nvSpPr>
        <p:spPr>
          <a:xfrm>
            <a:off x="3754755" y="1862614"/>
            <a:ext cx="168352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↓ worker · 1's deque 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8"/>
          <p:cNvSpPr/>
          <p:nvPr/>
        </p:nvSpPr>
        <p:spPr>
          <a:xfrm>
            <a:off x="2842022" y="2048352"/>
            <a:ext cx="3459957" cy="600075"/>
          </a:xfrm>
          <a:prstGeom prst="roundRect">
            <a:avLst>
              <a:gd fmla="val 11111" name="adj"/>
            </a:avLst>
          </a:prstGeom>
          <a:solidFill>
            <a:srgbClr val="161922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rotWithShape="0" algn="bl" dir="16200000" dist="50800">
              <a:srgbClr val="00B4D8">
                <a:alpha val="14901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8"/>
          <p:cNvSpPr/>
          <p:nvPr/>
        </p:nvSpPr>
        <p:spPr>
          <a:xfrm>
            <a:off x="3080147" y="2288858"/>
            <a:ext cx="431007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FRONT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8"/>
          <p:cNvSpPr/>
          <p:nvPr/>
        </p:nvSpPr>
        <p:spPr>
          <a:xfrm>
            <a:off x="3615928" y="2172177"/>
            <a:ext cx="352425" cy="352425"/>
          </a:xfrm>
          <a:prstGeom prst="roundRect">
            <a:avLst>
              <a:gd fmla="val 13514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8"/>
          <p:cNvSpPr/>
          <p:nvPr/>
        </p:nvSpPr>
        <p:spPr>
          <a:xfrm>
            <a:off x="3601641" y="2176939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8"/>
          <p:cNvSpPr/>
          <p:nvPr/>
        </p:nvSpPr>
        <p:spPr>
          <a:xfrm>
            <a:off x="4025503" y="2172177"/>
            <a:ext cx="352425" cy="352425"/>
          </a:xfrm>
          <a:prstGeom prst="roundRect">
            <a:avLst>
              <a:gd fmla="val 13514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8"/>
          <p:cNvSpPr/>
          <p:nvPr/>
        </p:nvSpPr>
        <p:spPr>
          <a:xfrm>
            <a:off x="4011216" y="2176939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8"/>
          <p:cNvSpPr/>
          <p:nvPr/>
        </p:nvSpPr>
        <p:spPr>
          <a:xfrm>
            <a:off x="4435078" y="2172177"/>
            <a:ext cx="352425" cy="352425"/>
          </a:xfrm>
          <a:prstGeom prst="roundRect">
            <a:avLst>
              <a:gd fmla="val 13514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4420791" y="2176939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8"/>
          <p:cNvSpPr/>
          <p:nvPr/>
        </p:nvSpPr>
        <p:spPr>
          <a:xfrm>
            <a:off x="4844653" y="2172177"/>
            <a:ext cx="352425" cy="352425"/>
          </a:xfrm>
          <a:prstGeom prst="roundRect">
            <a:avLst>
              <a:gd fmla="val 13514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4830366" y="2176939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8"/>
          <p:cNvSpPr/>
          <p:nvPr/>
        </p:nvSpPr>
        <p:spPr>
          <a:xfrm>
            <a:off x="5254228" y="2172177"/>
            <a:ext cx="352425" cy="352425"/>
          </a:xfrm>
          <a:prstGeom prst="roundRect">
            <a:avLst>
              <a:gd fmla="val 13514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5239941" y="2176939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8"/>
          <p:cNvSpPr/>
          <p:nvPr/>
        </p:nvSpPr>
        <p:spPr>
          <a:xfrm>
            <a:off x="5749528" y="2288858"/>
            <a:ext cx="35242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8"/>
          <p:cNvSpPr/>
          <p:nvPr/>
        </p:nvSpPr>
        <p:spPr>
          <a:xfrm>
            <a:off x="4171950" y="1333977"/>
            <a:ext cx="8382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acquire_lock()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1" name="Google Shape;43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9600" y="1472089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8"/>
          <p:cNvSpPr/>
          <p:nvPr/>
        </p:nvSpPr>
        <p:spPr>
          <a:xfrm>
            <a:off x="4065270" y="2715101"/>
            <a:ext cx="1051560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600"/>
              <a:buFont typeface="Courier New"/>
              <a:buNone/>
            </a:pPr>
            <a:r>
              <a:rPr b="0" i="0" lang="en-GB" sz="6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owned by worker · 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8"/>
          <p:cNvSpPr/>
          <p:nvPr/>
        </p:nvSpPr>
        <p:spPr>
          <a:xfrm>
            <a:off x="3228975" y="3038951"/>
            <a:ext cx="1057275" cy="338137"/>
          </a:xfrm>
          <a:prstGeom prst="roundRect">
            <a:avLst>
              <a:gd fmla="val 50000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3376613" y="3174683"/>
            <a:ext cx="66675" cy="6667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8"/>
          <p:cNvSpPr/>
          <p:nvPr/>
        </p:nvSpPr>
        <p:spPr>
          <a:xfrm>
            <a:off x="3509963" y="3148489"/>
            <a:ext cx="666750" cy="138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worker ·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8"/>
          <p:cNvSpPr/>
          <p:nvPr/>
        </p:nvSpPr>
        <p:spPr>
          <a:xfrm>
            <a:off x="3322638" y="3434239"/>
            <a:ext cx="90797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steal_front() ↗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8"/>
          <p:cNvSpPr/>
          <p:nvPr/>
        </p:nvSpPr>
        <p:spPr>
          <a:xfrm>
            <a:off x="4857750" y="3038951"/>
            <a:ext cx="1057275" cy="338137"/>
          </a:xfrm>
          <a:prstGeom prst="roundRect">
            <a:avLst>
              <a:gd fmla="val 50000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8"/>
          <p:cNvSpPr/>
          <p:nvPr/>
        </p:nvSpPr>
        <p:spPr>
          <a:xfrm>
            <a:off x="5005388" y="3174683"/>
            <a:ext cx="66675" cy="6667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8"/>
          <p:cNvSpPr/>
          <p:nvPr/>
        </p:nvSpPr>
        <p:spPr>
          <a:xfrm>
            <a:off x="5138738" y="3148489"/>
            <a:ext cx="666750" cy="138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worker ·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8"/>
          <p:cNvSpPr/>
          <p:nvPr/>
        </p:nvSpPr>
        <p:spPr>
          <a:xfrm>
            <a:off x="4951413" y="3434239"/>
            <a:ext cx="90797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steal_front() 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8"/>
          <p:cNvSpPr/>
          <p:nvPr/>
        </p:nvSpPr>
        <p:spPr>
          <a:xfrm>
            <a:off x="1874043" y="3710464"/>
            <a:ext cx="5395913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Both thieves race for the same lock on worker 1's deque — </a:t>
            </a:r>
            <a:r>
              <a:rPr b="0" i="0" lang="en-GB" sz="1000" u="none" cap="none" strike="noStrike">
                <a:solidFill>
                  <a:srgbClr val="FF7B7E"/>
                </a:solidFill>
                <a:latin typeface="Arial"/>
                <a:ea typeface="Arial"/>
                <a:cs typeface="Arial"/>
                <a:sym typeface="Arial"/>
              </a:rPr>
              <a:t>the steal path acquires and releases mutexes in a tight loop.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9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VERSION 3 · RESULTS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9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 improvement — on most platforms.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9"/>
          <p:cNvSpPr/>
          <p:nvPr/>
        </p:nvSpPr>
        <p:spPr>
          <a:xfrm>
            <a:off x="476250" y="1980248"/>
            <a:ext cx="4010025" cy="1462088"/>
          </a:xfrm>
          <a:prstGeom prst="roundRect">
            <a:avLst>
              <a:gd fmla="val 7166" name="adj"/>
            </a:avLst>
          </a:prstGeom>
          <a:solidFill>
            <a:srgbClr val="161922"/>
          </a:solidFill>
          <a:ln cap="flat" cmpd="sng" w="9525">
            <a:solidFill>
              <a:srgbClr val="2429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9"/>
          <p:cNvSpPr/>
          <p:nvPr/>
        </p:nvSpPr>
        <p:spPr>
          <a:xfrm>
            <a:off x="3437096" y="2127885"/>
            <a:ext cx="901542" cy="214313"/>
          </a:xfrm>
          <a:prstGeom prst="roundRect">
            <a:avLst>
              <a:gd fmla="val 50000" name="adj"/>
            </a:avLst>
          </a:prstGeom>
          <a:solidFill>
            <a:srgbClr val="00B4D8">
              <a:alpha val="1803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9"/>
          <p:cNvSpPr/>
          <p:nvPr/>
        </p:nvSpPr>
        <p:spPr>
          <a:xfrm>
            <a:off x="3513296" y="2165985"/>
            <a:ext cx="787242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1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1.2× faster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9"/>
          <p:cNvSpPr/>
          <p:nvPr/>
        </p:nvSpPr>
        <p:spPr>
          <a:xfrm>
            <a:off x="709613" y="2223135"/>
            <a:ext cx="3649599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LINUX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9"/>
          <p:cNvSpPr/>
          <p:nvPr/>
        </p:nvSpPr>
        <p:spPr>
          <a:xfrm>
            <a:off x="709613" y="2427923"/>
            <a:ext cx="364959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8,425 </a:t>
            </a:r>
            <a:r>
              <a:rPr b="0" i="0" lang="en-GB" sz="14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ms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9"/>
          <p:cNvSpPr/>
          <p:nvPr/>
        </p:nvSpPr>
        <p:spPr>
          <a:xfrm>
            <a:off x="709613" y="2961323"/>
            <a:ext cx="3543300" cy="4763"/>
          </a:xfrm>
          <a:prstGeom prst="rect">
            <a:avLst/>
          </a:prstGeom>
          <a:solidFill>
            <a:srgbClr val="24293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9"/>
          <p:cNvSpPr/>
          <p:nvPr/>
        </p:nvSpPr>
        <p:spPr>
          <a:xfrm>
            <a:off x="709613" y="3080385"/>
            <a:ext cx="22669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was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9"/>
          <p:cNvSpPr/>
          <p:nvPr/>
        </p:nvSpPr>
        <p:spPr>
          <a:xfrm>
            <a:off x="3687128" y="3080385"/>
            <a:ext cx="60388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800"/>
              <a:buFont typeface="Courier New"/>
              <a:buNone/>
            </a:pPr>
            <a:r>
              <a:rPr b="0" i="0" lang="en-GB" sz="800" u="none" cap="none" strike="sng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10,031 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9"/>
          <p:cNvSpPr/>
          <p:nvPr/>
        </p:nvSpPr>
        <p:spPr>
          <a:xfrm>
            <a:off x="4657725" y="1980248"/>
            <a:ext cx="4010025" cy="1462088"/>
          </a:xfrm>
          <a:prstGeom prst="roundRect">
            <a:avLst>
              <a:gd fmla="val 7166" name="adj"/>
            </a:avLst>
          </a:prstGeom>
          <a:solidFill>
            <a:srgbClr val="161922"/>
          </a:solidFill>
          <a:ln cap="flat" cmpd="sng" w="9525">
            <a:solidFill>
              <a:srgbClr val="2429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9"/>
          <p:cNvSpPr/>
          <p:nvPr/>
        </p:nvSpPr>
        <p:spPr>
          <a:xfrm>
            <a:off x="7618571" y="2127885"/>
            <a:ext cx="901541" cy="214313"/>
          </a:xfrm>
          <a:prstGeom prst="roundRect">
            <a:avLst>
              <a:gd fmla="val 50000" name="adj"/>
            </a:avLst>
          </a:prstGeom>
          <a:solidFill>
            <a:srgbClr val="E5484D">
              <a:alpha val="14901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9"/>
          <p:cNvSpPr/>
          <p:nvPr/>
        </p:nvSpPr>
        <p:spPr>
          <a:xfrm>
            <a:off x="7694771" y="2165985"/>
            <a:ext cx="787241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800"/>
              <a:buFont typeface="Courier New"/>
              <a:buNone/>
            </a:pPr>
            <a:r>
              <a:rPr b="1" i="0" lang="en-GB" sz="8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1.8× slower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9"/>
          <p:cNvSpPr/>
          <p:nvPr/>
        </p:nvSpPr>
        <p:spPr>
          <a:xfrm>
            <a:off x="4891088" y="2223135"/>
            <a:ext cx="3649599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WINDOWS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9"/>
          <p:cNvSpPr/>
          <p:nvPr/>
        </p:nvSpPr>
        <p:spPr>
          <a:xfrm>
            <a:off x="4891088" y="2427923"/>
            <a:ext cx="364959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rgbClr val="E5484D"/>
                </a:solidFill>
                <a:latin typeface="Arial"/>
                <a:ea typeface="Arial"/>
                <a:cs typeface="Arial"/>
                <a:sym typeface="Arial"/>
              </a:rPr>
              <a:t>12,450 </a:t>
            </a:r>
            <a:r>
              <a:rPr b="0" i="0" lang="en-GB" sz="14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ms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9"/>
          <p:cNvSpPr/>
          <p:nvPr/>
        </p:nvSpPr>
        <p:spPr>
          <a:xfrm>
            <a:off x="4891088" y="2961323"/>
            <a:ext cx="3543300" cy="4763"/>
          </a:xfrm>
          <a:prstGeom prst="rect">
            <a:avLst/>
          </a:prstGeom>
          <a:solidFill>
            <a:srgbClr val="24293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9"/>
          <p:cNvSpPr/>
          <p:nvPr/>
        </p:nvSpPr>
        <p:spPr>
          <a:xfrm>
            <a:off x="4891088" y="3080385"/>
            <a:ext cx="22669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was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9"/>
          <p:cNvSpPr/>
          <p:nvPr/>
        </p:nvSpPr>
        <p:spPr>
          <a:xfrm>
            <a:off x="7931468" y="3080385"/>
            <a:ext cx="541020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800"/>
              <a:buFont typeface="Courier New"/>
              <a:buNone/>
            </a:pPr>
            <a:r>
              <a:rPr b="0" i="0" lang="en-GB" sz="800" u="none" cap="none" strike="sng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7,058 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9"/>
          <p:cNvSpPr/>
          <p:nvPr/>
        </p:nvSpPr>
        <p:spPr>
          <a:xfrm>
            <a:off x="476250" y="4240530"/>
            <a:ext cx="8191500" cy="4763"/>
          </a:xfrm>
          <a:prstGeom prst="rect">
            <a:avLst/>
          </a:prstGeom>
          <a:solidFill>
            <a:srgbClr val="24293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9"/>
          <p:cNvSpPr/>
          <p:nvPr/>
        </p:nvSpPr>
        <p:spPr>
          <a:xfrm>
            <a:off x="476250" y="4435793"/>
            <a:ext cx="8437245" cy="21240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Linux loved it. Windows regressed — </a:t>
            </a:r>
            <a:r>
              <a:rPr b="0" i="0" lang="en-GB" sz="11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the steal path is hotter than expected.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VERSION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0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Lock-free deque.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0"/>
          <p:cNvSpPr/>
          <p:nvPr/>
        </p:nvSpPr>
        <p:spPr>
          <a:xfrm>
            <a:off x="4820126" y="1182052"/>
            <a:ext cx="4763" cy="3066098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0"/>
          <p:cNvSpPr/>
          <p:nvPr/>
        </p:nvSpPr>
        <p:spPr>
          <a:xfrm>
            <a:off x="2085578" y="1286828"/>
            <a:ext cx="116332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— WHAT CHANGED —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0"/>
          <p:cNvSpPr/>
          <p:nvPr/>
        </p:nvSpPr>
        <p:spPr>
          <a:xfrm>
            <a:off x="1899047" y="1505902"/>
            <a:ext cx="1543231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↓ worker · 1's deque 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7" name="Google Shape;47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642" y="1860709"/>
            <a:ext cx="2762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0"/>
          <p:cNvSpPr/>
          <p:nvPr/>
        </p:nvSpPr>
        <p:spPr>
          <a:xfrm>
            <a:off x="561975" y="2165509"/>
            <a:ext cx="327660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ATOMIC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0"/>
          <p:cNvSpPr/>
          <p:nvPr/>
        </p:nvSpPr>
        <p:spPr>
          <a:xfrm>
            <a:off x="918210" y="1748790"/>
            <a:ext cx="3459957" cy="600075"/>
          </a:xfrm>
          <a:prstGeom prst="roundRect">
            <a:avLst>
              <a:gd fmla="val 11111" name="adj"/>
            </a:avLst>
          </a:prstGeom>
          <a:solidFill>
            <a:srgbClr val="161922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rotWithShape="0" algn="bl" dir="16200000" dist="50800">
              <a:srgbClr val="00B4D8">
                <a:alpha val="14901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0"/>
          <p:cNvSpPr/>
          <p:nvPr/>
        </p:nvSpPr>
        <p:spPr>
          <a:xfrm>
            <a:off x="1156335" y="1989297"/>
            <a:ext cx="431007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FRONT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0"/>
          <p:cNvSpPr/>
          <p:nvPr/>
        </p:nvSpPr>
        <p:spPr>
          <a:xfrm>
            <a:off x="1692116" y="1872615"/>
            <a:ext cx="352425" cy="352425"/>
          </a:xfrm>
          <a:prstGeom prst="roundRect">
            <a:avLst>
              <a:gd fmla="val 13514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0"/>
          <p:cNvSpPr/>
          <p:nvPr/>
        </p:nvSpPr>
        <p:spPr>
          <a:xfrm>
            <a:off x="1677829" y="1877378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0"/>
          <p:cNvSpPr/>
          <p:nvPr/>
        </p:nvSpPr>
        <p:spPr>
          <a:xfrm>
            <a:off x="2101691" y="1872615"/>
            <a:ext cx="352425" cy="352425"/>
          </a:xfrm>
          <a:prstGeom prst="roundRect">
            <a:avLst>
              <a:gd fmla="val 13514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0"/>
          <p:cNvSpPr/>
          <p:nvPr/>
        </p:nvSpPr>
        <p:spPr>
          <a:xfrm>
            <a:off x="2087404" y="1877378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0"/>
          <p:cNvSpPr/>
          <p:nvPr/>
        </p:nvSpPr>
        <p:spPr>
          <a:xfrm>
            <a:off x="2511266" y="1872615"/>
            <a:ext cx="352425" cy="352425"/>
          </a:xfrm>
          <a:prstGeom prst="roundRect">
            <a:avLst>
              <a:gd fmla="val 13514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0"/>
          <p:cNvSpPr/>
          <p:nvPr/>
        </p:nvSpPr>
        <p:spPr>
          <a:xfrm>
            <a:off x="2496979" y="1877378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0"/>
          <p:cNvSpPr/>
          <p:nvPr/>
        </p:nvSpPr>
        <p:spPr>
          <a:xfrm>
            <a:off x="2920841" y="1872615"/>
            <a:ext cx="352425" cy="352425"/>
          </a:xfrm>
          <a:prstGeom prst="roundRect">
            <a:avLst>
              <a:gd fmla="val 13514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0"/>
          <p:cNvSpPr/>
          <p:nvPr/>
        </p:nvSpPr>
        <p:spPr>
          <a:xfrm>
            <a:off x="2906553" y="1877378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0"/>
          <p:cNvSpPr/>
          <p:nvPr/>
        </p:nvSpPr>
        <p:spPr>
          <a:xfrm>
            <a:off x="3330416" y="1872615"/>
            <a:ext cx="352425" cy="352425"/>
          </a:xfrm>
          <a:prstGeom prst="roundRect">
            <a:avLst>
              <a:gd fmla="val 13514" name="adj"/>
            </a:avLst>
          </a:prstGeom>
          <a:solidFill>
            <a:srgbClr val="1C2030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0"/>
          <p:cNvSpPr/>
          <p:nvPr/>
        </p:nvSpPr>
        <p:spPr>
          <a:xfrm>
            <a:off x="3316129" y="1877378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0"/>
          <p:cNvSpPr/>
          <p:nvPr/>
        </p:nvSpPr>
        <p:spPr>
          <a:xfrm>
            <a:off x="3825716" y="1989297"/>
            <a:ext cx="352425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2" name="Google Shape;49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1509" y="1860709"/>
            <a:ext cx="2762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0"/>
          <p:cNvSpPr/>
          <p:nvPr/>
        </p:nvSpPr>
        <p:spPr>
          <a:xfrm>
            <a:off x="4444841" y="2165509"/>
            <a:ext cx="327660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ATOMIC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0"/>
          <p:cNvSpPr/>
          <p:nvPr/>
        </p:nvSpPr>
        <p:spPr>
          <a:xfrm>
            <a:off x="2204800" y="2472690"/>
            <a:ext cx="924877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owned by worker · 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0"/>
          <p:cNvSpPr/>
          <p:nvPr/>
        </p:nvSpPr>
        <p:spPr>
          <a:xfrm>
            <a:off x="1124188" y="2720340"/>
            <a:ext cx="1481137" cy="659130"/>
          </a:xfrm>
          <a:prstGeom prst="roundRect">
            <a:avLst>
              <a:gd fmla="val 8671" name="adj"/>
            </a:avLst>
          </a:prstGeom>
          <a:solidFill>
            <a:srgbClr val="161922"/>
          </a:solidFill>
          <a:ln cap="flat" cmpd="sng" w="9525">
            <a:solidFill>
              <a:srgbClr val="FF8A3D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0"/>
          <p:cNvSpPr/>
          <p:nvPr/>
        </p:nvSpPr>
        <p:spPr>
          <a:xfrm>
            <a:off x="1185363" y="2810828"/>
            <a:ext cx="1358789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FRONT END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0"/>
          <p:cNvSpPr/>
          <p:nvPr/>
        </p:nvSpPr>
        <p:spPr>
          <a:xfrm>
            <a:off x="1185363" y="2934653"/>
            <a:ext cx="1358789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steal_front()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0"/>
          <p:cNvSpPr/>
          <p:nvPr/>
        </p:nvSpPr>
        <p:spPr>
          <a:xfrm>
            <a:off x="1185363" y="3072765"/>
            <a:ext cx="1358789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one atomic </a:t>
            </a:r>
            <a:r>
              <a:rPr b="0" i="0" lang="en-GB" sz="600" u="none" cap="none" strike="noStrike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rPr>
              <a:t>CAS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0"/>
          <p:cNvSpPr/>
          <p:nvPr/>
        </p:nvSpPr>
        <p:spPr>
          <a:xfrm>
            <a:off x="2691051" y="2720340"/>
            <a:ext cx="1481138" cy="659130"/>
          </a:xfrm>
          <a:prstGeom prst="roundRect">
            <a:avLst>
              <a:gd fmla="val 8671" name="adj"/>
            </a:avLst>
          </a:prstGeom>
          <a:solidFill>
            <a:srgbClr val="161922"/>
          </a:solidFill>
          <a:ln cap="flat" cmpd="sng" w="9525">
            <a:solidFill>
              <a:srgbClr val="00B4D8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0"/>
          <p:cNvSpPr/>
          <p:nvPr/>
        </p:nvSpPr>
        <p:spPr>
          <a:xfrm>
            <a:off x="2752225" y="2810828"/>
            <a:ext cx="1358789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BACK END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0"/>
          <p:cNvSpPr/>
          <p:nvPr/>
        </p:nvSpPr>
        <p:spPr>
          <a:xfrm>
            <a:off x="2752225" y="2934653"/>
            <a:ext cx="135878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push_back() / pop_back()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0"/>
          <p:cNvSpPr/>
          <p:nvPr/>
        </p:nvSpPr>
        <p:spPr>
          <a:xfrm>
            <a:off x="2752225" y="3182303"/>
            <a:ext cx="1358789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no lock </a:t>
            </a:r>
            <a:r>
              <a:rPr b="0" i="0" lang="en-GB" sz="6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at all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0"/>
          <p:cNvSpPr/>
          <p:nvPr/>
        </p:nvSpPr>
        <p:spPr>
          <a:xfrm>
            <a:off x="5805726" y="1286828"/>
            <a:ext cx="217308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— THE CIRCULAR BUFFER INSIDE —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4" name="Google Shape;50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2870" y="1467803"/>
            <a:ext cx="20955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30"/>
          <p:cNvSpPr/>
          <p:nvPr/>
        </p:nvSpPr>
        <p:spPr>
          <a:xfrm>
            <a:off x="476250" y="4381500"/>
            <a:ext cx="8191500" cy="381000"/>
          </a:xfrm>
          <a:prstGeom prst="rect">
            <a:avLst/>
          </a:prstGeom>
          <a:solidFill>
            <a:srgbClr val="00B4D8">
              <a:alpha val="7843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0"/>
          <p:cNvSpPr/>
          <p:nvPr/>
        </p:nvSpPr>
        <p:spPr>
          <a:xfrm>
            <a:off x="476250" y="4381500"/>
            <a:ext cx="14288" cy="381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0"/>
          <p:cNvSpPr/>
          <p:nvPr/>
        </p:nvSpPr>
        <p:spPr>
          <a:xfrm>
            <a:off x="661988" y="4486275"/>
            <a:ext cx="808005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8BCC7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8BCC7"/>
                </a:solidFill>
                <a:highlight>
                  <a:srgbClr val="00B4D8"/>
                </a:highlight>
                <a:latin typeface="Arial"/>
                <a:ea typeface="Arial"/>
                <a:cs typeface="Arial"/>
                <a:sym typeface="Arial"/>
              </a:rPr>
              <a:t>Same front/back split as before. </a:t>
            </a:r>
            <a:r>
              <a:rPr b="0" i="0" lang="en-GB" sz="9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What changed is what happens inside </a:t>
            </a:r>
            <a:r>
              <a:rPr b="0" i="0" lang="en-GB" sz="900" u="none" cap="none" strike="noStrike">
                <a:solidFill>
                  <a:srgbClr val="B8BCC7"/>
                </a:solidFill>
                <a:highlight>
                  <a:srgbClr val="00B4D8"/>
                </a:highlight>
                <a:latin typeface="Arial"/>
                <a:ea typeface="Arial"/>
                <a:cs typeface="Arial"/>
                <a:sym typeface="Arial"/>
              </a:rPr>
              <a:t>— no mutex, just atomics and a circular buffer.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1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THE COST OF GOING LOCK-FREE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1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Removing mutexes creates new problems to solve.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1"/>
          <p:cNvSpPr/>
          <p:nvPr/>
        </p:nvSpPr>
        <p:spPr>
          <a:xfrm>
            <a:off x="476250" y="1324927"/>
            <a:ext cx="2616200" cy="3437573"/>
          </a:xfrm>
          <a:prstGeom prst="roundRect">
            <a:avLst>
              <a:gd fmla="val 3277" name="adj"/>
            </a:avLst>
          </a:prstGeom>
          <a:solidFill>
            <a:srgbClr val="16192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1"/>
          <p:cNvSpPr/>
          <p:nvPr/>
        </p:nvSpPr>
        <p:spPr>
          <a:xfrm>
            <a:off x="476250" y="4757738"/>
            <a:ext cx="2616200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1"/>
          <p:cNvSpPr/>
          <p:nvPr/>
        </p:nvSpPr>
        <p:spPr>
          <a:xfrm>
            <a:off x="476250" y="1324928"/>
            <a:ext cx="2616200" cy="14288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1"/>
          <p:cNvSpPr/>
          <p:nvPr/>
        </p:nvSpPr>
        <p:spPr>
          <a:xfrm>
            <a:off x="476250" y="1324927"/>
            <a:ext cx="4763" cy="343757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1"/>
          <p:cNvSpPr/>
          <p:nvPr/>
        </p:nvSpPr>
        <p:spPr>
          <a:xfrm>
            <a:off x="3087688" y="1324927"/>
            <a:ext cx="4763" cy="343757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1"/>
          <p:cNvSpPr/>
          <p:nvPr/>
        </p:nvSpPr>
        <p:spPr>
          <a:xfrm>
            <a:off x="652463" y="1548765"/>
            <a:ext cx="233168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1"/>
          <p:cNvSpPr/>
          <p:nvPr/>
        </p:nvSpPr>
        <p:spPr>
          <a:xfrm>
            <a:off x="652463" y="1967865"/>
            <a:ext cx="233168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PROBLEM · 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1"/>
          <p:cNvSpPr/>
          <p:nvPr/>
        </p:nvSpPr>
        <p:spPr>
          <a:xfrm>
            <a:off x="652463" y="2177415"/>
            <a:ext cx="2331688" cy="24955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False sharing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1"/>
          <p:cNvSpPr/>
          <p:nvPr/>
        </p:nvSpPr>
        <p:spPr>
          <a:xfrm>
            <a:off x="652463" y="2522220"/>
            <a:ext cx="233168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8BCC7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Different variables, same cache line — threads slow each other down without touching the same data.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1"/>
          <p:cNvSpPr/>
          <p:nvPr/>
        </p:nvSpPr>
        <p:spPr>
          <a:xfrm>
            <a:off x="3263900" y="1324927"/>
            <a:ext cx="2616200" cy="3437573"/>
          </a:xfrm>
          <a:prstGeom prst="roundRect">
            <a:avLst>
              <a:gd fmla="val 3277" name="adj"/>
            </a:avLst>
          </a:prstGeom>
          <a:solidFill>
            <a:srgbClr val="16192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1"/>
          <p:cNvSpPr/>
          <p:nvPr/>
        </p:nvSpPr>
        <p:spPr>
          <a:xfrm>
            <a:off x="3263900" y="4757738"/>
            <a:ext cx="2616200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1"/>
          <p:cNvSpPr/>
          <p:nvPr/>
        </p:nvSpPr>
        <p:spPr>
          <a:xfrm>
            <a:off x="3263900" y="1324928"/>
            <a:ext cx="2616200" cy="14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1"/>
          <p:cNvSpPr/>
          <p:nvPr/>
        </p:nvSpPr>
        <p:spPr>
          <a:xfrm>
            <a:off x="3263900" y="1324927"/>
            <a:ext cx="4763" cy="343757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1"/>
          <p:cNvSpPr/>
          <p:nvPr/>
        </p:nvSpPr>
        <p:spPr>
          <a:xfrm>
            <a:off x="5875338" y="1324927"/>
            <a:ext cx="4763" cy="343757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1"/>
          <p:cNvSpPr/>
          <p:nvPr/>
        </p:nvSpPr>
        <p:spPr>
          <a:xfrm>
            <a:off x="3440113" y="1548765"/>
            <a:ext cx="233168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⚛️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1"/>
          <p:cNvSpPr/>
          <p:nvPr/>
        </p:nvSpPr>
        <p:spPr>
          <a:xfrm>
            <a:off x="3440113" y="1967865"/>
            <a:ext cx="233168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PROBLEM · 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1"/>
          <p:cNvSpPr/>
          <p:nvPr/>
        </p:nvSpPr>
        <p:spPr>
          <a:xfrm>
            <a:off x="3440113" y="2177415"/>
            <a:ext cx="2331688" cy="24955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ordering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1"/>
          <p:cNvSpPr/>
          <p:nvPr/>
        </p:nvSpPr>
        <p:spPr>
          <a:xfrm>
            <a:off x="3440113" y="2522220"/>
            <a:ext cx="233168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8BCC7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Without mutexes, CPUs and compilers reorder operations — you have to tell them what they cannot move.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1"/>
          <p:cNvSpPr/>
          <p:nvPr/>
        </p:nvSpPr>
        <p:spPr>
          <a:xfrm>
            <a:off x="6051550" y="1324927"/>
            <a:ext cx="2616200" cy="3437573"/>
          </a:xfrm>
          <a:prstGeom prst="roundRect">
            <a:avLst>
              <a:gd fmla="val 3277" name="adj"/>
            </a:avLst>
          </a:prstGeom>
          <a:solidFill>
            <a:srgbClr val="16192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1"/>
          <p:cNvSpPr/>
          <p:nvPr/>
        </p:nvSpPr>
        <p:spPr>
          <a:xfrm>
            <a:off x="6051550" y="4757738"/>
            <a:ext cx="2616200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1"/>
          <p:cNvSpPr/>
          <p:nvPr/>
        </p:nvSpPr>
        <p:spPr>
          <a:xfrm>
            <a:off x="6051550" y="1324928"/>
            <a:ext cx="2616200" cy="14288"/>
          </a:xfrm>
          <a:prstGeom prst="rect">
            <a:avLst/>
          </a:prstGeom>
          <a:solidFill>
            <a:srgbClr val="F5C45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1"/>
          <p:cNvSpPr/>
          <p:nvPr/>
        </p:nvSpPr>
        <p:spPr>
          <a:xfrm>
            <a:off x="6051550" y="1324927"/>
            <a:ext cx="4763" cy="343757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1"/>
          <p:cNvSpPr/>
          <p:nvPr/>
        </p:nvSpPr>
        <p:spPr>
          <a:xfrm>
            <a:off x="8662987" y="1324927"/>
            <a:ext cx="4763" cy="343757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1"/>
          <p:cNvSpPr/>
          <p:nvPr/>
        </p:nvSpPr>
        <p:spPr>
          <a:xfrm>
            <a:off x="6227763" y="1548765"/>
            <a:ext cx="233168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⚔️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1"/>
          <p:cNvSpPr/>
          <p:nvPr/>
        </p:nvSpPr>
        <p:spPr>
          <a:xfrm>
            <a:off x="6227763" y="1967865"/>
            <a:ext cx="233168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451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F5C451"/>
                </a:solidFill>
                <a:latin typeface="Courier New"/>
                <a:ea typeface="Courier New"/>
                <a:cs typeface="Courier New"/>
                <a:sym typeface="Courier New"/>
              </a:rPr>
              <a:t>PROBLEM · 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1"/>
          <p:cNvSpPr/>
          <p:nvPr/>
        </p:nvSpPr>
        <p:spPr>
          <a:xfrm>
            <a:off x="6227763" y="2177415"/>
            <a:ext cx="2331688" cy="24955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last item race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1"/>
          <p:cNvSpPr/>
          <p:nvPr/>
        </p:nvSpPr>
        <p:spPr>
          <a:xfrm>
            <a:off x="6227763" y="2522220"/>
            <a:ext cx="233168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8BCC7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When one item remains, the owner and a thief can both reach for it simultaneously — </a:t>
            </a:r>
            <a:r>
              <a:rPr b="0" i="0" lang="en-GB" sz="9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CAS </a:t>
            </a:r>
            <a:r>
              <a:rPr b="0" i="0" lang="en-GB" sz="9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decides the winner.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2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HARDWARE REALITY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2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Hardware problem: False sharing.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2"/>
          <p:cNvSpPr/>
          <p:nvPr/>
        </p:nvSpPr>
        <p:spPr>
          <a:xfrm>
            <a:off x="4471988" y="1248727"/>
            <a:ext cx="4763" cy="3542586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2"/>
          <p:cNvSpPr/>
          <p:nvPr/>
        </p:nvSpPr>
        <p:spPr>
          <a:xfrm>
            <a:off x="1946672" y="1315403"/>
            <a:ext cx="109299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— THE PROBLEM —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1" name="Google Shape;55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244" y="1477328"/>
            <a:ext cx="333375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2"/>
          <p:cNvSpPr/>
          <p:nvPr/>
        </p:nvSpPr>
        <p:spPr>
          <a:xfrm>
            <a:off x="757238" y="4115753"/>
            <a:ext cx="3433763" cy="29956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B8BCC7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Thread 0 writes </a:t>
            </a:r>
            <a:r>
              <a:rPr b="0" i="0" lang="en-GB" sz="700" u="none" cap="none" strike="noStrike">
                <a:solidFill>
                  <a:srgbClr val="E5484D"/>
                </a:solidFill>
                <a:latin typeface="Arial"/>
                <a:ea typeface="Arial"/>
                <a:cs typeface="Arial"/>
                <a:sym typeface="Arial"/>
              </a:rPr>
              <a:t>front</a:t>
            </a:r>
            <a:r>
              <a:rPr b="0" i="0" lang="en-GB" sz="7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. Thread 1 writes </a:t>
            </a:r>
            <a:r>
              <a:rPr b="0" i="0" lang="en-GB" sz="7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back</a:t>
            </a:r>
            <a:r>
              <a:rPr b="0" i="0" lang="en-GB" sz="7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. Different variables. </a:t>
            </a:r>
            <a:r>
              <a:rPr b="0" i="0" lang="en-GB" sz="700" u="none" cap="none" strike="noStrike">
                <a:solidFill>
                  <a:srgbClr val="E5484D"/>
                </a:solidFill>
                <a:latin typeface="Arial"/>
                <a:ea typeface="Arial"/>
                <a:cs typeface="Arial"/>
                <a:sym typeface="Arial"/>
              </a:rPr>
              <a:t>Same cache line. </a:t>
            </a:r>
            <a:r>
              <a:rPr b="0" i="0" lang="en-GB" sz="7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Every write forces the other core to reload.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2"/>
          <p:cNvSpPr/>
          <p:nvPr/>
        </p:nvSpPr>
        <p:spPr>
          <a:xfrm>
            <a:off x="5788422" y="1315403"/>
            <a:ext cx="181090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— THE FIX · alignas(64) —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4" name="Google Shape;55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0625" y="1477328"/>
            <a:ext cx="333375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32"/>
          <p:cNvSpPr/>
          <p:nvPr/>
        </p:nvSpPr>
        <p:spPr>
          <a:xfrm>
            <a:off x="4733925" y="4115753"/>
            <a:ext cx="3552825" cy="401955"/>
          </a:xfrm>
          <a:prstGeom prst="roundRect">
            <a:avLst>
              <a:gd fmla="val 11848" name="adj"/>
            </a:avLst>
          </a:prstGeom>
          <a:solidFill>
            <a:srgbClr val="161922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2"/>
          <p:cNvSpPr/>
          <p:nvPr/>
        </p:nvSpPr>
        <p:spPr>
          <a:xfrm>
            <a:off x="4843463" y="4187190"/>
            <a:ext cx="3440335" cy="2781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600"/>
              <a:buFont typeface="Courier New"/>
              <a:buNone/>
            </a:pPr>
            <a:r>
              <a:rPr b="0" i="0" lang="en-GB" sz="6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alignas(64) </a:t>
            </a:r>
            <a:r>
              <a:rPr b="0" i="0" lang="en-GB" sz="600" u="none" cap="none" strike="noStrike">
                <a:solidFill>
                  <a:srgbClr val="D7DAE3"/>
                </a:solidFill>
                <a:highlight>
                  <a:srgbClr val="161922"/>
                </a:highlight>
                <a:latin typeface="Courier New"/>
                <a:ea typeface="Courier New"/>
                <a:cs typeface="Courier New"/>
                <a:sym typeface="Courier New"/>
              </a:rPr>
              <a:t>std::atomic&lt;int64_t&gt; </a:t>
            </a:r>
            <a:r>
              <a:rPr b="0" i="0" lang="en-GB" sz="6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front</a:t>
            </a:r>
            <a:r>
              <a:rPr b="0" i="0" lang="en-GB" sz="600" u="none" cap="none" strike="noStrike">
                <a:solidFill>
                  <a:srgbClr val="D7DAE3"/>
                </a:solidFill>
                <a:highlight>
                  <a:srgbClr val="161922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0" i="0" lang="en-GB" sz="6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alignas(64) </a:t>
            </a:r>
            <a:r>
              <a:rPr b="0" i="0" lang="en-GB" sz="600" u="none" cap="none" strike="noStrike">
                <a:solidFill>
                  <a:srgbClr val="D7DAE3"/>
                </a:solidFill>
                <a:highlight>
                  <a:srgbClr val="161922"/>
                </a:highlight>
                <a:latin typeface="Courier New"/>
                <a:ea typeface="Courier New"/>
                <a:cs typeface="Courier New"/>
                <a:sym typeface="Courier New"/>
              </a:rPr>
              <a:t>std::atomic&lt;int64_t&gt; </a:t>
            </a:r>
            <a:r>
              <a:rPr b="0" i="0" lang="en-GB" sz="6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r>
              <a:rPr b="0" i="0" lang="en-GB" sz="600" u="none" cap="none" strike="noStrike">
                <a:solidFill>
                  <a:srgbClr val="D7DAE3"/>
                </a:solidFill>
                <a:highlight>
                  <a:srgbClr val="1619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2"/>
          <p:cNvSpPr/>
          <p:nvPr/>
        </p:nvSpPr>
        <p:spPr>
          <a:xfrm>
            <a:off x="5341987" y="4584383"/>
            <a:ext cx="2650946" cy="1593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B8BCC7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Each variable gets its </a:t>
            </a:r>
            <a:r>
              <a:rPr b="0" i="0" lang="en-GB" sz="7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own </a:t>
            </a:r>
            <a:r>
              <a:rPr b="0" i="0" lang="en-GB" sz="7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cache line. Writes no longer interfere.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3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MEMORY ORDERING · PART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3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compiler already reorders your code.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3"/>
          <p:cNvSpPr/>
          <p:nvPr/>
        </p:nvSpPr>
        <p:spPr>
          <a:xfrm>
            <a:off x="476250" y="1999774"/>
            <a:ext cx="390467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— WHAT YOU WROTE —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3"/>
          <p:cNvSpPr/>
          <p:nvPr/>
        </p:nvSpPr>
        <p:spPr>
          <a:xfrm>
            <a:off x="476250" y="2180749"/>
            <a:ext cx="3790950" cy="1323975"/>
          </a:xfrm>
          <a:prstGeom prst="roundRect">
            <a:avLst>
              <a:gd fmla="val 5755" name="adj"/>
            </a:avLst>
          </a:prstGeom>
          <a:solidFill>
            <a:srgbClr val="0A0C12"/>
          </a:solidFill>
          <a:ln cap="flat" cmpd="sng" w="9525">
            <a:solidFill>
              <a:srgbClr val="2429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3"/>
          <p:cNvSpPr/>
          <p:nvPr/>
        </p:nvSpPr>
        <p:spPr>
          <a:xfrm>
            <a:off x="671513" y="2356961"/>
            <a:ext cx="3502438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x </a:t>
            </a:r>
            <a:r>
              <a:rPr b="0" i="0" lang="en-GB" sz="11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= 1;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3"/>
          <p:cNvSpPr/>
          <p:nvPr/>
        </p:nvSpPr>
        <p:spPr>
          <a:xfrm>
            <a:off x="671513" y="2599849"/>
            <a:ext cx="3502438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y </a:t>
            </a:r>
            <a:r>
              <a:rPr b="0" i="0" lang="en-GB" sz="11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= 2;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3"/>
          <p:cNvSpPr/>
          <p:nvPr/>
        </p:nvSpPr>
        <p:spPr>
          <a:xfrm>
            <a:off x="671513" y="2842737"/>
            <a:ext cx="3502438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C451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F5C451"/>
                </a:solidFill>
                <a:latin typeface="Courier New"/>
                <a:ea typeface="Courier New"/>
                <a:cs typeface="Courier New"/>
                <a:sym typeface="Courier New"/>
              </a:rPr>
              <a:t>w </a:t>
            </a:r>
            <a:r>
              <a:rPr b="0" i="0" lang="en-GB" sz="11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= 3;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3"/>
          <p:cNvSpPr/>
          <p:nvPr/>
        </p:nvSpPr>
        <p:spPr>
          <a:xfrm>
            <a:off x="671513" y="3085624"/>
            <a:ext cx="3502438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z </a:t>
            </a:r>
            <a:r>
              <a:rPr b="0" i="0" lang="en-GB" sz="11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-GB" sz="11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0" i="0" lang="en-GB" sz="11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1" name="Google Shape;57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0" y="2492216"/>
            <a:ext cx="3810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33"/>
          <p:cNvSpPr/>
          <p:nvPr/>
        </p:nvSpPr>
        <p:spPr>
          <a:xfrm>
            <a:off x="4366260" y="2825591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compiler reorder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3"/>
          <p:cNvSpPr/>
          <p:nvPr/>
        </p:nvSpPr>
        <p:spPr>
          <a:xfrm>
            <a:off x="4876800" y="1999774"/>
            <a:ext cx="390467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— WHAT MIGHT EXECUTE —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3"/>
          <p:cNvSpPr/>
          <p:nvPr/>
        </p:nvSpPr>
        <p:spPr>
          <a:xfrm>
            <a:off x="4876800" y="2180749"/>
            <a:ext cx="3790950" cy="1323975"/>
          </a:xfrm>
          <a:prstGeom prst="roundRect">
            <a:avLst>
              <a:gd fmla="val 5755" name="adj"/>
            </a:avLst>
          </a:prstGeom>
          <a:solidFill>
            <a:srgbClr val="0A0C12"/>
          </a:solidFill>
          <a:ln cap="flat" cmpd="sng" w="9525">
            <a:solidFill>
              <a:srgbClr val="00B4D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3"/>
          <p:cNvSpPr/>
          <p:nvPr/>
        </p:nvSpPr>
        <p:spPr>
          <a:xfrm>
            <a:off x="5072063" y="2356961"/>
            <a:ext cx="3502438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y </a:t>
            </a:r>
            <a:r>
              <a:rPr b="0" i="0" lang="en-GB" sz="11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= 2;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3"/>
          <p:cNvSpPr/>
          <p:nvPr/>
        </p:nvSpPr>
        <p:spPr>
          <a:xfrm>
            <a:off x="5072063" y="2599849"/>
            <a:ext cx="3502438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z </a:t>
            </a:r>
            <a:r>
              <a:rPr b="0" i="0" lang="en-GB" sz="11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-GB" sz="11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0" i="0" lang="en-GB" sz="11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0" i="0" lang="en-GB" sz="11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← moved up, computed early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3"/>
          <p:cNvSpPr/>
          <p:nvPr/>
        </p:nvSpPr>
        <p:spPr>
          <a:xfrm>
            <a:off x="5072063" y="2842737"/>
            <a:ext cx="3502438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x </a:t>
            </a:r>
            <a:r>
              <a:rPr b="0" i="0" lang="en-GB" sz="11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= 1;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3"/>
          <p:cNvSpPr/>
          <p:nvPr/>
        </p:nvSpPr>
        <p:spPr>
          <a:xfrm>
            <a:off x="5072063" y="3085624"/>
            <a:ext cx="3502438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C451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F5C451"/>
                </a:solidFill>
                <a:latin typeface="Courier New"/>
                <a:ea typeface="Courier New"/>
                <a:cs typeface="Courier New"/>
                <a:sym typeface="Courier New"/>
              </a:rPr>
              <a:t>w </a:t>
            </a:r>
            <a:r>
              <a:rPr b="0" i="0" lang="en-GB" sz="11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= 3;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3"/>
          <p:cNvSpPr/>
          <p:nvPr/>
        </p:nvSpPr>
        <p:spPr>
          <a:xfrm>
            <a:off x="476250" y="4408170"/>
            <a:ext cx="414504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B8BCC7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On a single thread this is </a:t>
            </a:r>
            <a:r>
              <a:rPr b="0" i="0" lang="en-GB" sz="9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invisible </a:t>
            </a:r>
            <a:r>
              <a:rPr b="0" i="0" lang="en-GB" sz="9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. The result is always the same. You never notice.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3"/>
          <p:cNvSpPr/>
          <p:nvPr/>
        </p:nvSpPr>
        <p:spPr>
          <a:xfrm>
            <a:off x="4643438" y="4408170"/>
            <a:ext cx="4024313" cy="354330"/>
          </a:xfrm>
          <a:prstGeom prst="rect">
            <a:avLst/>
          </a:prstGeom>
          <a:solidFill>
            <a:srgbClr val="00B4D8">
              <a:alpha val="7843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3"/>
          <p:cNvSpPr/>
          <p:nvPr/>
        </p:nvSpPr>
        <p:spPr>
          <a:xfrm>
            <a:off x="4643438" y="4408170"/>
            <a:ext cx="14288" cy="35433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3"/>
          <p:cNvSpPr/>
          <p:nvPr/>
        </p:nvSpPr>
        <p:spPr>
          <a:xfrm>
            <a:off x="4791075" y="4503420"/>
            <a:ext cx="386405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z </a:t>
            </a:r>
            <a:r>
              <a:rPr b="0" i="0" lang="en-GB" sz="800" u="none" cap="none" strike="noStrike">
                <a:solidFill>
                  <a:srgbClr val="D7DAE3"/>
                </a:solidFill>
                <a:highlight>
                  <a:srgbClr val="00B4D8"/>
                </a:highlight>
                <a:latin typeface="Arial"/>
                <a:ea typeface="Arial"/>
                <a:cs typeface="Arial"/>
                <a:sym typeface="Arial"/>
              </a:rPr>
              <a:t>still equals </a:t>
            </a:r>
            <a:r>
              <a:rPr b="0" i="0" lang="en-GB" sz="8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800" u="none" cap="none" strike="noStrike">
                <a:solidFill>
                  <a:srgbClr val="D7DAE3"/>
                </a:solidFill>
                <a:highlight>
                  <a:srgbClr val="00B4D8"/>
                </a:highlight>
                <a:latin typeface="Arial"/>
                <a:ea typeface="Arial"/>
                <a:cs typeface="Arial"/>
                <a:sym typeface="Arial"/>
              </a:rPr>
              <a:t>. Nothing broke. </a:t>
            </a:r>
            <a:r>
              <a:rPr b="0" i="0" lang="en-GB" sz="8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The compiler is allowed to do this.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4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MEMORY ORDERING · PART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4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With two threads, reordering is no longer invisible.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4"/>
          <p:cNvSpPr/>
          <p:nvPr/>
        </p:nvSpPr>
        <p:spPr>
          <a:xfrm>
            <a:off x="476250" y="1267778"/>
            <a:ext cx="4029075" cy="787717"/>
          </a:xfrm>
          <a:prstGeom prst="roundRect">
            <a:avLst>
              <a:gd fmla="val 9674" name="adj"/>
            </a:avLst>
          </a:prstGeom>
          <a:solidFill>
            <a:srgbClr val="0A0C12"/>
          </a:solidFill>
          <a:ln cap="flat" cmpd="sng" w="9525">
            <a:solidFill>
              <a:srgbClr val="2429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4"/>
          <p:cNvSpPr/>
          <p:nvPr/>
        </p:nvSpPr>
        <p:spPr>
          <a:xfrm>
            <a:off x="633413" y="1386840"/>
            <a:ext cx="3826193" cy="13239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THREAD A · WRITES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4"/>
          <p:cNvSpPr/>
          <p:nvPr/>
        </p:nvSpPr>
        <p:spPr>
          <a:xfrm>
            <a:off x="633413" y="1547813"/>
            <a:ext cx="3826193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900"/>
              <a:buFont typeface="Courier New"/>
              <a:buNone/>
            </a:pPr>
            <a:r>
              <a:rPr b="0" i="0" lang="en-GB" sz="9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x </a:t>
            </a:r>
            <a:r>
              <a:rPr b="0" i="0" lang="en-GB" sz="9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= 1;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4"/>
          <p:cNvSpPr/>
          <p:nvPr/>
        </p:nvSpPr>
        <p:spPr>
          <a:xfrm>
            <a:off x="633413" y="1742122"/>
            <a:ext cx="3826193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900"/>
              <a:buFont typeface="Courier New"/>
              <a:buNone/>
            </a:pPr>
            <a:r>
              <a:rPr b="0" i="0" lang="en-GB" sz="9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ready </a:t>
            </a:r>
            <a:r>
              <a:rPr b="0" i="0" lang="en-GB" sz="9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-GB" sz="9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GB" sz="9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0" i="0" lang="en-GB" sz="9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← signals Thread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4"/>
          <p:cNvSpPr/>
          <p:nvPr/>
        </p:nvSpPr>
        <p:spPr>
          <a:xfrm>
            <a:off x="4638675" y="1267778"/>
            <a:ext cx="4029075" cy="787717"/>
          </a:xfrm>
          <a:prstGeom prst="roundRect">
            <a:avLst>
              <a:gd fmla="val 9674" name="adj"/>
            </a:avLst>
          </a:prstGeom>
          <a:solidFill>
            <a:srgbClr val="0A0C12"/>
          </a:solidFill>
          <a:ln cap="flat" cmpd="sng" w="9525">
            <a:solidFill>
              <a:srgbClr val="2429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4"/>
          <p:cNvSpPr/>
          <p:nvPr/>
        </p:nvSpPr>
        <p:spPr>
          <a:xfrm>
            <a:off x="4795837" y="1386840"/>
            <a:ext cx="3826193" cy="13239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THREAD B · READS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4"/>
          <p:cNvSpPr/>
          <p:nvPr/>
        </p:nvSpPr>
        <p:spPr>
          <a:xfrm>
            <a:off x="4795837" y="1547813"/>
            <a:ext cx="3826193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ourier New"/>
              <a:buNone/>
            </a:pPr>
            <a:r>
              <a:rPr b="0" i="0" lang="en-GB" sz="9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while </a:t>
            </a:r>
            <a:r>
              <a:rPr b="0" i="0" lang="en-GB" sz="9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(!</a:t>
            </a:r>
            <a:r>
              <a:rPr b="0" i="0" lang="en-GB" sz="9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r>
              <a:rPr b="0" i="0" lang="en-GB" sz="9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4"/>
          <p:cNvSpPr/>
          <p:nvPr/>
        </p:nvSpPr>
        <p:spPr>
          <a:xfrm>
            <a:off x="4795837" y="1742122"/>
            <a:ext cx="3826193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ourier New"/>
              <a:buNone/>
            </a:pPr>
            <a:r>
              <a:rPr b="0" i="0" lang="en-GB" sz="9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GB" sz="9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9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GB" sz="9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b="0" i="0" lang="en-GB" sz="9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← expects x ==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4"/>
          <p:cNvSpPr/>
          <p:nvPr/>
        </p:nvSpPr>
        <p:spPr>
          <a:xfrm>
            <a:off x="476250" y="2188845"/>
            <a:ext cx="4029075" cy="2268855"/>
          </a:xfrm>
          <a:prstGeom prst="roundRect">
            <a:avLst>
              <a:gd fmla="val 2939" name="adj"/>
            </a:avLst>
          </a:prstGeom>
          <a:solidFill>
            <a:srgbClr val="16192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4"/>
          <p:cNvSpPr/>
          <p:nvPr/>
        </p:nvSpPr>
        <p:spPr>
          <a:xfrm>
            <a:off x="476250" y="4452938"/>
            <a:ext cx="4029075" cy="4763"/>
          </a:xfrm>
          <a:prstGeom prst="rect">
            <a:avLst/>
          </a:prstGeom>
          <a:solidFill>
            <a:srgbClr val="34D399">
              <a:alpha val="34901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4"/>
          <p:cNvSpPr/>
          <p:nvPr/>
        </p:nvSpPr>
        <p:spPr>
          <a:xfrm>
            <a:off x="476250" y="2188845"/>
            <a:ext cx="4029075" cy="14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4"/>
          <p:cNvSpPr/>
          <p:nvPr/>
        </p:nvSpPr>
        <p:spPr>
          <a:xfrm>
            <a:off x="476250" y="2188845"/>
            <a:ext cx="4763" cy="2268855"/>
          </a:xfrm>
          <a:prstGeom prst="rect">
            <a:avLst/>
          </a:prstGeom>
          <a:solidFill>
            <a:srgbClr val="34D399">
              <a:alpha val="34901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4"/>
          <p:cNvSpPr/>
          <p:nvPr/>
        </p:nvSpPr>
        <p:spPr>
          <a:xfrm>
            <a:off x="4500563" y="2188845"/>
            <a:ext cx="4763" cy="2268855"/>
          </a:xfrm>
          <a:prstGeom prst="rect">
            <a:avLst/>
          </a:prstGeom>
          <a:solidFill>
            <a:srgbClr val="34D399">
              <a:alpha val="34901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4"/>
          <p:cNvSpPr/>
          <p:nvPr/>
        </p:nvSpPr>
        <p:spPr>
          <a:xfrm>
            <a:off x="614363" y="2398395"/>
            <a:ext cx="1758087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600"/>
              <a:buFont typeface="Courier New"/>
              <a:buNone/>
            </a:pPr>
            <a:r>
              <a:rPr b="0" i="0" lang="en-GB" sz="6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SCENARIO 1 · WHAT YOU EXPECT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4"/>
          <p:cNvSpPr/>
          <p:nvPr/>
        </p:nvSpPr>
        <p:spPr>
          <a:xfrm>
            <a:off x="4184094" y="2317433"/>
            <a:ext cx="221218" cy="1952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4"/>
          <p:cNvSpPr/>
          <p:nvPr/>
        </p:nvSpPr>
        <p:spPr>
          <a:xfrm>
            <a:off x="614363" y="2560320"/>
            <a:ext cx="386543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A: </a:t>
            </a:r>
            <a:r>
              <a:rPr b="0" i="0" lang="en-GB" sz="8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x=1 </a:t>
            </a: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→ </a:t>
            </a:r>
            <a:r>
              <a:rPr b="0" i="0" lang="en-GB" sz="8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ready=true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4"/>
          <p:cNvSpPr/>
          <p:nvPr/>
        </p:nvSpPr>
        <p:spPr>
          <a:xfrm>
            <a:off x="614363" y="2722245"/>
            <a:ext cx="386543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B: </a:t>
            </a:r>
            <a:r>
              <a:rPr b="0" i="0" lang="en-GB" sz="8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sees ready </a:t>
            </a: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→ </a:t>
            </a:r>
            <a:r>
              <a:rPr b="0" i="0" lang="en-GB" sz="8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reads x=</a:t>
            </a:r>
            <a:r>
              <a:rPr b="0" i="0" lang="en-GB" sz="8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4"/>
          <p:cNvSpPr/>
          <p:nvPr/>
        </p:nvSpPr>
        <p:spPr>
          <a:xfrm>
            <a:off x="4638675" y="2188845"/>
            <a:ext cx="4029075" cy="2268855"/>
          </a:xfrm>
          <a:prstGeom prst="roundRect">
            <a:avLst>
              <a:gd fmla="val 2939" name="adj"/>
            </a:avLst>
          </a:prstGeom>
          <a:solidFill>
            <a:srgbClr val="16192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4"/>
          <p:cNvSpPr/>
          <p:nvPr/>
        </p:nvSpPr>
        <p:spPr>
          <a:xfrm>
            <a:off x="4638675" y="4452938"/>
            <a:ext cx="4029075" cy="4763"/>
          </a:xfrm>
          <a:prstGeom prst="rect">
            <a:avLst/>
          </a:prstGeom>
          <a:solidFill>
            <a:srgbClr val="E5484D">
              <a:alpha val="34901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4"/>
          <p:cNvSpPr/>
          <p:nvPr/>
        </p:nvSpPr>
        <p:spPr>
          <a:xfrm>
            <a:off x="4638675" y="2188845"/>
            <a:ext cx="4029075" cy="14288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4"/>
          <p:cNvSpPr/>
          <p:nvPr/>
        </p:nvSpPr>
        <p:spPr>
          <a:xfrm>
            <a:off x="4638675" y="2188845"/>
            <a:ext cx="4763" cy="2268855"/>
          </a:xfrm>
          <a:prstGeom prst="rect">
            <a:avLst/>
          </a:prstGeom>
          <a:solidFill>
            <a:srgbClr val="E5484D">
              <a:alpha val="34901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4"/>
          <p:cNvSpPr/>
          <p:nvPr/>
        </p:nvSpPr>
        <p:spPr>
          <a:xfrm>
            <a:off x="8662988" y="2188845"/>
            <a:ext cx="4763" cy="2268855"/>
          </a:xfrm>
          <a:prstGeom prst="rect">
            <a:avLst/>
          </a:prstGeom>
          <a:solidFill>
            <a:srgbClr val="E5484D">
              <a:alpha val="34901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4"/>
          <p:cNvSpPr/>
          <p:nvPr/>
        </p:nvSpPr>
        <p:spPr>
          <a:xfrm>
            <a:off x="4776788" y="2398395"/>
            <a:ext cx="1758087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600"/>
              <a:buFont typeface="Courier New"/>
              <a:buNone/>
            </a:pPr>
            <a:r>
              <a:rPr b="0" i="0" lang="en-GB" sz="6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SCENARIO 2 · WHAT CAN HAPPEN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4"/>
          <p:cNvSpPr/>
          <p:nvPr/>
        </p:nvSpPr>
        <p:spPr>
          <a:xfrm>
            <a:off x="8346520" y="2317433"/>
            <a:ext cx="221218" cy="1952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4"/>
          <p:cNvSpPr/>
          <p:nvPr/>
        </p:nvSpPr>
        <p:spPr>
          <a:xfrm>
            <a:off x="4776788" y="2560320"/>
            <a:ext cx="386543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A: </a:t>
            </a:r>
            <a:r>
              <a:rPr b="0" i="0" lang="en-GB" sz="8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ready=true </a:t>
            </a: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→ </a:t>
            </a:r>
            <a:r>
              <a:rPr b="0" i="0" lang="en-GB" sz="8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x=1 </a:t>
            </a:r>
            <a:r>
              <a:rPr b="0" i="0" lang="en-GB" sz="8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(reordered!)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4"/>
          <p:cNvSpPr/>
          <p:nvPr/>
        </p:nvSpPr>
        <p:spPr>
          <a:xfrm>
            <a:off x="4776788" y="2722245"/>
            <a:ext cx="386543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B: </a:t>
            </a:r>
            <a:r>
              <a:rPr b="0" i="0" lang="en-GB" sz="8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sees ready </a:t>
            </a: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→ </a:t>
            </a:r>
            <a:r>
              <a:rPr b="0" i="0" lang="en-GB" sz="8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reads x=</a:t>
            </a:r>
            <a:r>
              <a:rPr b="0" i="0" lang="en-GB" sz="8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4"/>
          <p:cNvSpPr/>
          <p:nvPr/>
        </p:nvSpPr>
        <p:spPr>
          <a:xfrm>
            <a:off x="353378" y="4591050"/>
            <a:ext cx="843724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8BCC7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Thread A's reorder, </a:t>
            </a:r>
            <a:r>
              <a:rPr b="0" i="0" lang="en-GB" sz="9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invisible to itself</a:t>
            </a:r>
            <a:r>
              <a:rPr b="0" i="0" lang="en-GB" sz="9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, is </a:t>
            </a:r>
            <a:r>
              <a:rPr b="0" i="0" lang="en-GB" sz="900" u="none" cap="none" strike="noStrike">
                <a:solidFill>
                  <a:srgbClr val="E5484D"/>
                </a:solidFill>
                <a:latin typeface="Arial"/>
                <a:ea typeface="Arial"/>
                <a:cs typeface="Arial"/>
                <a:sym typeface="Arial"/>
              </a:rPr>
              <a:t>catastrophic </a:t>
            </a:r>
            <a:r>
              <a:rPr b="0" i="0" lang="en-GB" sz="9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for Thread B.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5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MEMORY ORDERING · PART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5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Telling the CPU what it cannot move.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5"/>
          <p:cNvSpPr/>
          <p:nvPr/>
        </p:nvSpPr>
        <p:spPr>
          <a:xfrm>
            <a:off x="476250" y="1229677"/>
            <a:ext cx="8191500" cy="490538"/>
          </a:xfrm>
          <a:prstGeom prst="roundRect">
            <a:avLst>
              <a:gd fmla="val 13592" name="adj"/>
            </a:avLst>
          </a:prstGeom>
          <a:solidFill>
            <a:srgbClr val="16192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5"/>
          <p:cNvSpPr/>
          <p:nvPr/>
        </p:nvSpPr>
        <p:spPr>
          <a:xfrm>
            <a:off x="476250" y="1715453"/>
            <a:ext cx="8191500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5"/>
          <p:cNvSpPr/>
          <p:nvPr/>
        </p:nvSpPr>
        <p:spPr>
          <a:xfrm>
            <a:off x="476250" y="1229678"/>
            <a:ext cx="8191500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5"/>
          <p:cNvSpPr/>
          <p:nvPr/>
        </p:nvSpPr>
        <p:spPr>
          <a:xfrm>
            <a:off x="476250" y="1229677"/>
            <a:ext cx="14288" cy="490538"/>
          </a:xfrm>
          <a:prstGeom prst="rect">
            <a:avLst/>
          </a:prstGeom>
          <a:solidFill>
            <a:srgbClr val="5C637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5"/>
          <p:cNvSpPr/>
          <p:nvPr/>
        </p:nvSpPr>
        <p:spPr>
          <a:xfrm>
            <a:off x="8662988" y="1229677"/>
            <a:ext cx="4763" cy="490538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5"/>
          <p:cNvSpPr/>
          <p:nvPr/>
        </p:nvSpPr>
        <p:spPr>
          <a:xfrm>
            <a:off x="604838" y="1360647"/>
            <a:ext cx="4667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5"/>
          <p:cNvSpPr/>
          <p:nvPr/>
        </p:nvSpPr>
        <p:spPr>
          <a:xfrm>
            <a:off x="1185862" y="1339215"/>
            <a:ext cx="1569720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relaxed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5"/>
          <p:cNvSpPr/>
          <p:nvPr/>
        </p:nvSpPr>
        <p:spPr>
          <a:xfrm>
            <a:off x="1185862" y="1486853"/>
            <a:ext cx="156972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Atomic. </a:t>
            </a:r>
            <a:r>
              <a:rPr b="0" i="0" lang="en-GB" sz="8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No ordering promise.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5"/>
          <p:cNvSpPr/>
          <p:nvPr/>
        </p:nvSpPr>
        <p:spPr>
          <a:xfrm>
            <a:off x="3945255" y="1427322"/>
            <a:ext cx="8953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5"/>
          <p:cNvSpPr/>
          <p:nvPr/>
        </p:nvSpPr>
        <p:spPr>
          <a:xfrm>
            <a:off x="4082415" y="1427322"/>
            <a:ext cx="2952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store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5"/>
          <p:cNvSpPr/>
          <p:nvPr/>
        </p:nvSpPr>
        <p:spPr>
          <a:xfrm>
            <a:off x="4528185" y="1427322"/>
            <a:ext cx="8953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451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F5C451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5"/>
          <p:cNvSpPr/>
          <p:nvPr/>
        </p:nvSpPr>
        <p:spPr>
          <a:xfrm>
            <a:off x="4802505" y="1427322"/>
            <a:ext cx="8953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5"/>
          <p:cNvSpPr/>
          <p:nvPr/>
        </p:nvSpPr>
        <p:spPr>
          <a:xfrm>
            <a:off x="4939665" y="1427322"/>
            <a:ext cx="24384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load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5"/>
          <p:cNvSpPr/>
          <p:nvPr/>
        </p:nvSpPr>
        <p:spPr>
          <a:xfrm>
            <a:off x="5231130" y="1436847"/>
            <a:ext cx="958215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// might see, might not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5"/>
          <p:cNvSpPr/>
          <p:nvPr/>
        </p:nvSpPr>
        <p:spPr>
          <a:xfrm>
            <a:off x="7348538" y="1391603"/>
            <a:ext cx="118110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USE CASE </a:t>
            </a:r>
            <a:r>
              <a:rPr b="0" i="0" lang="en-GB" sz="6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counters, hints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5"/>
          <p:cNvSpPr/>
          <p:nvPr/>
        </p:nvSpPr>
        <p:spPr>
          <a:xfrm>
            <a:off x="476250" y="1824990"/>
            <a:ext cx="8191500" cy="490538"/>
          </a:xfrm>
          <a:prstGeom prst="roundRect">
            <a:avLst>
              <a:gd fmla="val 13592" name="adj"/>
            </a:avLst>
          </a:prstGeom>
          <a:solidFill>
            <a:srgbClr val="16192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5"/>
          <p:cNvSpPr/>
          <p:nvPr/>
        </p:nvSpPr>
        <p:spPr>
          <a:xfrm>
            <a:off x="476250" y="2310765"/>
            <a:ext cx="8191500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5"/>
          <p:cNvSpPr/>
          <p:nvPr/>
        </p:nvSpPr>
        <p:spPr>
          <a:xfrm>
            <a:off x="476250" y="1824990"/>
            <a:ext cx="8191500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5"/>
          <p:cNvSpPr/>
          <p:nvPr/>
        </p:nvSpPr>
        <p:spPr>
          <a:xfrm>
            <a:off x="476250" y="1824990"/>
            <a:ext cx="14288" cy="49053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5"/>
          <p:cNvSpPr/>
          <p:nvPr/>
        </p:nvSpPr>
        <p:spPr>
          <a:xfrm>
            <a:off x="8662988" y="1824990"/>
            <a:ext cx="4763" cy="490538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5"/>
          <p:cNvSpPr/>
          <p:nvPr/>
        </p:nvSpPr>
        <p:spPr>
          <a:xfrm>
            <a:off x="604838" y="1955959"/>
            <a:ext cx="4667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5"/>
          <p:cNvSpPr/>
          <p:nvPr/>
        </p:nvSpPr>
        <p:spPr>
          <a:xfrm>
            <a:off x="1185862" y="1934528"/>
            <a:ext cx="1569720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release / acquire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5"/>
          <p:cNvSpPr/>
          <p:nvPr/>
        </p:nvSpPr>
        <p:spPr>
          <a:xfrm>
            <a:off x="1185862" y="2082165"/>
            <a:ext cx="156972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GB" sz="8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handshake</a:t>
            </a:r>
            <a:r>
              <a:rPr b="0" i="0" lang="en-GB" sz="8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5"/>
          <p:cNvSpPr/>
          <p:nvPr/>
        </p:nvSpPr>
        <p:spPr>
          <a:xfrm>
            <a:off x="4010025" y="1967865"/>
            <a:ext cx="8953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5"/>
          <p:cNvSpPr/>
          <p:nvPr/>
        </p:nvSpPr>
        <p:spPr>
          <a:xfrm>
            <a:off x="4128135" y="1967865"/>
            <a:ext cx="3467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store(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5"/>
          <p:cNvSpPr/>
          <p:nvPr/>
        </p:nvSpPr>
        <p:spPr>
          <a:xfrm>
            <a:off x="4503420" y="1967865"/>
            <a:ext cx="39814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release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5"/>
          <p:cNvSpPr/>
          <p:nvPr/>
        </p:nvSpPr>
        <p:spPr>
          <a:xfrm>
            <a:off x="4930140" y="1967865"/>
            <a:ext cx="8953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5"/>
          <p:cNvSpPr/>
          <p:nvPr/>
        </p:nvSpPr>
        <p:spPr>
          <a:xfrm>
            <a:off x="5048250" y="1967865"/>
            <a:ext cx="8953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5"/>
          <p:cNvSpPr/>
          <p:nvPr/>
        </p:nvSpPr>
        <p:spPr>
          <a:xfrm>
            <a:off x="5166360" y="1967865"/>
            <a:ext cx="8953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5"/>
          <p:cNvSpPr/>
          <p:nvPr/>
        </p:nvSpPr>
        <p:spPr>
          <a:xfrm>
            <a:off x="5284470" y="1967865"/>
            <a:ext cx="2952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load(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5"/>
          <p:cNvSpPr/>
          <p:nvPr/>
        </p:nvSpPr>
        <p:spPr>
          <a:xfrm>
            <a:off x="5608320" y="1967865"/>
            <a:ext cx="39814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acquire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5"/>
          <p:cNvSpPr/>
          <p:nvPr/>
        </p:nvSpPr>
        <p:spPr>
          <a:xfrm>
            <a:off x="6035040" y="1967865"/>
            <a:ext cx="8953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5"/>
          <p:cNvSpPr/>
          <p:nvPr/>
        </p:nvSpPr>
        <p:spPr>
          <a:xfrm>
            <a:off x="2777062" y="2091690"/>
            <a:ext cx="4542377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500"/>
              <a:buFont typeface="Arial"/>
              <a:buNone/>
            </a:pPr>
            <a:r>
              <a:rPr b="0" i="0" lang="en-GB" sz="5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If B sees A's store, B sees </a:t>
            </a:r>
            <a:r>
              <a:rPr b="0" i="0" lang="en-GB" sz="5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everything </a:t>
            </a:r>
            <a:r>
              <a:rPr b="0" i="0" lang="en-GB" sz="5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A wrote before it.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5"/>
          <p:cNvSpPr/>
          <p:nvPr/>
        </p:nvSpPr>
        <p:spPr>
          <a:xfrm>
            <a:off x="7348538" y="1941672"/>
            <a:ext cx="11811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USE CASE </a:t>
            </a:r>
            <a:r>
              <a:rPr b="0" i="0" lang="en-GB" sz="6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passing data between threads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5"/>
          <p:cNvSpPr/>
          <p:nvPr/>
        </p:nvSpPr>
        <p:spPr>
          <a:xfrm>
            <a:off x="476250" y="2420303"/>
            <a:ext cx="8191500" cy="614363"/>
          </a:xfrm>
          <a:prstGeom prst="roundRect">
            <a:avLst>
              <a:gd fmla="val 10853" name="adj"/>
            </a:avLst>
          </a:prstGeom>
          <a:solidFill>
            <a:srgbClr val="00B4D8">
              <a:alpha val="7843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5"/>
          <p:cNvSpPr/>
          <p:nvPr/>
        </p:nvSpPr>
        <p:spPr>
          <a:xfrm>
            <a:off x="476250" y="3029903"/>
            <a:ext cx="8191500" cy="4763"/>
          </a:xfrm>
          <a:prstGeom prst="rect">
            <a:avLst/>
          </a:prstGeom>
          <a:solidFill>
            <a:srgbClr val="00B4D8">
              <a:alpha val="34901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5"/>
          <p:cNvSpPr/>
          <p:nvPr/>
        </p:nvSpPr>
        <p:spPr>
          <a:xfrm>
            <a:off x="476250" y="2420303"/>
            <a:ext cx="8191500" cy="4763"/>
          </a:xfrm>
          <a:prstGeom prst="rect">
            <a:avLst/>
          </a:prstGeom>
          <a:solidFill>
            <a:srgbClr val="00B4D8">
              <a:alpha val="34901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5"/>
          <p:cNvSpPr/>
          <p:nvPr/>
        </p:nvSpPr>
        <p:spPr>
          <a:xfrm>
            <a:off x="476250" y="2420303"/>
            <a:ext cx="14288" cy="61436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5"/>
          <p:cNvSpPr/>
          <p:nvPr/>
        </p:nvSpPr>
        <p:spPr>
          <a:xfrm>
            <a:off x="8662988" y="2420303"/>
            <a:ext cx="4763" cy="614363"/>
          </a:xfrm>
          <a:prstGeom prst="rect">
            <a:avLst/>
          </a:prstGeom>
          <a:solidFill>
            <a:srgbClr val="00B4D8">
              <a:alpha val="34901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5"/>
          <p:cNvSpPr/>
          <p:nvPr/>
        </p:nvSpPr>
        <p:spPr>
          <a:xfrm>
            <a:off x="604838" y="2613184"/>
            <a:ext cx="4667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5"/>
          <p:cNvSpPr/>
          <p:nvPr/>
        </p:nvSpPr>
        <p:spPr>
          <a:xfrm>
            <a:off x="1185862" y="2529840"/>
            <a:ext cx="1569720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seq_cst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5"/>
          <p:cNvSpPr/>
          <p:nvPr/>
        </p:nvSpPr>
        <p:spPr>
          <a:xfrm>
            <a:off x="1185862" y="2677478"/>
            <a:ext cx="15697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One </a:t>
            </a:r>
            <a:r>
              <a:rPr b="0" i="0" lang="en-GB" sz="8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global timeline </a:t>
            </a:r>
            <a:r>
              <a:rPr b="0" i="0" lang="en-GB" sz="8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. All threads agree.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5"/>
          <p:cNvSpPr/>
          <p:nvPr/>
        </p:nvSpPr>
        <p:spPr>
          <a:xfrm>
            <a:off x="2900363" y="2660809"/>
            <a:ext cx="4295775" cy="28575"/>
          </a:xfrm>
          <a:prstGeom prst="roundRect">
            <a:avLst>
              <a:gd fmla="val 50000" name="adj"/>
            </a:avLst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5"/>
          <p:cNvSpPr/>
          <p:nvPr/>
        </p:nvSpPr>
        <p:spPr>
          <a:xfrm>
            <a:off x="3501707" y="2613184"/>
            <a:ext cx="47625" cy="123825"/>
          </a:xfrm>
          <a:prstGeom prst="roundRect">
            <a:avLst>
              <a:gd fmla="val 20000" name="adj"/>
            </a:avLst>
          </a:prstGeom>
          <a:solidFill>
            <a:srgbClr val="FF8A3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5"/>
          <p:cNvSpPr/>
          <p:nvPr/>
        </p:nvSpPr>
        <p:spPr>
          <a:xfrm>
            <a:off x="4532710" y="2613184"/>
            <a:ext cx="47625" cy="123825"/>
          </a:xfrm>
          <a:prstGeom prst="roundRect">
            <a:avLst>
              <a:gd fmla="val 20000" name="adj"/>
            </a:avLst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5"/>
          <p:cNvSpPr/>
          <p:nvPr/>
        </p:nvSpPr>
        <p:spPr>
          <a:xfrm>
            <a:off x="5563712" y="2613184"/>
            <a:ext cx="47625" cy="123825"/>
          </a:xfrm>
          <a:prstGeom prst="roundRect">
            <a:avLst>
              <a:gd fmla="val 20000" name="adj"/>
            </a:avLst>
          </a:prstGeom>
          <a:solidFill>
            <a:srgbClr val="FF8A3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5"/>
          <p:cNvSpPr/>
          <p:nvPr/>
        </p:nvSpPr>
        <p:spPr>
          <a:xfrm>
            <a:off x="6594713" y="2613184"/>
            <a:ext cx="47625" cy="123825"/>
          </a:xfrm>
          <a:prstGeom prst="roundRect">
            <a:avLst>
              <a:gd fmla="val 20000" name="adj"/>
            </a:avLst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5"/>
          <p:cNvSpPr/>
          <p:nvPr/>
        </p:nvSpPr>
        <p:spPr>
          <a:xfrm>
            <a:off x="2900363" y="2775109"/>
            <a:ext cx="78105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5"/>
          <p:cNvSpPr/>
          <p:nvPr/>
        </p:nvSpPr>
        <p:spPr>
          <a:xfrm>
            <a:off x="4318953" y="2775109"/>
            <a:ext cx="78105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5"/>
          <p:cNvSpPr/>
          <p:nvPr/>
        </p:nvSpPr>
        <p:spPr>
          <a:xfrm>
            <a:off x="5737543" y="2775109"/>
            <a:ext cx="78105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5"/>
          <p:cNvSpPr/>
          <p:nvPr/>
        </p:nvSpPr>
        <p:spPr>
          <a:xfrm>
            <a:off x="7156132" y="2775109"/>
            <a:ext cx="78105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5"/>
          <p:cNvSpPr/>
          <p:nvPr/>
        </p:nvSpPr>
        <p:spPr>
          <a:xfrm>
            <a:off x="7348538" y="2598897"/>
            <a:ext cx="11811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USE CASE </a:t>
            </a:r>
            <a:r>
              <a:rPr b="0" i="0" lang="en-GB" sz="6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when all threads must agree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5"/>
          <p:cNvSpPr/>
          <p:nvPr/>
        </p:nvSpPr>
        <p:spPr>
          <a:xfrm>
            <a:off x="353378" y="4591050"/>
            <a:ext cx="843724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8BCC7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Pick the </a:t>
            </a:r>
            <a:r>
              <a:rPr b="0" i="0" lang="en-GB" sz="9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weakest </a:t>
            </a:r>
            <a:r>
              <a:rPr b="0" i="0" lang="en-GB" sz="9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ordering that keeps your code correct.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6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MEMORY ORDERING · PART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6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relaxed or acquire/release is not always enough.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6"/>
          <p:cNvSpPr/>
          <p:nvPr/>
        </p:nvSpPr>
        <p:spPr>
          <a:xfrm>
            <a:off x="476250" y="1239202"/>
            <a:ext cx="8191500" cy="280035"/>
          </a:xfrm>
          <a:prstGeom prst="roundRect">
            <a:avLst>
              <a:gd fmla="val 27211" name="adj"/>
            </a:avLst>
          </a:prstGeom>
          <a:solidFill>
            <a:srgbClr val="0A0C12"/>
          </a:solidFill>
          <a:ln cap="flat" cmpd="sng" w="9525">
            <a:solidFill>
              <a:srgbClr val="2429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6"/>
          <p:cNvSpPr/>
          <p:nvPr/>
        </p:nvSpPr>
        <p:spPr>
          <a:xfrm>
            <a:off x="585788" y="1310640"/>
            <a:ext cx="8218170" cy="15621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std::atomic&lt;bool&gt; </a:t>
            </a:r>
            <a:r>
              <a:rPr b="0" i="0" lang="en-GB" sz="7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GB" sz="700" u="none" cap="none" strike="noStrike">
                <a:solidFill>
                  <a:srgbClr val="D7DAE3"/>
                </a:solidFill>
                <a:highlight>
                  <a:srgbClr val="0A0C12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en-GB" sz="7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GB" sz="700" u="none" cap="none" strike="noStrike">
                <a:solidFill>
                  <a:srgbClr val="D7DAE3"/>
                </a:solidFill>
                <a:highlight>
                  <a:srgbClr val="0A0C12"/>
                </a:highlight>
                <a:latin typeface="Courier New"/>
                <a:ea typeface="Courier New"/>
                <a:cs typeface="Courier New"/>
                <a:sym typeface="Courier New"/>
              </a:rPr>
              <a:t>}, </a:t>
            </a: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0" i="0" lang="en-GB" sz="700" u="none" cap="none" strike="noStrike">
                <a:solidFill>
                  <a:srgbClr val="D7DAE3"/>
                </a:solidFill>
                <a:highlight>
                  <a:srgbClr val="0A0C12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en-GB" sz="7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GB" sz="700" u="none" cap="none" strike="noStrike">
                <a:solidFill>
                  <a:srgbClr val="D7DAE3"/>
                </a:solidFill>
                <a:highlight>
                  <a:srgbClr val="0A0C12"/>
                </a:highlight>
                <a:latin typeface="Courier New"/>
                <a:ea typeface="Courier New"/>
                <a:cs typeface="Courier New"/>
                <a:sym typeface="Courier New"/>
              </a:rPr>
              <a:t>}; </a:t>
            </a: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0" i="0" lang="en-GB" sz="700" u="none" cap="none" strike="noStrike">
                <a:solidFill>
                  <a:srgbClr val="D7DAE3"/>
                </a:solidFill>
                <a:highlight>
                  <a:srgbClr val="0A0C12"/>
                </a:highlight>
                <a:latin typeface="Courier New"/>
                <a:ea typeface="Courier New"/>
                <a:cs typeface="Courier New"/>
                <a:sym typeface="Courier New"/>
              </a:rPr>
              <a:t>r1, r2;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6"/>
          <p:cNvSpPr/>
          <p:nvPr/>
        </p:nvSpPr>
        <p:spPr>
          <a:xfrm>
            <a:off x="476250" y="1585913"/>
            <a:ext cx="4052888" cy="387906"/>
          </a:xfrm>
          <a:prstGeom prst="roundRect">
            <a:avLst>
              <a:gd fmla="val 14733" name="adj"/>
            </a:avLst>
          </a:prstGeom>
          <a:solidFill>
            <a:srgbClr val="161922"/>
          </a:solidFill>
          <a:ln cap="flat" cmpd="sng" w="9525">
            <a:solidFill>
              <a:srgbClr val="E5484D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6"/>
          <p:cNvSpPr/>
          <p:nvPr/>
        </p:nvSpPr>
        <p:spPr>
          <a:xfrm>
            <a:off x="585788" y="1657350"/>
            <a:ext cx="3948827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WRITER 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6"/>
          <p:cNvSpPr/>
          <p:nvPr/>
        </p:nvSpPr>
        <p:spPr>
          <a:xfrm>
            <a:off x="585788" y="1762125"/>
            <a:ext cx="3948827" cy="1593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b="0" i="0" lang="en-GB" sz="700" u="none" cap="none" strike="noStrike">
                <a:solidFill>
                  <a:srgbClr val="F5C451"/>
                </a:solidFill>
                <a:latin typeface="Courier New"/>
                <a:ea typeface="Courier New"/>
                <a:cs typeface="Courier New"/>
                <a:sym typeface="Courier New"/>
              </a:rPr>
              <a:t>writer_a</a:t>
            </a: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() { </a:t>
            </a:r>
            <a:r>
              <a:rPr b="0" i="0" lang="en-GB" sz="7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x </a:t>
            </a: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-GB" sz="7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6"/>
          <p:cNvSpPr/>
          <p:nvPr/>
        </p:nvSpPr>
        <p:spPr>
          <a:xfrm>
            <a:off x="4614863" y="1585913"/>
            <a:ext cx="4052888" cy="387906"/>
          </a:xfrm>
          <a:prstGeom prst="roundRect">
            <a:avLst>
              <a:gd fmla="val 14733" name="adj"/>
            </a:avLst>
          </a:prstGeom>
          <a:solidFill>
            <a:srgbClr val="161922"/>
          </a:solidFill>
          <a:ln cap="flat" cmpd="sng" w="9525">
            <a:solidFill>
              <a:srgbClr val="00B4D8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36"/>
          <p:cNvSpPr/>
          <p:nvPr/>
        </p:nvSpPr>
        <p:spPr>
          <a:xfrm>
            <a:off x="4724400" y="1657350"/>
            <a:ext cx="3948827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WRITER 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6"/>
          <p:cNvSpPr/>
          <p:nvPr/>
        </p:nvSpPr>
        <p:spPr>
          <a:xfrm>
            <a:off x="4724400" y="1762125"/>
            <a:ext cx="3948827" cy="1593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b="0" i="0" lang="en-GB" sz="700" u="none" cap="none" strike="noStrike">
                <a:solidFill>
                  <a:srgbClr val="F5C451"/>
                </a:solidFill>
                <a:latin typeface="Courier New"/>
                <a:ea typeface="Courier New"/>
                <a:cs typeface="Courier New"/>
                <a:sym typeface="Courier New"/>
              </a:rPr>
              <a:t>writer_b</a:t>
            </a: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() { </a:t>
            </a: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y </a:t>
            </a: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-GB" sz="7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6"/>
          <p:cNvSpPr/>
          <p:nvPr/>
        </p:nvSpPr>
        <p:spPr>
          <a:xfrm>
            <a:off x="476250" y="2040493"/>
            <a:ext cx="4052888" cy="779145"/>
          </a:xfrm>
          <a:prstGeom prst="roundRect">
            <a:avLst>
              <a:gd fmla="val 7335" name="adj"/>
            </a:avLst>
          </a:prstGeom>
          <a:solidFill>
            <a:srgbClr val="161922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6"/>
          <p:cNvSpPr/>
          <p:nvPr/>
        </p:nvSpPr>
        <p:spPr>
          <a:xfrm>
            <a:off x="585788" y="2111931"/>
            <a:ext cx="3948827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READER C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6"/>
          <p:cNvSpPr/>
          <p:nvPr/>
        </p:nvSpPr>
        <p:spPr>
          <a:xfrm>
            <a:off x="585788" y="2216706"/>
            <a:ext cx="3948827" cy="55054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b="0" i="0" lang="en-GB" sz="700" u="none" cap="none" strike="noStrike">
                <a:solidFill>
                  <a:srgbClr val="F5C451"/>
                </a:solidFill>
                <a:latin typeface="Courier New"/>
                <a:ea typeface="Courier New"/>
                <a:cs typeface="Courier New"/>
                <a:sym typeface="Courier New"/>
              </a:rPr>
              <a:t>reader_c</a:t>
            </a: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() { </a:t>
            </a: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while </a:t>
            </a: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(!</a:t>
            </a:r>
            <a:r>
              <a:rPr b="0" i="0" lang="en-GB" sz="7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x </a:t>
            </a: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); r1 = </a:t>
            </a: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y </a:t>
            </a: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6"/>
          <p:cNvSpPr/>
          <p:nvPr/>
        </p:nvSpPr>
        <p:spPr>
          <a:xfrm>
            <a:off x="4614863" y="2040493"/>
            <a:ext cx="4052888" cy="779145"/>
          </a:xfrm>
          <a:prstGeom prst="roundRect">
            <a:avLst>
              <a:gd fmla="val 7335" name="adj"/>
            </a:avLst>
          </a:prstGeom>
          <a:solidFill>
            <a:srgbClr val="161922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6"/>
          <p:cNvSpPr/>
          <p:nvPr/>
        </p:nvSpPr>
        <p:spPr>
          <a:xfrm>
            <a:off x="4724400" y="2111931"/>
            <a:ext cx="3948827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451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F5C451"/>
                </a:solidFill>
                <a:latin typeface="Courier New"/>
                <a:ea typeface="Courier New"/>
                <a:cs typeface="Courier New"/>
                <a:sym typeface="Courier New"/>
              </a:rPr>
              <a:t>READER D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6"/>
          <p:cNvSpPr/>
          <p:nvPr/>
        </p:nvSpPr>
        <p:spPr>
          <a:xfrm>
            <a:off x="4724400" y="2216706"/>
            <a:ext cx="3948827" cy="55054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b="0" i="0" lang="en-GB" sz="700" u="none" cap="none" strike="noStrike">
                <a:solidFill>
                  <a:srgbClr val="F5C451"/>
                </a:solidFill>
                <a:latin typeface="Courier New"/>
                <a:ea typeface="Courier New"/>
                <a:cs typeface="Courier New"/>
                <a:sym typeface="Courier New"/>
              </a:rPr>
              <a:t>reader_d</a:t>
            </a: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() { </a:t>
            </a: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while </a:t>
            </a: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(!</a:t>
            </a: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y </a:t>
            </a: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); r2 = </a:t>
            </a:r>
            <a:r>
              <a:rPr b="0" i="0" lang="en-GB" sz="7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x </a:t>
            </a: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6"/>
          <p:cNvSpPr/>
          <p:nvPr/>
        </p:nvSpPr>
        <p:spPr>
          <a:xfrm>
            <a:off x="476250" y="2924413"/>
            <a:ext cx="4038600" cy="1576150"/>
          </a:xfrm>
          <a:prstGeom prst="roundRect">
            <a:avLst>
              <a:gd fmla="val 4230" name="adj"/>
            </a:avLst>
          </a:prstGeom>
          <a:solidFill>
            <a:srgbClr val="16192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6"/>
          <p:cNvSpPr/>
          <p:nvPr/>
        </p:nvSpPr>
        <p:spPr>
          <a:xfrm>
            <a:off x="476250" y="4495800"/>
            <a:ext cx="4038600" cy="4763"/>
          </a:xfrm>
          <a:prstGeom prst="rect">
            <a:avLst/>
          </a:prstGeom>
          <a:solidFill>
            <a:srgbClr val="E5484D">
              <a:alpha val="4509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6"/>
          <p:cNvSpPr/>
          <p:nvPr/>
        </p:nvSpPr>
        <p:spPr>
          <a:xfrm>
            <a:off x="476250" y="2924413"/>
            <a:ext cx="4038600" cy="14288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6"/>
          <p:cNvSpPr/>
          <p:nvPr/>
        </p:nvSpPr>
        <p:spPr>
          <a:xfrm>
            <a:off x="476250" y="2924413"/>
            <a:ext cx="4763" cy="1576150"/>
          </a:xfrm>
          <a:prstGeom prst="rect">
            <a:avLst/>
          </a:prstGeom>
          <a:solidFill>
            <a:srgbClr val="E5484D">
              <a:alpha val="4509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6"/>
          <p:cNvSpPr/>
          <p:nvPr/>
        </p:nvSpPr>
        <p:spPr>
          <a:xfrm>
            <a:off x="4510088" y="2924413"/>
            <a:ext cx="4763" cy="1576150"/>
          </a:xfrm>
          <a:prstGeom prst="rect">
            <a:avLst/>
          </a:prstGeom>
          <a:solidFill>
            <a:srgbClr val="E5484D">
              <a:alpha val="4509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6"/>
          <p:cNvSpPr/>
          <p:nvPr/>
        </p:nvSpPr>
        <p:spPr>
          <a:xfrm>
            <a:off x="604838" y="3043476"/>
            <a:ext cx="3894868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600"/>
              <a:buFont typeface="Courier New"/>
              <a:buNone/>
            </a:pPr>
            <a:r>
              <a:rPr b="0" i="0" lang="en-GB" sz="6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WITHOUT seq_cst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6"/>
          <p:cNvSpPr/>
          <p:nvPr/>
        </p:nvSpPr>
        <p:spPr>
          <a:xfrm>
            <a:off x="604838" y="3186350"/>
            <a:ext cx="3894868" cy="1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C sees: </a:t>
            </a: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X first, then Y → r1 = </a:t>
            </a:r>
            <a:r>
              <a:rPr b="0" i="0" lang="en-GB" sz="7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6"/>
          <p:cNvSpPr/>
          <p:nvPr/>
        </p:nvSpPr>
        <p:spPr>
          <a:xfrm>
            <a:off x="604838" y="3332083"/>
            <a:ext cx="3894868" cy="16478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C451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F5C451"/>
                </a:solidFill>
                <a:latin typeface="Courier New"/>
                <a:ea typeface="Courier New"/>
                <a:cs typeface="Courier New"/>
                <a:sym typeface="Courier New"/>
              </a:rPr>
              <a:t>D sees: </a:t>
            </a: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Y first, then X → r2 = </a:t>
            </a:r>
            <a:r>
              <a:rPr b="0" i="0" lang="en-GB" sz="7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6"/>
          <p:cNvSpPr/>
          <p:nvPr/>
        </p:nvSpPr>
        <p:spPr>
          <a:xfrm>
            <a:off x="604838" y="3534966"/>
            <a:ext cx="3781425" cy="223838"/>
          </a:xfrm>
          <a:prstGeom prst="roundRect">
            <a:avLst>
              <a:gd fmla="val 17021" name="adj"/>
            </a:avLst>
          </a:prstGeom>
          <a:solidFill>
            <a:srgbClr val="E5484D">
              <a:alpha val="14901"/>
            </a:srgbClr>
          </a:solidFill>
          <a:ln cap="flat" cmpd="sng" w="9525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6"/>
          <p:cNvSpPr/>
          <p:nvPr/>
        </p:nvSpPr>
        <p:spPr>
          <a:xfrm>
            <a:off x="629079" y="3596878"/>
            <a:ext cx="3732943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B7E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FF7B7E"/>
                </a:solidFill>
                <a:latin typeface="Arial"/>
                <a:ea typeface="Arial"/>
                <a:cs typeface="Arial"/>
                <a:sym typeface="Arial"/>
              </a:rPr>
              <a:t>Both readers are wrong simultaneously.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6"/>
          <p:cNvSpPr/>
          <p:nvPr/>
        </p:nvSpPr>
        <p:spPr>
          <a:xfrm>
            <a:off x="548116" y="3815953"/>
            <a:ext cx="3894868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500"/>
              <a:buFont typeface="Arial"/>
              <a:buNone/>
            </a:pPr>
            <a:r>
              <a:rPr b="0" i="1" lang="en-GB" sz="5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No global order — each thread has its own view.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6"/>
          <p:cNvSpPr/>
          <p:nvPr/>
        </p:nvSpPr>
        <p:spPr>
          <a:xfrm>
            <a:off x="4629150" y="2924413"/>
            <a:ext cx="4038600" cy="1576150"/>
          </a:xfrm>
          <a:prstGeom prst="roundRect">
            <a:avLst>
              <a:gd fmla="val 4230" name="adj"/>
            </a:avLst>
          </a:prstGeom>
          <a:solidFill>
            <a:srgbClr val="00B4D8">
              <a:alpha val="7843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6"/>
          <p:cNvSpPr/>
          <p:nvPr/>
        </p:nvSpPr>
        <p:spPr>
          <a:xfrm>
            <a:off x="4629150" y="4495800"/>
            <a:ext cx="4038600" cy="4763"/>
          </a:xfrm>
          <a:prstGeom prst="rect">
            <a:avLst/>
          </a:prstGeom>
          <a:solidFill>
            <a:srgbClr val="00B4D8">
              <a:alpha val="4509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6"/>
          <p:cNvSpPr/>
          <p:nvPr/>
        </p:nvSpPr>
        <p:spPr>
          <a:xfrm>
            <a:off x="4629150" y="2924413"/>
            <a:ext cx="4038600" cy="14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6"/>
          <p:cNvSpPr/>
          <p:nvPr/>
        </p:nvSpPr>
        <p:spPr>
          <a:xfrm>
            <a:off x="4629150" y="2924413"/>
            <a:ext cx="4763" cy="1576150"/>
          </a:xfrm>
          <a:prstGeom prst="rect">
            <a:avLst/>
          </a:prstGeom>
          <a:solidFill>
            <a:srgbClr val="00B4D8">
              <a:alpha val="4509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6"/>
          <p:cNvSpPr/>
          <p:nvPr/>
        </p:nvSpPr>
        <p:spPr>
          <a:xfrm>
            <a:off x="8662988" y="2924413"/>
            <a:ext cx="4763" cy="1576150"/>
          </a:xfrm>
          <a:prstGeom prst="rect">
            <a:avLst/>
          </a:prstGeom>
          <a:solidFill>
            <a:srgbClr val="00B4D8">
              <a:alpha val="4509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6"/>
          <p:cNvSpPr/>
          <p:nvPr/>
        </p:nvSpPr>
        <p:spPr>
          <a:xfrm>
            <a:off x="4757738" y="3043476"/>
            <a:ext cx="3894868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600"/>
              <a:buFont typeface="Courier New"/>
              <a:buNone/>
            </a:pPr>
            <a:r>
              <a:rPr b="0" i="0" lang="en-GB" sz="6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WITH seq_cst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6"/>
          <p:cNvSpPr/>
          <p:nvPr/>
        </p:nvSpPr>
        <p:spPr>
          <a:xfrm>
            <a:off x="4795838" y="3291125"/>
            <a:ext cx="3705225" cy="28575"/>
          </a:xfrm>
          <a:prstGeom prst="roundRect">
            <a:avLst>
              <a:gd fmla="val 50000" name="adj"/>
            </a:avLst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6"/>
          <p:cNvSpPr/>
          <p:nvPr/>
        </p:nvSpPr>
        <p:spPr>
          <a:xfrm>
            <a:off x="5833269" y="3233976"/>
            <a:ext cx="57150" cy="142875"/>
          </a:xfrm>
          <a:prstGeom prst="roundRect">
            <a:avLst>
              <a:gd fmla="val 16667" name="adj"/>
            </a:avLst>
          </a:prstGeom>
          <a:solidFill>
            <a:srgbClr val="E5484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6"/>
          <p:cNvSpPr/>
          <p:nvPr/>
        </p:nvSpPr>
        <p:spPr>
          <a:xfrm>
            <a:off x="7167166" y="3233976"/>
            <a:ext cx="57150" cy="142875"/>
          </a:xfrm>
          <a:prstGeom prst="roundRect">
            <a:avLst>
              <a:gd fmla="val 16667" name="adj"/>
            </a:avLst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6"/>
          <p:cNvSpPr/>
          <p:nvPr/>
        </p:nvSpPr>
        <p:spPr>
          <a:xfrm>
            <a:off x="4795838" y="3424475"/>
            <a:ext cx="403860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600"/>
              <a:buFont typeface="Courier New"/>
              <a:buNone/>
            </a:pPr>
            <a:r>
              <a:rPr b="0" i="0" lang="en-GB" sz="6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X = true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6"/>
          <p:cNvSpPr/>
          <p:nvPr/>
        </p:nvSpPr>
        <p:spPr>
          <a:xfrm>
            <a:off x="8135303" y="3424475"/>
            <a:ext cx="403860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600"/>
              <a:buFont typeface="Courier New"/>
              <a:buNone/>
            </a:pPr>
            <a:r>
              <a:rPr b="0" i="0" lang="en-GB" sz="6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Y = true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6"/>
          <p:cNvSpPr/>
          <p:nvPr/>
        </p:nvSpPr>
        <p:spPr>
          <a:xfrm>
            <a:off x="4757738" y="3681650"/>
            <a:ext cx="389486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Either </a:t>
            </a:r>
            <a:r>
              <a:rPr b="0" i="0" lang="en-GB" sz="600" u="none" cap="none" strike="noStrike">
                <a:solidFill>
                  <a:srgbClr val="E5484D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0" lang="en-GB" sz="6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comes before </a:t>
            </a:r>
            <a:r>
              <a:rPr b="0" i="0" lang="en-GB" sz="6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b="0" i="0" lang="en-GB" sz="6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for everyone, or </a:t>
            </a:r>
            <a:r>
              <a:rPr b="0" i="0" lang="en-GB" sz="6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b="0" i="0" lang="en-GB" sz="6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before </a:t>
            </a:r>
            <a:r>
              <a:rPr b="0" i="0" lang="en-GB" sz="600" u="none" cap="none" strike="noStrike">
                <a:solidFill>
                  <a:srgbClr val="E5484D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0" lang="en-GB" sz="6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for everyone. </a:t>
            </a:r>
            <a:r>
              <a:rPr b="0" i="0" lang="en-GB" sz="6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Either r1 or r2 must be 1.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6"/>
          <p:cNvSpPr/>
          <p:nvPr/>
        </p:nvSpPr>
        <p:spPr>
          <a:xfrm>
            <a:off x="4757738" y="3862626"/>
            <a:ext cx="3781425" cy="238125"/>
          </a:xfrm>
          <a:prstGeom prst="roundRect">
            <a:avLst>
              <a:gd fmla="val 16000" name="adj"/>
            </a:avLst>
          </a:prstGeom>
          <a:solidFill>
            <a:srgbClr val="34D399">
              <a:alpha val="12156"/>
            </a:srgbClr>
          </a:solidFill>
          <a:ln cap="flat" cmpd="sng" w="9525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6"/>
          <p:cNvSpPr/>
          <p:nvPr/>
        </p:nvSpPr>
        <p:spPr>
          <a:xfrm>
            <a:off x="4781979" y="3924538"/>
            <a:ext cx="373294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✓ Impossible for both to be 0.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6"/>
          <p:cNvSpPr/>
          <p:nvPr/>
        </p:nvSpPr>
        <p:spPr>
          <a:xfrm>
            <a:off x="353378" y="4605338"/>
            <a:ext cx="8437245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seq_cst </a:t>
            </a:r>
            <a:r>
              <a:rPr b="0" i="0" lang="en-GB" sz="8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is the only ordering that prevents this. Acquire/release alone cannot — there is no global timeline.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7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THE LAST-ITEM RACE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7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Compare and Swap — the atomic decision maker.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7"/>
          <p:cNvSpPr/>
          <p:nvPr/>
        </p:nvSpPr>
        <p:spPr>
          <a:xfrm>
            <a:off x="4471988" y="1248727"/>
            <a:ext cx="4763" cy="322802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7"/>
          <p:cNvSpPr/>
          <p:nvPr/>
        </p:nvSpPr>
        <p:spPr>
          <a:xfrm>
            <a:off x="476250" y="1248728"/>
            <a:ext cx="391939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— WHAT IT DOES —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7"/>
          <p:cNvSpPr/>
          <p:nvPr/>
        </p:nvSpPr>
        <p:spPr>
          <a:xfrm>
            <a:off x="476250" y="1448753"/>
            <a:ext cx="3805238" cy="1442085"/>
          </a:xfrm>
          <a:prstGeom prst="roundRect">
            <a:avLst>
              <a:gd fmla="val 5284" name="adj"/>
            </a:avLst>
          </a:prstGeom>
          <a:solidFill>
            <a:srgbClr val="0A0C12"/>
          </a:solidFill>
          <a:ln cap="flat" cmpd="sng" w="9525">
            <a:solidFill>
              <a:srgbClr val="2429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7"/>
          <p:cNvSpPr/>
          <p:nvPr/>
        </p:nvSpPr>
        <p:spPr>
          <a:xfrm>
            <a:off x="633413" y="1586865"/>
            <a:ext cx="359564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ourier New"/>
              <a:buNone/>
            </a:pPr>
            <a:r>
              <a:rPr b="0" i="0" lang="en-GB" sz="9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0" i="0" lang="en-GB" sz="9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9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current </a:t>
            </a:r>
            <a:r>
              <a:rPr b="0" i="0" lang="en-GB" sz="9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== </a:t>
            </a:r>
            <a:r>
              <a:rPr b="0" i="0" lang="en-GB" sz="900" u="none" cap="none" strike="noStrike">
                <a:solidFill>
                  <a:srgbClr val="F5C451"/>
                </a:solidFill>
                <a:latin typeface="Courier New"/>
                <a:ea typeface="Courier New"/>
                <a:cs typeface="Courier New"/>
                <a:sym typeface="Courier New"/>
              </a:rPr>
              <a:t>expected</a:t>
            </a:r>
            <a:r>
              <a:rPr b="0" i="0" lang="en-GB" sz="9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7"/>
          <p:cNvSpPr/>
          <p:nvPr/>
        </p:nvSpPr>
        <p:spPr>
          <a:xfrm>
            <a:off x="633413" y="1781175"/>
            <a:ext cx="359564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900"/>
              <a:buFont typeface="Courier New"/>
              <a:buNone/>
            </a:pPr>
            <a:r>
              <a:rPr b="0" i="0" lang="en-GB" sz="9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current </a:t>
            </a:r>
            <a:r>
              <a:rPr b="0" i="0" lang="en-GB" sz="9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-GB" sz="9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new_value</a:t>
            </a:r>
            <a:r>
              <a:rPr b="0" i="0" lang="en-GB" sz="9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7"/>
          <p:cNvSpPr/>
          <p:nvPr/>
        </p:nvSpPr>
        <p:spPr>
          <a:xfrm>
            <a:off x="633413" y="1975485"/>
            <a:ext cx="359564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ourier New"/>
              <a:buNone/>
            </a:pPr>
            <a:r>
              <a:rPr b="0" i="0" lang="en-GB" sz="9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en-GB" sz="9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GB" sz="9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0" i="0" lang="en-GB" sz="9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// I won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7"/>
          <p:cNvSpPr/>
          <p:nvPr/>
        </p:nvSpPr>
        <p:spPr>
          <a:xfrm>
            <a:off x="633413" y="2169795"/>
            <a:ext cx="359564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900"/>
              <a:buFont typeface="Courier New"/>
              <a:buNone/>
            </a:pPr>
            <a:r>
              <a:rPr b="0" i="0" lang="en-GB" sz="9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0" i="0" lang="en-GB" sz="9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r>
              <a:rPr b="0" i="0" lang="en-GB" sz="9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7"/>
          <p:cNvSpPr/>
          <p:nvPr/>
        </p:nvSpPr>
        <p:spPr>
          <a:xfrm>
            <a:off x="633413" y="2364105"/>
            <a:ext cx="359564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ourier New"/>
              <a:buNone/>
            </a:pPr>
            <a:r>
              <a:rPr b="0" i="0" lang="en-GB" sz="9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en-GB" sz="9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GB" sz="9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0" i="0" lang="en-GB" sz="9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// someone else got there first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7"/>
          <p:cNvSpPr/>
          <p:nvPr/>
        </p:nvSpPr>
        <p:spPr>
          <a:xfrm>
            <a:off x="633413" y="2558415"/>
            <a:ext cx="359564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900"/>
              <a:buFont typeface="Courier New"/>
              <a:buNone/>
            </a:pPr>
            <a:r>
              <a:rPr b="0" i="0" lang="en-GB" sz="9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7"/>
          <p:cNvSpPr/>
          <p:nvPr/>
        </p:nvSpPr>
        <p:spPr>
          <a:xfrm>
            <a:off x="476250" y="2995613"/>
            <a:ext cx="3805238" cy="51435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7"/>
          <p:cNvSpPr/>
          <p:nvPr/>
        </p:nvSpPr>
        <p:spPr>
          <a:xfrm>
            <a:off x="476250" y="3505200"/>
            <a:ext cx="3805238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7"/>
          <p:cNvSpPr/>
          <p:nvPr/>
        </p:nvSpPr>
        <p:spPr>
          <a:xfrm>
            <a:off x="476250" y="2995613"/>
            <a:ext cx="3805238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7"/>
          <p:cNvSpPr/>
          <p:nvPr/>
        </p:nvSpPr>
        <p:spPr>
          <a:xfrm>
            <a:off x="476250" y="2995613"/>
            <a:ext cx="14288" cy="5143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7"/>
          <p:cNvSpPr/>
          <p:nvPr/>
        </p:nvSpPr>
        <p:spPr>
          <a:xfrm>
            <a:off x="4276725" y="2995613"/>
            <a:ext cx="4763" cy="514350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7"/>
          <p:cNvSpPr/>
          <p:nvPr/>
        </p:nvSpPr>
        <p:spPr>
          <a:xfrm>
            <a:off x="614363" y="3095625"/>
            <a:ext cx="365269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D7DAE3"/>
                </a:solidFill>
                <a:highlight>
                  <a:srgbClr val="161922"/>
                </a:highlight>
                <a:latin typeface="Arial"/>
                <a:ea typeface="Arial"/>
                <a:cs typeface="Arial"/>
                <a:sym typeface="Arial"/>
              </a:rPr>
              <a:t>One </a:t>
            </a:r>
            <a:r>
              <a:rPr b="0" i="0" lang="en-GB" sz="8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indivisible </a:t>
            </a:r>
            <a:r>
              <a:rPr b="0" i="0" lang="en-GB" sz="800" u="none" cap="none" strike="noStrike">
                <a:solidFill>
                  <a:srgbClr val="D7DAE3"/>
                </a:solidFill>
                <a:highlight>
                  <a:srgbClr val="161922"/>
                </a:highlight>
                <a:latin typeface="Arial"/>
                <a:ea typeface="Arial"/>
                <a:cs typeface="Arial"/>
                <a:sym typeface="Arial"/>
              </a:rPr>
              <a:t>operation — the CPU does the check </a:t>
            </a:r>
            <a:r>
              <a:rPr b="0" i="0" lang="en-GB" sz="8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0" lang="en-GB" sz="800" u="none" cap="none" strike="noStrike">
                <a:solidFill>
                  <a:srgbClr val="D7DAE3"/>
                </a:solidFill>
                <a:highlight>
                  <a:srgbClr val="161922"/>
                </a:highlight>
                <a:latin typeface="Arial"/>
                <a:ea typeface="Arial"/>
                <a:cs typeface="Arial"/>
                <a:sym typeface="Arial"/>
              </a:rPr>
              <a:t>the swap with no gap between them.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7"/>
          <p:cNvSpPr/>
          <p:nvPr/>
        </p:nvSpPr>
        <p:spPr>
          <a:xfrm>
            <a:off x="4667250" y="1248728"/>
            <a:ext cx="412051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— WHY IT MATTERS FOR THE DEQUE —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7"/>
          <p:cNvSpPr/>
          <p:nvPr/>
        </p:nvSpPr>
        <p:spPr>
          <a:xfrm>
            <a:off x="4667250" y="1429703"/>
            <a:ext cx="412051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8BCC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Owner and thief both see </a:t>
            </a:r>
            <a:r>
              <a:rPr b="0" i="0" lang="en-GB" sz="8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one item left</a:t>
            </a:r>
            <a:r>
              <a:rPr b="0" i="0" lang="en-GB" sz="8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. Both try: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7"/>
          <p:cNvSpPr/>
          <p:nvPr/>
        </p:nvSpPr>
        <p:spPr>
          <a:xfrm>
            <a:off x="4667250" y="1658303"/>
            <a:ext cx="1369695" cy="329565"/>
          </a:xfrm>
          <a:prstGeom prst="roundRect">
            <a:avLst>
              <a:gd fmla="val 23121" name="adj"/>
            </a:avLst>
          </a:prstGeom>
          <a:solidFill>
            <a:srgbClr val="0A0C12"/>
          </a:solidFill>
          <a:ln cap="flat" cmpd="sng" w="9525">
            <a:solidFill>
              <a:srgbClr val="2429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7"/>
          <p:cNvSpPr/>
          <p:nvPr/>
        </p:nvSpPr>
        <p:spPr>
          <a:xfrm>
            <a:off x="4786313" y="1739265"/>
            <a:ext cx="1172661" cy="1866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CAS</a:t>
            </a:r>
            <a:r>
              <a:rPr b="0" i="0" lang="en-GB" sz="800" u="none" cap="none" strike="noStrike">
                <a:solidFill>
                  <a:srgbClr val="D7DAE3"/>
                </a:solidFill>
                <a:highlight>
                  <a:srgbClr val="0A0C1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8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front</a:t>
            </a:r>
            <a:r>
              <a:rPr b="0" i="0" lang="en-GB" sz="800" u="none" cap="none" strike="noStrike">
                <a:solidFill>
                  <a:srgbClr val="D7DAE3"/>
                </a:solidFill>
                <a:highlight>
                  <a:srgbClr val="0A0C12"/>
                </a:highlight>
                <a:latin typeface="Courier New"/>
                <a:ea typeface="Courier New"/>
                <a:cs typeface="Courier New"/>
                <a:sym typeface="Courier New"/>
              </a:rPr>
              <a:t>, f, f+1)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7"/>
          <p:cNvSpPr/>
          <p:nvPr/>
        </p:nvSpPr>
        <p:spPr>
          <a:xfrm>
            <a:off x="4667250" y="2073593"/>
            <a:ext cx="4000500" cy="933450"/>
          </a:xfrm>
          <a:prstGeom prst="roundRect">
            <a:avLst>
              <a:gd fmla="val 7143" name="adj"/>
            </a:avLst>
          </a:prstGeom>
          <a:solidFill>
            <a:srgbClr val="161922"/>
          </a:solidFill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7"/>
          <p:cNvSpPr/>
          <p:nvPr/>
        </p:nvSpPr>
        <p:spPr>
          <a:xfrm>
            <a:off x="4795838" y="2183130"/>
            <a:ext cx="3855625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TIMELINE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7"/>
          <p:cNvSpPr/>
          <p:nvPr/>
        </p:nvSpPr>
        <p:spPr>
          <a:xfrm>
            <a:off x="4795838" y="2376011"/>
            <a:ext cx="6572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owner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7"/>
          <p:cNvSpPr/>
          <p:nvPr/>
        </p:nvSpPr>
        <p:spPr>
          <a:xfrm>
            <a:off x="5491163" y="2376011"/>
            <a:ext cx="281568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fires CAS </a:t>
            </a: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→ </a:t>
            </a:r>
            <a:r>
              <a:rPr b="0" i="0" lang="en-GB" sz="7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succeeds </a:t>
            </a: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→ </a:t>
            </a: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gets item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7"/>
          <p:cNvSpPr/>
          <p:nvPr/>
        </p:nvSpPr>
        <p:spPr>
          <a:xfrm>
            <a:off x="8262938" y="2340293"/>
            <a:ext cx="27622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7"/>
          <p:cNvSpPr/>
          <p:nvPr/>
        </p:nvSpPr>
        <p:spPr>
          <a:xfrm>
            <a:off x="4795838" y="2628424"/>
            <a:ext cx="6572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thief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7"/>
          <p:cNvSpPr/>
          <p:nvPr/>
        </p:nvSpPr>
        <p:spPr>
          <a:xfrm>
            <a:off x="5491163" y="2628424"/>
            <a:ext cx="281568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fires CAS </a:t>
            </a: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→ </a:t>
            </a:r>
            <a:r>
              <a:rPr b="0" i="0" lang="en-GB" sz="7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fails </a:t>
            </a: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→ </a:t>
            </a:r>
            <a:r>
              <a:rPr b="0" i="0" lang="en-GB" sz="700" u="none" cap="none" strike="noStrike">
                <a:solidFill>
                  <a:srgbClr val="D7DAE3"/>
                </a:solidFill>
                <a:latin typeface="Courier New"/>
                <a:ea typeface="Courier New"/>
                <a:cs typeface="Courier New"/>
                <a:sym typeface="Courier New"/>
              </a:rPr>
              <a:t>returns </a:t>
            </a: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nullopt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7"/>
          <p:cNvSpPr/>
          <p:nvPr/>
        </p:nvSpPr>
        <p:spPr>
          <a:xfrm>
            <a:off x="8262938" y="2592705"/>
            <a:ext cx="27622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7"/>
          <p:cNvSpPr/>
          <p:nvPr/>
        </p:nvSpPr>
        <p:spPr>
          <a:xfrm>
            <a:off x="4795838" y="2816543"/>
            <a:ext cx="3855625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500"/>
              <a:buFont typeface="Arial"/>
              <a:buNone/>
            </a:pPr>
            <a:r>
              <a:rPr b="0" i="1" lang="en-GB" sz="5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front already moved — the thief sees it and backs off cleanly.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7"/>
          <p:cNvSpPr/>
          <p:nvPr/>
        </p:nvSpPr>
        <p:spPr>
          <a:xfrm>
            <a:off x="4667250" y="3092768"/>
            <a:ext cx="4000500" cy="330994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7"/>
          <p:cNvSpPr/>
          <p:nvPr/>
        </p:nvSpPr>
        <p:spPr>
          <a:xfrm>
            <a:off x="4667250" y="3418999"/>
            <a:ext cx="4000500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7"/>
          <p:cNvSpPr/>
          <p:nvPr/>
        </p:nvSpPr>
        <p:spPr>
          <a:xfrm>
            <a:off x="4667250" y="3092768"/>
            <a:ext cx="4000500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7"/>
          <p:cNvSpPr/>
          <p:nvPr/>
        </p:nvSpPr>
        <p:spPr>
          <a:xfrm>
            <a:off x="4667250" y="3092768"/>
            <a:ext cx="14288" cy="33099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7"/>
          <p:cNvSpPr/>
          <p:nvPr/>
        </p:nvSpPr>
        <p:spPr>
          <a:xfrm>
            <a:off x="8662988" y="3092768"/>
            <a:ext cx="4763" cy="330994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7"/>
          <p:cNvSpPr/>
          <p:nvPr/>
        </p:nvSpPr>
        <p:spPr>
          <a:xfrm>
            <a:off x="4795838" y="3183255"/>
            <a:ext cx="3872865" cy="16906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D7DAE3"/>
                </a:solidFill>
                <a:highlight>
                  <a:srgbClr val="161922"/>
                </a:highlight>
                <a:latin typeface="Arial"/>
                <a:ea typeface="Arial"/>
                <a:cs typeface="Arial"/>
                <a:sym typeface="Arial"/>
              </a:rPr>
              <a:t>Only one can win. The loser knows </a:t>
            </a:r>
            <a:r>
              <a:rPr b="0" i="0" lang="en-GB" sz="8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immediately</a:t>
            </a:r>
            <a:r>
              <a:rPr b="0" i="0" lang="en-GB" sz="800" u="none" cap="none" strike="noStrike">
                <a:solidFill>
                  <a:srgbClr val="D7DAE3"/>
                </a:solidFill>
                <a:highlight>
                  <a:srgbClr val="161922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en-GB" sz="8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No mutex needed.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7"/>
          <p:cNvSpPr/>
          <p:nvPr/>
        </p:nvSpPr>
        <p:spPr>
          <a:xfrm>
            <a:off x="353378" y="4591050"/>
            <a:ext cx="843724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CAS </a:t>
            </a:r>
            <a:r>
              <a:rPr b="0" i="0" lang="en-GB" sz="900" u="none" cap="none" strike="noStrike">
                <a:solidFill>
                  <a:srgbClr val="B8BCC7"/>
                </a:solidFill>
                <a:latin typeface="Arial"/>
                <a:ea typeface="Arial"/>
                <a:cs typeface="Arial"/>
                <a:sym typeface="Arial"/>
              </a:rPr>
              <a:t>is how lock-free data structures make decisions without a lock.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8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ALL FOUR VERSIONS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8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far we came.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8"/>
          <p:cNvSpPr/>
          <p:nvPr/>
        </p:nvSpPr>
        <p:spPr>
          <a:xfrm>
            <a:off x="476250" y="1943577"/>
            <a:ext cx="861060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Part 1 — DFS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8"/>
          <p:cNvSpPr/>
          <p:nvPr/>
        </p:nvSpPr>
        <p:spPr>
          <a:xfrm>
            <a:off x="476250" y="2091214"/>
            <a:ext cx="137350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single thread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8"/>
          <p:cNvSpPr/>
          <p:nvPr/>
        </p:nvSpPr>
        <p:spPr>
          <a:xfrm>
            <a:off x="1905000" y="1879283"/>
            <a:ext cx="5619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🐧 LINUX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8"/>
          <p:cNvSpPr/>
          <p:nvPr/>
        </p:nvSpPr>
        <p:spPr>
          <a:xfrm>
            <a:off x="2543175" y="1860233"/>
            <a:ext cx="1469866" cy="152400"/>
          </a:xfrm>
          <a:prstGeom prst="roundRect">
            <a:avLst>
              <a:gd fmla="val 12500" name="adj"/>
            </a:avLst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8"/>
          <p:cNvSpPr/>
          <p:nvPr/>
        </p:nvSpPr>
        <p:spPr>
          <a:xfrm>
            <a:off x="4079716" y="1867377"/>
            <a:ext cx="60388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15,660 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8"/>
          <p:cNvSpPr/>
          <p:nvPr/>
        </p:nvSpPr>
        <p:spPr>
          <a:xfrm>
            <a:off x="1905000" y="2060258"/>
            <a:ext cx="561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🪟 WINDOWS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8"/>
          <p:cNvSpPr/>
          <p:nvPr/>
        </p:nvSpPr>
        <p:spPr>
          <a:xfrm>
            <a:off x="2543175" y="2088833"/>
            <a:ext cx="6124575" cy="152400"/>
          </a:xfrm>
          <a:prstGeom prst="roundRect">
            <a:avLst>
              <a:gd fmla="val 12500" name="adj"/>
            </a:avLst>
          </a:prstGeom>
          <a:solidFill>
            <a:srgbClr val="FF8A3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8"/>
          <p:cNvSpPr/>
          <p:nvPr/>
        </p:nvSpPr>
        <p:spPr>
          <a:xfrm>
            <a:off x="8734425" y="2095977"/>
            <a:ext cx="60388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65,204 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8"/>
          <p:cNvSpPr/>
          <p:nvPr/>
        </p:nvSpPr>
        <p:spPr>
          <a:xfrm>
            <a:off x="476250" y="2412683"/>
            <a:ext cx="10668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Part 2 — Thread Pool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8"/>
          <p:cNvSpPr/>
          <p:nvPr/>
        </p:nvSpPr>
        <p:spPr>
          <a:xfrm>
            <a:off x="476250" y="2688908"/>
            <a:ext cx="137350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shared queue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8"/>
          <p:cNvSpPr/>
          <p:nvPr/>
        </p:nvSpPr>
        <p:spPr>
          <a:xfrm>
            <a:off x="1905000" y="2412683"/>
            <a:ext cx="5619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🐧 LINUX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8"/>
          <p:cNvSpPr/>
          <p:nvPr/>
        </p:nvSpPr>
        <p:spPr>
          <a:xfrm>
            <a:off x="2543175" y="2393633"/>
            <a:ext cx="943134" cy="152400"/>
          </a:xfrm>
          <a:prstGeom prst="roundRect">
            <a:avLst>
              <a:gd fmla="val 12500" name="adj"/>
            </a:avLst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8"/>
          <p:cNvSpPr/>
          <p:nvPr/>
        </p:nvSpPr>
        <p:spPr>
          <a:xfrm>
            <a:off x="3552984" y="2400777"/>
            <a:ext cx="60388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10,031 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8"/>
          <p:cNvSpPr/>
          <p:nvPr/>
        </p:nvSpPr>
        <p:spPr>
          <a:xfrm>
            <a:off x="1905000" y="2593658"/>
            <a:ext cx="561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🪟 WINDOWS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8"/>
          <p:cNvSpPr/>
          <p:nvPr/>
        </p:nvSpPr>
        <p:spPr>
          <a:xfrm>
            <a:off x="2543175" y="2622233"/>
            <a:ext cx="661432" cy="152400"/>
          </a:xfrm>
          <a:prstGeom prst="roundRect">
            <a:avLst>
              <a:gd fmla="val 12500" name="adj"/>
            </a:avLst>
          </a:prstGeom>
          <a:solidFill>
            <a:srgbClr val="FF8A3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8"/>
          <p:cNvSpPr/>
          <p:nvPr/>
        </p:nvSpPr>
        <p:spPr>
          <a:xfrm>
            <a:off x="3271282" y="2629376"/>
            <a:ext cx="54102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7,058 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8"/>
          <p:cNvSpPr/>
          <p:nvPr/>
        </p:nvSpPr>
        <p:spPr>
          <a:xfrm>
            <a:off x="476250" y="2946083"/>
            <a:ext cx="92964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Part 3 — Work Stealing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8"/>
          <p:cNvSpPr/>
          <p:nvPr/>
        </p:nvSpPr>
        <p:spPr>
          <a:xfrm>
            <a:off x="476250" y="3222307"/>
            <a:ext cx="137350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per-thread deques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8"/>
          <p:cNvSpPr/>
          <p:nvPr/>
        </p:nvSpPr>
        <p:spPr>
          <a:xfrm>
            <a:off x="1905000" y="2946083"/>
            <a:ext cx="5619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🐧 LINUX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8"/>
          <p:cNvSpPr/>
          <p:nvPr/>
        </p:nvSpPr>
        <p:spPr>
          <a:xfrm>
            <a:off x="2543175" y="2927033"/>
            <a:ext cx="796132" cy="152400"/>
          </a:xfrm>
          <a:prstGeom prst="roundRect">
            <a:avLst>
              <a:gd fmla="val 12500" name="adj"/>
            </a:avLst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8"/>
          <p:cNvSpPr/>
          <p:nvPr/>
        </p:nvSpPr>
        <p:spPr>
          <a:xfrm>
            <a:off x="3405982" y="2934176"/>
            <a:ext cx="54102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8,452 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8"/>
          <p:cNvSpPr/>
          <p:nvPr/>
        </p:nvSpPr>
        <p:spPr>
          <a:xfrm>
            <a:off x="1905000" y="3127058"/>
            <a:ext cx="561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🪟 WINDOWS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8"/>
          <p:cNvSpPr/>
          <p:nvPr/>
        </p:nvSpPr>
        <p:spPr>
          <a:xfrm>
            <a:off x="2543175" y="3155633"/>
            <a:ext cx="1175861" cy="152400"/>
          </a:xfrm>
          <a:prstGeom prst="roundRect">
            <a:avLst>
              <a:gd fmla="val 12500" name="adj"/>
            </a:avLst>
          </a:prstGeom>
          <a:solidFill>
            <a:srgbClr val="FF8A3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8"/>
          <p:cNvSpPr/>
          <p:nvPr/>
        </p:nvSpPr>
        <p:spPr>
          <a:xfrm>
            <a:off x="3785712" y="3162776"/>
            <a:ext cx="603885" cy="15716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12,540 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8"/>
          <p:cNvSpPr/>
          <p:nvPr/>
        </p:nvSpPr>
        <p:spPr>
          <a:xfrm>
            <a:off x="476250" y="3543776"/>
            <a:ext cx="1272540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ourier New"/>
              <a:buNone/>
            </a:pPr>
            <a:r>
              <a:rPr b="0" i="0" lang="en-GB" sz="9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Part 4 — Lock-free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8"/>
          <p:cNvSpPr/>
          <p:nvPr/>
        </p:nvSpPr>
        <p:spPr>
          <a:xfrm>
            <a:off x="476250" y="3691414"/>
            <a:ext cx="137350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CAS deque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8"/>
          <p:cNvSpPr/>
          <p:nvPr/>
        </p:nvSpPr>
        <p:spPr>
          <a:xfrm>
            <a:off x="1905000" y="3479482"/>
            <a:ext cx="5619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🐧 LINUX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8"/>
          <p:cNvSpPr/>
          <p:nvPr/>
        </p:nvSpPr>
        <p:spPr>
          <a:xfrm>
            <a:off x="2543175" y="3460432"/>
            <a:ext cx="285750" cy="152400"/>
          </a:xfrm>
          <a:prstGeom prst="roundRect">
            <a:avLst>
              <a:gd fmla="val 12500" name="adj"/>
            </a:avLst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8"/>
          <p:cNvSpPr/>
          <p:nvPr/>
        </p:nvSpPr>
        <p:spPr>
          <a:xfrm>
            <a:off x="2895600" y="3467576"/>
            <a:ext cx="54102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2,839 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8"/>
          <p:cNvSpPr/>
          <p:nvPr/>
        </p:nvSpPr>
        <p:spPr>
          <a:xfrm>
            <a:off x="1905000" y="3660457"/>
            <a:ext cx="561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700"/>
              <a:buFont typeface="Courier New"/>
              <a:buNone/>
            </a:pPr>
            <a:r>
              <a:rPr b="0" i="0" lang="en-GB" sz="7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🪟 WINDOWS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8"/>
          <p:cNvSpPr/>
          <p:nvPr/>
        </p:nvSpPr>
        <p:spPr>
          <a:xfrm>
            <a:off x="2543175" y="3689032"/>
            <a:ext cx="471567" cy="152400"/>
          </a:xfrm>
          <a:prstGeom prst="roundRect">
            <a:avLst>
              <a:gd fmla="val 12500" name="adj"/>
            </a:avLst>
          </a:prstGeom>
          <a:solidFill>
            <a:srgbClr val="FF8A3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8"/>
          <p:cNvSpPr/>
          <p:nvPr/>
        </p:nvSpPr>
        <p:spPr>
          <a:xfrm>
            <a:off x="3081417" y="3696176"/>
            <a:ext cx="54102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5,042 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8"/>
          <p:cNvSpPr/>
          <p:nvPr/>
        </p:nvSpPr>
        <p:spPr>
          <a:xfrm>
            <a:off x="476250" y="4643438"/>
            <a:ext cx="925830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Linux · ext4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8"/>
          <p:cNvSpPr/>
          <p:nvPr/>
        </p:nvSpPr>
        <p:spPr>
          <a:xfrm>
            <a:off x="1497330" y="4643438"/>
            <a:ext cx="1051560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Windows · NTFS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8"/>
          <p:cNvSpPr/>
          <p:nvPr/>
        </p:nvSpPr>
        <p:spPr>
          <a:xfrm>
            <a:off x="6216015" y="4643438"/>
            <a:ext cx="2525287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Linux: </a:t>
            </a: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16s → 3s </a:t>
            </a:r>
            <a:r>
              <a:rPr b="0" i="0" lang="en-GB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· Windows: </a:t>
            </a:r>
            <a:r>
              <a:rPr b="0" i="0" lang="en-GB" sz="8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65s → 5s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9"/>
          <p:cNvSpPr/>
          <p:nvPr/>
        </p:nvSpPr>
        <p:spPr>
          <a:xfrm>
            <a:off x="476250" y="428625"/>
            <a:ext cx="843724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RESOURCES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9"/>
          <p:cNvSpPr/>
          <p:nvPr/>
        </p:nvSpPr>
        <p:spPr>
          <a:xfrm>
            <a:off x="476250" y="633413"/>
            <a:ext cx="843724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Want to go deeper?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9"/>
          <p:cNvSpPr/>
          <p:nvPr/>
        </p:nvSpPr>
        <p:spPr>
          <a:xfrm>
            <a:off x="476250" y="1182053"/>
            <a:ext cx="4745460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WATCH &amp; READ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9"/>
          <p:cNvSpPr/>
          <p:nvPr/>
        </p:nvSpPr>
        <p:spPr>
          <a:xfrm>
            <a:off x="476250" y="1277303"/>
            <a:ext cx="4745460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A reading list.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9"/>
          <p:cNvSpPr/>
          <p:nvPr/>
        </p:nvSpPr>
        <p:spPr>
          <a:xfrm>
            <a:off x="476250" y="1501140"/>
            <a:ext cx="4607243" cy="247650"/>
          </a:xfrm>
          <a:prstGeom prst="roundRect">
            <a:avLst>
              <a:gd fmla="val 15385" name="adj"/>
            </a:avLst>
          </a:prstGeom>
          <a:solidFill>
            <a:srgbClr val="16192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9"/>
          <p:cNvSpPr/>
          <p:nvPr/>
        </p:nvSpPr>
        <p:spPr>
          <a:xfrm>
            <a:off x="476250" y="1744028"/>
            <a:ext cx="4607243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39"/>
          <p:cNvSpPr/>
          <p:nvPr/>
        </p:nvSpPr>
        <p:spPr>
          <a:xfrm>
            <a:off x="476250" y="1501140"/>
            <a:ext cx="4607243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9"/>
          <p:cNvSpPr/>
          <p:nvPr/>
        </p:nvSpPr>
        <p:spPr>
          <a:xfrm>
            <a:off x="476250" y="1501140"/>
            <a:ext cx="9525" cy="2476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9"/>
          <p:cNvSpPr/>
          <p:nvPr/>
        </p:nvSpPr>
        <p:spPr>
          <a:xfrm>
            <a:off x="5078730" y="1501140"/>
            <a:ext cx="4763" cy="247650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9"/>
          <p:cNvSpPr/>
          <p:nvPr/>
        </p:nvSpPr>
        <p:spPr>
          <a:xfrm>
            <a:off x="533400" y="1553527"/>
            <a:ext cx="2095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9"/>
          <p:cNvSpPr/>
          <p:nvPr/>
        </p:nvSpPr>
        <p:spPr>
          <a:xfrm>
            <a:off x="790575" y="1577340"/>
            <a:ext cx="351421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Scott Meyers — </a:t>
            </a:r>
            <a:r>
              <a:rPr b="0" i="0" lang="en-GB" sz="6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CPU Caches and Why You Care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9"/>
          <p:cNvSpPr/>
          <p:nvPr/>
        </p:nvSpPr>
        <p:spPr>
          <a:xfrm>
            <a:off x="4269105" y="1589247"/>
            <a:ext cx="781050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youtu.be/WDIkqP4JbkE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9"/>
          <p:cNvSpPr/>
          <p:nvPr/>
        </p:nvSpPr>
        <p:spPr>
          <a:xfrm>
            <a:off x="476250" y="1796415"/>
            <a:ext cx="4607243" cy="247650"/>
          </a:xfrm>
          <a:prstGeom prst="roundRect">
            <a:avLst>
              <a:gd fmla="val 15385" name="adj"/>
            </a:avLst>
          </a:prstGeom>
          <a:solidFill>
            <a:srgbClr val="16192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9"/>
          <p:cNvSpPr/>
          <p:nvPr/>
        </p:nvSpPr>
        <p:spPr>
          <a:xfrm>
            <a:off x="476250" y="2039303"/>
            <a:ext cx="4607243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9"/>
          <p:cNvSpPr/>
          <p:nvPr/>
        </p:nvSpPr>
        <p:spPr>
          <a:xfrm>
            <a:off x="476250" y="1796415"/>
            <a:ext cx="4607243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9"/>
          <p:cNvSpPr/>
          <p:nvPr/>
        </p:nvSpPr>
        <p:spPr>
          <a:xfrm>
            <a:off x="476250" y="1796415"/>
            <a:ext cx="9525" cy="2476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9"/>
          <p:cNvSpPr/>
          <p:nvPr/>
        </p:nvSpPr>
        <p:spPr>
          <a:xfrm>
            <a:off x="5078730" y="1796415"/>
            <a:ext cx="4763" cy="247650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9"/>
          <p:cNvSpPr/>
          <p:nvPr/>
        </p:nvSpPr>
        <p:spPr>
          <a:xfrm>
            <a:off x="533400" y="1848803"/>
            <a:ext cx="2095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9"/>
          <p:cNvSpPr/>
          <p:nvPr/>
        </p:nvSpPr>
        <p:spPr>
          <a:xfrm>
            <a:off x="790575" y="1872615"/>
            <a:ext cx="351421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Fedor Pikus · CppCon 2017 — </a:t>
            </a:r>
            <a:r>
              <a:rPr b="0" i="0" lang="en-GB" sz="6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C++ atomics, basic to advanced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9"/>
          <p:cNvSpPr/>
          <p:nvPr/>
        </p:nvSpPr>
        <p:spPr>
          <a:xfrm>
            <a:off x="4269105" y="1884522"/>
            <a:ext cx="781050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youtu.be/ZQFzMfHIxng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9"/>
          <p:cNvSpPr/>
          <p:nvPr/>
        </p:nvSpPr>
        <p:spPr>
          <a:xfrm>
            <a:off x="476250" y="2091690"/>
            <a:ext cx="4607243" cy="264795"/>
          </a:xfrm>
          <a:prstGeom prst="roundRect">
            <a:avLst>
              <a:gd fmla="val 14388" name="adj"/>
            </a:avLst>
          </a:prstGeom>
          <a:solidFill>
            <a:srgbClr val="16192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9"/>
          <p:cNvSpPr/>
          <p:nvPr/>
        </p:nvSpPr>
        <p:spPr>
          <a:xfrm>
            <a:off x="476250" y="2351723"/>
            <a:ext cx="4607243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9"/>
          <p:cNvSpPr/>
          <p:nvPr/>
        </p:nvSpPr>
        <p:spPr>
          <a:xfrm>
            <a:off x="476250" y="2091690"/>
            <a:ext cx="4607243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9"/>
          <p:cNvSpPr/>
          <p:nvPr/>
        </p:nvSpPr>
        <p:spPr>
          <a:xfrm>
            <a:off x="476250" y="2091690"/>
            <a:ext cx="9525" cy="26479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9"/>
          <p:cNvSpPr/>
          <p:nvPr/>
        </p:nvSpPr>
        <p:spPr>
          <a:xfrm>
            <a:off x="5078730" y="2091690"/>
            <a:ext cx="4763" cy="264795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9"/>
          <p:cNvSpPr/>
          <p:nvPr/>
        </p:nvSpPr>
        <p:spPr>
          <a:xfrm>
            <a:off x="533400" y="2152650"/>
            <a:ext cx="2095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9"/>
          <p:cNvSpPr/>
          <p:nvPr/>
        </p:nvSpPr>
        <p:spPr>
          <a:xfrm>
            <a:off x="790575" y="2176463"/>
            <a:ext cx="35730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Herb Sutter · CppCon 2014 — </a:t>
            </a:r>
            <a:r>
              <a:rPr b="0" i="0" lang="en-GB" sz="6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Lock-Free Programming, Part I &amp; II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9"/>
          <p:cNvSpPr/>
          <p:nvPr/>
        </p:nvSpPr>
        <p:spPr>
          <a:xfrm>
            <a:off x="4288155" y="2144078"/>
            <a:ext cx="7239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youtu.be/c1gO9aB9nbs youtu.be/CmxkPChOcvw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9"/>
          <p:cNvSpPr/>
          <p:nvPr/>
        </p:nvSpPr>
        <p:spPr>
          <a:xfrm>
            <a:off x="476250" y="2404110"/>
            <a:ext cx="4607243" cy="247650"/>
          </a:xfrm>
          <a:prstGeom prst="roundRect">
            <a:avLst>
              <a:gd fmla="val 15385" name="adj"/>
            </a:avLst>
          </a:prstGeom>
          <a:solidFill>
            <a:srgbClr val="16192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9"/>
          <p:cNvSpPr/>
          <p:nvPr/>
        </p:nvSpPr>
        <p:spPr>
          <a:xfrm>
            <a:off x="476250" y="2646998"/>
            <a:ext cx="4607243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9"/>
          <p:cNvSpPr/>
          <p:nvPr/>
        </p:nvSpPr>
        <p:spPr>
          <a:xfrm>
            <a:off x="476250" y="2404110"/>
            <a:ext cx="4607243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39"/>
          <p:cNvSpPr/>
          <p:nvPr/>
        </p:nvSpPr>
        <p:spPr>
          <a:xfrm>
            <a:off x="476250" y="2404110"/>
            <a:ext cx="9525" cy="2476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39"/>
          <p:cNvSpPr/>
          <p:nvPr/>
        </p:nvSpPr>
        <p:spPr>
          <a:xfrm>
            <a:off x="5078730" y="2404110"/>
            <a:ext cx="4763" cy="247650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9"/>
          <p:cNvSpPr/>
          <p:nvPr/>
        </p:nvSpPr>
        <p:spPr>
          <a:xfrm>
            <a:off x="533400" y="2456498"/>
            <a:ext cx="2095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9"/>
          <p:cNvSpPr/>
          <p:nvPr/>
        </p:nvSpPr>
        <p:spPr>
          <a:xfrm>
            <a:off x="790575" y="2480310"/>
            <a:ext cx="351421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Alex Dathskovsky · C++Now 2024 — </a:t>
            </a:r>
            <a:r>
              <a:rPr b="0" i="0" lang="en-GB" sz="6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C++11 to C++23 in the Memory Model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9"/>
          <p:cNvSpPr/>
          <p:nvPr/>
        </p:nvSpPr>
        <p:spPr>
          <a:xfrm>
            <a:off x="4269105" y="2492216"/>
            <a:ext cx="781050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youtu.be/VWiUYbtSWRI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9"/>
          <p:cNvSpPr/>
          <p:nvPr/>
        </p:nvSpPr>
        <p:spPr>
          <a:xfrm>
            <a:off x="476250" y="2699385"/>
            <a:ext cx="4607243" cy="247650"/>
          </a:xfrm>
          <a:prstGeom prst="roundRect">
            <a:avLst>
              <a:gd fmla="val 15385" name="adj"/>
            </a:avLst>
          </a:prstGeom>
          <a:solidFill>
            <a:srgbClr val="16192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39"/>
          <p:cNvSpPr/>
          <p:nvPr/>
        </p:nvSpPr>
        <p:spPr>
          <a:xfrm>
            <a:off x="476250" y="2942273"/>
            <a:ext cx="4607243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39"/>
          <p:cNvSpPr/>
          <p:nvPr/>
        </p:nvSpPr>
        <p:spPr>
          <a:xfrm>
            <a:off x="476250" y="2699385"/>
            <a:ext cx="4607243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39"/>
          <p:cNvSpPr/>
          <p:nvPr/>
        </p:nvSpPr>
        <p:spPr>
          <a:xfrm>
            <a:off x="476250" y="2699385"/>
            <a:ext cx="9525" cy="2476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9"/>
          <p:cNvSpPr/>
          <p:nvPr/>
        </p:nvSpPr>
        <p:spPr>
          <a:xfrm>
            <a:off x="5078730" y="2699385"/>
            <a:ext cx="4763" cy="247650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39"/>
          <p:cNvSpPr/>
          <p:nvPr/>
        </p:nvSpPr>
        <p:spPr>
          <a:xfrm>
            <a:off x="533400" y="2751773"/>
            <a:ext cx="2095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9"/>
          <p:cNvSpPr/>
          <p:nvPr/>
        </p:nvSpPr>
        <p:spPr>
          <a:xfrm>
            <a:off x="790575" y="2775585"/>
            <a:ext cx="351421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Michael Wong · CppCon 2015 — </a:t>
            </a:r>
            <a:r>
              <a:rPr b="0" i="0" lang="en-GB" sz="6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C++11/14/17 atomics &amp; memory model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9"/>
          <p:cNvSpPr/>
          <p:nvPr/>
        </p:nvSpPr>
        <p:spPr>
          <a:xfrm>
            <a:off x="4269105" y="2787491"/>
            <a:ext cx="781050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youtu.be/DS2m7T6NKZQ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9"/>
          <p:cNvSpPr/>
          <p:nvPr/>
        </p:nvSpPr>
        <p:spPr>
          <a:xfrm>
            <a:off x="476250" y="2994660"/>
            <a:ext cx="4607243" cy="247650"/>
          </a:xfrm>
          <a:prstGeom prst="roundRect">
            <a:avLst>
              <a:gd fmla="val 15385" name="adj"/>
            </a:avLst>
          </a:prstGeom>
          <a:solidFill>
            <a:srgbClr val="16192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9"/>
          <p:cNvSpPr/>
          <p:nvPr/>
        </p:nvSpPr>
        <p:spPr>
          <a:xfrm>
            <a:off x="476250" y="3237548"/>
            <a:ext cx="4607243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39"/>
          <p:cNvSpPr/>
          <p:nvPr/>
        </p:nvSpPr>
        <p:spPr>
          <a:xfrm>
            <a:off x="476250" y="2994660"/>
            <a:ext cx="4607243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9"/>
          <p:cNvSpPr/>
          <p:nvPr/>
        </p:nvSpPr>
        <p:spPr>
          <a:xfrm>
            <a:off x="476250" y="2994660"/>
            <a:ext cx="9525" cy="24765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9"/>
          <p:cNvSpPr/>
          <p:nvPr/>
        </p:nvSpPr>
        <p:spPr>
          <a:xfrm>
            <a:off x="5078730" y="2994660"/>
            <a:ext cx="4763" cy="247650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39"/>
          <p:cNvSpPr/>
          <p:nvPr/>
        </p:nvSpPr>
        <p:spPr>
          <a:xfrm>
            <a:off x="533400" y="3047048"/>
            <a:ext cx="2095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9"/>
          <p:cNvSpPr/>
          <p:nvPr/>
        </p:nvSpPr>
        <p:spPr>
          <a:xfrm>
            <a:off x="790575" y="3070860"/>
            <a:ext cx="35730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Mara Bos — </a:t>
            </a:r>
            <a:r>
              <a:rPr b="0" i="0" lang="en-GB" sz="6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Rust Atomics and Locks, Ch. 3: Memory Ordering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9"/>
          <p:cNvSpPr/>
          <p:nvPr/>
        </p:nvSpPr>
        <p:spPr>
          <a:xfrm>
            <a:off x="4326255" y="3051810"/>
            <a:ext cx="723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FF8A3D"/>
                </a:solidFill>
                <a:latin typeface="Courier New"/>
                <a:ea typeface="Courier New"/>
                <a:cs typeface="Courier New"/>
                <a:sym typeface="Courier New"/>
              </a:rPr>
              <a:t>marabos.nl/atomics/ memory-ordering.html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9"/>
          <p:cNvSpPr/>
          <p:nvPr/>
        </p:nvSpPr>
        <p:spPr>
          <a:xfrm>
            <a:off x="476250" y="3289935"/>
            <a:ext cx="4607243" cy="247650"/>
          </a:xfrm>
          <a:prstGeom prst="roundRect">
            <a:avLst>
              <a:gd fmla="val 15385" name="adj"/>
            </a:avLst>
          </a:prstGeom>
          <a:solidFill>
            <a:srgbClr val="16192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9"/>
          <p:cNvSpPr/>
          <p:nvPr/>
        </p:nvSpPr>
        <p:spPr>
          <a:xfrm>
            <a:off x="476250" y="3532823"/>
            <a:ext cx="4607243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39"/>
          <p:cNvSpPr/>
          <p:nvPr/>
        </p:nvSpPr>
        <p:spPr>
          <a:xfrm>
            <a:off x="476250" y="3289935"/>
            <a:ext cx="4607243" cy="4763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39"/>
          <p:cNvSpPr/>
          <p:nvPr/>
        </p:nvSpPr>
        <p:spPr>
          <a:xfrm>
            <a:off x="476250" y="3289935"/>
            <a:ext cx="9525" cy="247650"/>
          </a:xfrm>
          <a:prstGeom prst="rect">
            <a:avLst/>
          </a:prstGeom>
          <a:solidFill>
            <a:srgbClr val="F5C45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9"/>
          <p:cNvSpPr/>
          <p:nvPr/>
        </p:nvSpPr>
        <p:spPr>
          <a:xfrm>
            <a:off x="5078730" y="3289935"/>
            <a:ext cx="4763" cy="247650"/>
          </a:xfrm>
          <a:prstGeom prst="rect">
            <a:avLst/>
          </a:prstGeom>
          <a:solidFill>
            <a:srgbClr val="3238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9"/>
          <p:cNvSpPr/>
          <p:nvPr/>
        </p:nvSpPr>
        <p:spPr>
          <a:xfrm>
            <a:off x="533400" y="3342323"/>
            <a:ext cx="2095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9"/>
          <p:cNvSpPr/>
          <p:nvPr/>
        </p:nvSpPr>
        <p:spPr>
          <a:xfrm>
            <a:off x="790575" y="3366135"/>
            <a:ext cx="34671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Chase &amp; Lev (2005) — </a:t>
            </a:r>
            <a:r>
              <a:rPr b="0" i="0" lang="en-GB" sz="6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Dynamic Circular Work-Stealing Deque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9"/>
          <p:cNvSpPr/>
          <p:nvPr/>
        </p:nvSpPr>
        <p:spPr>
          <a:xfrm>
            <a:off x="4223385" y="3347085"/>
            <a:ext cx="8267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451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F5C451"/>
                </a:solidFill>
                <a:latin typeface="Courier New"/>
                <a:ea typeface="Courier New"/>
                <a:cs typeface="Courier New"/>
                <a:sym typeface="Courier New"/>
              </a:rPr>
              <a:t>dl.acm.org/doi/ 10.1145/1073970.1073974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9"/>
          <p:cNvSpPr/>
          <p:nvPr/>
        </p:nvSpPr>
        <p:spPr>
          <a:xfrm>
            <a:off x="5254943" y="1182053"/>
            <a:ext cx="3515191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2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5C6372"/>
                </a:solidFill>
                <a:latin typeface="Courier New"/>
                <a:ea typeface="Courier New"/>
                <a:cs typeface="Courier New"/>
                <a:sym typeface="Courier New"/>
              </a:rPr>
              <a:t>BROWSE THE CODE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9"/>
          <p:cNvSpPr/>
          <p:nvPr/>
        </p:nvSpPr>
        <p:spPr>
          <a:xfrm>
            <a:off x="5254943" y="1277303"/>
            <a:ext cx="3515191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Every stage is a commit.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9"/>
          <p:cNvSpPr/>
          <p:nvPr/>
        </p:nvSpPr>
        <p:spPr>
          <a:xfrm>
            <a:off x="5254942" y="1529715"/>
            <a:ext cx="3412807" cy="3232785"/>
          </a:xfrm>
          <a:prstGeom prst="roundRect">
            <a:avLst>
              <a:gd fmla="val 2357" name="adj"/>
            </a:avLst>
          </a:prstGeom>
          <a:solidFill>
            <a:srgbClr val="00B4D8">
              <a:alpha val="10196"/>
            </a:srgbClr>
          </a:solidFill>
          <a:ln cap="flat" cmpd="sng" w="9525">
            <a:solidFill>
              <a:srgbClr val="00B4D8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6" name="Google Shape;87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3055" y="166782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39"/>
          <p:cNvSpPr/>
          <p:nvPr/>
        </p:nvSpPr>
        <p:spPr>
          <a:xfrm>
            <a:off x="5735955" y="1727359"/>
            <a:ext cx="1944491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1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E8EAF1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</a:t>
            </a:r>
            <a:r>
              <a:rPr b="0" i="0" lang="en-GB" sz="11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jnyfah</a:t>
            </a:r>
            <a:r>
              <a:rPr b="0" i="0" lang="en-GB" sz="1100" u="none" cap="none" strike="noStrike">
                <a:solidFill>
                  <a:srgbClr val="E8EAF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b="0" i="0" lang="en-GB" sz="110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phanes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9"/>
          <p:cNvSpPr/>
          <p:nvPr/>
        </p:nvSpPr>
        <p:spPr>
          <a:xfrm>
            <a:off x="5393055" y="2039303"/>
            <a:ext cx="3136582" cy="619601"/>
          </a:xfrm>
          <a:prstGeom prst="roundRect">
            <a:avLst>
              <a:gd fmla="val 9224" name="adj"/>
            </a:avLst>
          </a:prstGeom>
          <a:noFill/>
          <a:ln cap="flat" cmpd="sng" w="9525">
            <a:solidFill>
              <a:srgbClr val="323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39"/>
          <p:cNvSpPr/>
          <p:nvPr/>
        </p:nvSpPr>
        <p:spPr>
          <a:xfrm>
            <a:off x="5502593" y="2139315"/>
            <a:ext cx="3005032" cy="15478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7DAE3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D7DAE3"/>
                </a:solidFill>
                <a:latin typeface="Arial"/>
                <a:ea typeface="Arial"/>
                <a:cs typeface="Arial"/>
                <a:sym typeface="Arial"/>
              </a:rPr>
              <a:t>Every optimization stage is a separate commit.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9"/>
          <p:cNvSpPr/>
          <p:nvPr/>
        </p:nvSpPr>
        <p:spPr>
          <a:xfrm>
            <a:off x="5502593" y="2322671"/>
            <a:ext cx="3005032" cy="25527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Check out any point in the journey to see what the code looked like — </a:t>
            </a:r>
            <a:r>
              <a:rPr b="0" i="0" lang="en-GB" sz="6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DFS</a:t>
            </a:r>
            <a:r>
              <a:rPr b="0" i="0" lang="en-GB" sz="6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GB" sz="6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thread pool </a:t>
            </a:r>
            <a:r>
              <a:rPr b="0" i="0" lang="en-GB" sz="6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GB" sz="6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work stealing</a:t>
            </a:r>
            <a:r>
              <a:rPr b="0" i="0" lang="en-GB" sz="6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GB" sz="600" u="none" cap="none" strike="noStrik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lock-free</a:t>
            </a:r>
            <a:r>
              <a:rPr b="0" i="0" lang="en-GB" sz="600" u="none" cap="none" strike="noStrike">
                <a:solidFill>
                  <a:srgbClr val="8A8F9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9"/>
          <p:cNvSpPr/>
          <p:nvPr/>
        </p:nvSpPr>
        <p:spPr>
          <a:xfrm>
            <a:off x="5393055" y="2787491"/>
            <a:ext cx="28575" cy="28575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9"/>
          <p:cNvSpPr/>
          <p:nvPr/>
        </p:nvSpPr>
        <p:spPr>
          <a:xfrm>
            <a:off x="5478780" y="2763679"/>
            <a:ext cx="214266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C"/>
              </a:buClr>
              <a:buSzPts val="500"/>
              <a:buFont typeface="Courier New"/>
              <a:buNone/>
            </a:pPr>
            <a:r>
              <a:rPr b="0" i="0" lang="en-GB" sz="500" u="none" cap="none" strike="noStrike">
                <a:solidFill>
                  <a:srgbClr val="8A8F9C"/>
                </a:solidFill>
                <a:latin typeface="Courier New"/>
                <a:ea typeface="Courier New"/>
                <a:cs typeface="Courier New"/>
                <a:sym typeface="Courier New"/>
              </a:rPr>
              <a:t>The blog series covers each stage in detail too.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